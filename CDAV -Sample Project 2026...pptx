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82" r:id="rId4"/>
    <p:sldId id="292" r:id="rId5"/>
    <p:sldId id="293" r:id="rId6"/>
    <p:sldId id="294" r:id="rId7"/>
    <p:sldId id="295" r:id="rId8"/>
    <p:sldId id="296" r:id="rId9"/>
    <p:sldId id="297" r:id="rId10"/>
    <p:sldId id="298" r:id="rId11"/>
    <p:sldId id="299" r:id="rId12"/>
    <p:sldId id="300" r:id="rId13"/>
    <p:sldId id="302" r:id="rId14"/>
    <p:sldId id="303" r:id="rId15"/>
    <p:sldId id="304"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Ian Mungai" initials="IM" lastIdx="8" clrIdx="0">
    <p:extLst>
      <p:ext uri="{19B8F6BF-5375-455C-9EA6-DF929625EA0E}">
        <p15:presenceInfo xmlns:p15="http://schemas.microsoft.com/office/powerpoint/2012/main" userId="S::Eliud_Ian@bat.com::9b8f51c3-4473-49ff-b827-eff5138209c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93" d="100"/>
          <a:sy n="93" d="100"/>
        </p:scale>
        <p:origin x="259"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0857A-870A-4091-BDB9-AAAF7BB6864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AF82041-02F0-49A4-9931-8D2BD78ED11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1898DB1-DA8B-42D5-9DD5-96B807A81FC7}"/>
              </a:ext>
            </a:extLst>
          </p:cNvPr>
          <p:cNvSpPr>
            <a:spLocks noGrp="1"/>
          </p:cNvSpPr>
          <p:nvPr>
            <p:ph type="dt" sz="half" idx="10"/>
          </p:nvPr>
        </p:nvSpPr>
        <p:spPr/>
        <p:txBody>
          <a:bodyPr/>
          <a:lstStyle/>
          <a:p>
            <a:fld id="{37B5E936-8AEF-4483-B145-A0574B3808AC}" type="datetimeFigureOut">
              <a:rPr lang="en-US" smtClean="0"/>
              <a:t>9/6/2024</a:t>
            </a:fld>
            <a:endParaRPr lang="en-US" dirty="0"/>
          </a:p>
        </p:txBody>
      </p:sp>
      <p:sp>
        <p:nvSpPr>
          <p:cNvPr id="5" name="Footer Placeholder 4">
            <a:extLst>
              <a:ext uri="{FF2B5EF4-FFF2-40B4-BE49-F238E27FC236}">
                <a16:creationId xmlns:a16="http://schemas.microsoft.com/office/drawing/2014/main" id="{0127E491-6C89-4D33-88CF-0CFD1956790F}"/>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95D3631-A62E-4326-88CF-B654CDA9A9BF}"/>
              </a:ext>
            </a:extLst>
          </p:cNvPr>
          <p:cNvSpPr>
            <a:spLocks noGrp="1"/>
          </p:cNvSpPr>
          <p:nvPr>
            <p:ph type="sldNum" sz="quarter" idx="12"/>
          </p:nvPr>
        </p:nvSpPr>
        <p:spPr/>
        <p:txBody>
          <a:bodyPr/>
          <a:lstStyle/>
          <a:p>
            <a:fld id="{88495492-045F-4BB5-8B32-CA09B7E706BD}" type="slidenum">
              <a:rPr lang="en-US" smtClean="0"/>
              <a:t>‹#›</a:t>
            </a:fld>
            <a:endParaRPr lang="en-US" dirty="0"/>
          </a:p>
        </p:txBody>
      </p:sp>
    </p:spTree>
    <p:extLst>
      <p:ext uri="{BB962C8B-B14F-4D97-AF65-F5344CB8AC3E}">
        <p14:creationId xmlns:p14="http://schemas.microsoft.com/office/powerpoint/2010/main" val="22889454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4CF9F-1142-4DDF-9420-1E20F586657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B986EBE-07ED-4A05-8324-12E7F469FAC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13B83B8-1E93-4EA3-9B83-9E8A1960D3FB}"/>
              </a:ext>
            </a:extLst>
          </p:cNvPr>
          <p:cNvSpPr>
            <a:spLocks noGrp="1"/>
          </p:cNvSpPr>
          <p:nvPr>
            <p:ph type="dt" sz="half" idx="10"/>
          </p:nvPr>
        </p:nvSpPr>
        <p:spPr/>
        <p:txBody>
          <a:bodyPr/>
          <a:lstStyle/>
          <a:p>
            <a:fld id="{37B5E936-8AEF-4483-B145-A0574B3808AC}" type="datetimeFigureOut">
              <a:rPr lang="en-US" smtClean="0"/>
              <a:t>9/6/2024</a:t>
            </a:fld>
            <a:endParaRPr lang="en-US" dirty="0"/>
          </a:p>
        </p:txBody>
      </p:sp>
      <p:sp>
        <p:nvSpPr>
          <p:cNvPr id="5" name="Footer Placeholder 4">
            <a:extLst>
              <a:ext uri="{FF2B5EF4-FFF2-40B4-BE49-F238E27FC236}">
                <a16:creationId xmlns:a16="http://schemas.microsoft.com/office/drawing/2014/main" id="{86B02D53-C193-4C93-BFC6-CFD905DF86B0}"/>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055DAF2-1430-452A-B141-86BCB7FEC51C}"/>
              </a:ext>
            </a:extLst>
          </p:cNvPr>
          <p:cNvSpPr>
            <a:spLocks noGrp="1"/>
          </p:cNvSpPr>
          <p:nvPr>
            <p:ph type="sldNum" sz="quarter" idx="12"/>
          </p:nvPr>
        </p:nvSpPr>
        <p:spPr/>
        <p:txBody>
          <a:bodyPr/>
          <a:lstStyle/>
          <a:p>
            <a:fld id="{88495492-045F-4BB5-8B32-CA09B7E706BD}" type="slidenum">
              <a:rPr lang="en-US" smtClean="0"/>
              <a:t>‹#›</a:t>
            </a:fld>
            <a:endParaRPr lang="en-US" dirty="0"/>
          </a:p>
        </p:txBody>
      </p:sp>
    </p:spTree>
    <p:extLst>
      <p:ext uri="{BB962C8B-B14F-4D97-AF65-F5344CB8AC3E}">
        <p14:creationId xmlns:p14="http://schemas.microsoft.com/office/powerpoint/2010/main" val="13528436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B1A4F9-748D-4905-A8EA-9FADBB6491D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DEE4EC0-B10F-47D4-8106-BEBD6957AD8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7D8DF29-E3B8-4C86-8C1D-3D83779684FF}"/>
              </a:ext>
            </a:extLst>
          </p:cNvPr>
          <p:cNvSpPr>
            <a:spLocks noGrp="1"/>
          </p:cNvSpPr>
          <p:nvPr>
            <p:ph type="dt" sz="half" idx="10"/>
          </p:nvPr>
        </p:nvSpPr>
        <p:spPr/>
        <p:txBody>
          <a:bodyPr/>
          <a:lstStyle/>
          <a:p>
            <a:fld id="{37B5E936-8AEF-4483-B145-A0574B3808AC}" type="datetimeFigureOut">
              <a:rPr lang="en-US" smtClean="0"/>
              <a:t>9/6/2024</a:t>
            </a:fld>
            <a:endParaRPr lang="en-US" dirty="0"/>
          </a:p>
        </p:txBody>
      </p:sp>
      <p:sp>
        <p:nvSpPr>
          <p:cNvPr id="5" name="Footer Placeholder 4">
            <a:extLst>
              <a:ext uri="{FF2B5EF4-FFF2-40B4-BE49-F238E27FC236}">
                <a16:creationId xmlns:a16="http://schemas.microsoft.com/office/drawing/2014/main" id="{0B7C7A24-5792-40E3-A195-E24C2AB2D6EF}"/>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DD3BE6A-36C1-4992-9A44-553EF20EB09D}"/>
              </a:ext>
            </a:extLst>
          </p:cNvPr>
          <p:cNvSpPr>
            <a:spLocks noGrp="1"/>
          </p:cNvSpPr>
          <p:nvPr>
            <p:ph type="sldNum" sz="quarter" idx="12"/>
          </p:nvPr>
        </p:nvSpPr>
        <p:spPr/>
        <p:txBody>
          <a:bodyPr/>
          <a:lstStyle/>
          <a:p>
            <a:fld id="{88495492-045F-4BB5-8B32-CA09B7E706BD}" type="slidenum">
              <a:rPr lang="en-US" smtClean="0"/>
              <a:t>‹#›</a:t>
            </a:fld>
            <a:endParaRPr lang="en-US" dirty="0"/>
          </a:p>
        </p:txBody>
      </p:sp>
    </p:spTree>
    <p:extLst>
      <p:ext uri="{BB962C8B-B14F-4D97-AF65-F5344CB8AC3E}">
        <p14:creationId xmlns:p14="http://schemas.microsoft.com/office/powerpoint/2010/main" val="23748642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74DEDC-3D1B-4F50-A5C2-54B87222D4D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9ECDA51-F9FB-404E-95EC-27E6B31E3F2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168F423-4DE3-448C-B40E-41CD6B52B8B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94F5F3B-B479-431F-8EAA-FDC6D7851FEF}"/>
              </a:ext>
            </a:extLst>
          </p:cNvPr>
          <p:cNvSpPr>
            <a:spLocks noGrp="1"/>
          </p:cNvSpPr>
          <p:nvPr>
            <p:ph type="dt" sz="half" idx="10"/>
          </p:nvPr>
        </p:nvSpPr>
        <p:spPr/>
        <p:txBody>
          <a:bodyPr/>
          <a:lstStyle/>
          <a:p>
            <a:fld id="{37B5E936-8AEF-4483-B145-A0574B3808AC}" type="datetimeFigureOut">
              <a:rPr lang="en-US" smtClean="0"/>
              <a:t>9/6/2024</a:t>
            </a:fld>
            <a:endParaRPr lang="en-US" dirty="0"/>
          </a:p>
        </p:txBody>
      </p:sp>
      <p:sp>
        <p:nvSpPr>
          <p:cNvPr id="6" name="Footer Placeholder 5">
            <a:extLst>
              <a:ext uri="{FF2B5EF4-FFF2-40B4-BE49-F238E27FC236}">
                <a16:creationId xmlns:a16="http://schemas.microsoft.com/office/drawing/2014/main" id="{BDD2F5AB-E87F-4B0E-A991-88E60D00DA32}"/>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361549A-9603-462B-A7DB-32837D52B249}"/>
              </a:ext>
            </a:extLst>
          </p:cNvPr>
          <p:cNvSpPr>
            <a:spLocks noGrp="1"/>
          </p:cNvSpPr>
          <p:nvPr>
            <p:ph type="sldNum" sz="quarter" idx="12"/>
          </p:nvPr>
        </p:nvSpPr>
        <p:spPr/>
        <p:txBody>
          <a:bodyPr/>
          <a:lstStyle/>
          <a:p>
            <a:fld id="{88495492-045F-4BB5-8B32-CA09B7E706BD}" type="slidenum">
              <a:rPr lang="en-US" smtClean="0"/>
              <a:t>‹#›</a:t>
            </a:fld>
            <a:endParaRPr lang="en-US" dirty="0"/>
          </a:p>
        </p:txBody>
      </p:sp>
    </p:spTree>
    <p:extLst>
      <p:ext uri="{BB962C8B-B14F-4D97-AF65-F5344CB8AC3E}">
        <p14:creationId xmlns:p14="http://schemas.microsoft.com/office/powerpoint/2010/main" val="30943450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354989-678E-4584-AC48-EDCEC464462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E20186F-9B4D-4DFC-AAAC-0E82163F8D0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9835BAE-FAB0-491E-9C98-6288CFDD694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D2EFC15-D12E-4509-ACC7-9458D0CE5FF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8F1FE07-1D9C-4184-B2BA-DD48BBD137B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642CD7B-6F6E-4BDB-8A45-87748A3DA365}"/>
              </a:ext>
            </a:extLst>
          </p:cNvPr>
          <p:cNvSpPr>
            <a:spLocks noGrp="1"/>
          </p:cNvSpPr>
          <p:nvPr>
            <p:ph type="dt" sz="half" idx="10"/>
          </p:nvPr>
        </p:nvSpPr>
        <p:spPr/>
        <p:txBody>
          <a:bodyPr/>
          <a:lstStyle/>
          <a:p>
            <a:fld id="{37B5E936-8AEF-4483-B145-A0574B3808AC}" type="datetimeFigureOut">
              <a:rPr lang="en-US" smtClean="0"/>
              <a:t>9/6/2024</a:t>
            </a:fld>
            <a:endParaRPr lang="en-US" dirty="0"/>
          </a:p>
        </p:txBody>
      </p:sp>
      <p:sp>
        <p:nvSpPr>
          <p:cNvPr id="8" name="Footer Placeholder 7">
            <a:extLst>
              <a:ext uri="{FF2B5EF4-FFF2-40B4-BE49-F238E27FC236}">
                <a16:creationId xmlns:a16="http://schemas.microsoft.com/office/drawing/2014/main" id="{E26E23D5-79BB-4560-AE4F-BD166B3281C9}"/>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6EBCE93F-73FA-4B1E-AEAA-B1AF5BC0C5FB}"/>
              </a:ext>
            </a:extLst>
          </p:cNvPr>
          <p:cNvSpPr>
            <a:spLocks noGrp="1"/>
          </p:cNvSpPr>
          <p:nvPr>
            <p:ph type="sldNum" sz="quarter" idx="12"/>
          </p:nvPr>
        </p:nvSpPr>
        <p:spPr/>
        <p:txBody>
          <a:bodyPr/>
          <a:lstStyle/>
          <a:p>
            <a:fld id="{88495492-045F-4BB5-8B32-CA09B7E706BD}" type="slidenum">
              <a:rPr lang="en-US" smtClean="0"/>
              <a:t>‹#›</a:t>
            </a:fld>
            <a:endParaRPr lang="en-US" dirty="0"/>
          </a:p>
        </p:txBody>
      </p:sp>
    </p:spTree>
    <p:extLst>
      <p:ext uri="{BB962C8B-B14F-4D97-AF65-F5344CB8AC3E}">
        <p14:creationId xmlns:p14="http://schemas.microsoft.com/office/powerpoint/2010/main" val="12735782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102CD-7F94-480E-80C5-BDD6CEB563E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DA37120-16A6-4F7B-8AF4-CC6721D57CAF}"/>
              </a:ext>
            </a:extLst>
          </p:cNvPr>
          <p:cNvSpPr>
            <a:spLocks noGrp="1"/>
          </p:cNvSpPr>
          <p:nvPr>
            <p:ph type="dt" sz="half" idx="10"/>
          </p:nvPr>
        </p:nvSpPr>
        <p:spPr/>
        <p:txBody>
          <a:bodyPr/>
          <a:lstStyle/>
          <a:p>
            <a:fld id="{37B5E936-8AEF-4483-B145-A0574B3808AC}" type="datetimeFigureOut">
              <a:rPr lang="en-US" smtClean="0"/>
              <a:t>9/6/2024</a:t>
            </a:fld>
            <a:endParaRPr lang="en-US" dirty="0"/>
          </a:p>
        </p:txBody>
      </p:sp>
      <p:sp>
        <p:nvSpPr>
          <p:cNvPr id="4" name="Footer Placeholder 3">
            <a:extLst>
              <a:ext uri="{FF2B5EF4-FFF2-40B4-BE49-F238E27FC236}">
                <a16:creationId xmlns:a16="http://schemas.microsoft.com/office/drawing/2014/main" id="{04F454A5-7176-4083-B8B7-7883D3E0F48A}"/>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BBFD7C7A-24B3-4CE6-918E-A2A32F740ACC}"/>
              </a:ext>
            </a:extLst>
          </p:cNvPr>
          <p:cNvSpPr>
            <a:spLocks noGrp="1"/>
          </p:cNvSpPr>
          <p:nvPr>
            <p:ph type="sldNum" sz="quarter" idx="12"/>
          </p:nvPr>
        </p:nvSpPr>
        <p:spPr/>
        <p:txBody>
          <a:bodyPr/>
          <a:lstStyle/>
          <a:p>
            <a:fld id="{88495492-045F-4BB5-8B32-CA09B7E706BD}" type="slidenum">
              <a:rPr lang="en-US" smtClean="0"/>
              <a:t>‹#›</a:t>
            </a:fld>
            <a:endParaRPr lang="en-US" dirty="0"/>
          </a:p>
        </p:txBody>
      </p:sp>
    </p:spTree>
    <p:extLst>
      <p:ext uri="{BB962C8B-B14F-4D97-AF65-F5344CB8AC3E}">
        <p14:creationId xmlns:p14="http://schemas.microsoft.com/office/powerpoint/2010/main" val="9730017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088D48C-C86D-4288-9E4A-DC6635661B13}"/>
              </a:ext>
            </a:extLst>
          </p:cNvPr>
          <p:cNvSpPr>
            <a:spLocks noGrp="1"/>
          </p:cNvSpPr>
          <p:nvPr>
            <p:ph type="dt" sz="half" idx="10"/>
          </p:nvPr>
        </p:nvSpPr>
        <p:spPr/>
        <p:txBody>
          <a:bodyPr/>
          <a:lstStyle/>
          <a:p>
            <a:fld id="{37B5E936-8AEF-4483-B145-A0574B3808AC}" type="datetimeFigureOut">
              <a:rPr lang="en-US" smtClean="0"/>
              <a:t>9/6/2024</a:t>
            </a:fld>
            <a:endParaRPr lang="en-US" dirty="0"/>
          </a:p>
        </p:txBody>
      </p:sp>
      <p:sp>
        <p:nvSpPr>
          <p:cNvPr id="3" name="Footer Placeholder 2">
            <a:extLst>
              <a:ext uri="{FF2B5EF4-FFF2-40B4-BE49-F238E27FC236}">
                <a16:creationId xmlns:a16="http://schemas.microsoft.com/office/drawing/2014/main" id="{185B7523-D623-42E8-A1F6-7BFD05B08BF9}"/>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5C038D98-E01B-4FEE-9CC4-7958BE92777E}"/>
              </a:ext>
            </a:extLst>
          </p:cNvPr>
          <p:cNvSpPr>
            <a:spLocks noGrp="1"/>
          </p:cNvSpPr>
          <p:nvPr>
            <p:ph type="sldNum" sz="quarter" idx="12"/>
          </p:nvPr>
        </p:nvSpPr>
        <p:spPr/>
        <p:txBody>
          <a:bodyPr/>
          <a:lstStyle/>
          <a:p>
            <a:fld id="{88495492-045F-4BB5-8B32-CA09B7E706BD}" type="slidenum">
              <a:rPr lang="en-US" smtClean="0"/>
              <a:t>‹#›</a:t>
            </a:fld>
            <a:endParaRPr lang="en-US" dirty="0"/>
          </a:p>
        </p:txBody>
      </p:sp>
    </p:spTree>
    <p:extLst>
      <p:ext uri="{BB962C8B-B14F-4D97-AF65-F5344CB8AC3E}">
        <p14:creationId xmlns:p14="http://schemas.microsoft.com/office/powerpoint/2010/main" val="29739476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19C685-4A20-4804-9E47-520E8B8BCE3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ACDC192-A54D-4F03-8A0A-3FF70313857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F409C60-3F63-4CD7-8C85-98D4F3EC494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A01D9D6-C92B-43E8-A54E-7938B5D753FC}"/>
              </a:ext>
            </a:extLst>
          </p:cNvPr>
          <p:cNvSpPr>
            <a:spLocks noGrp="1"/>
          </p:cNvSpPr>
          <p:nvPr>
            <p:ph type="dt" sz="half" idx="10"/>
          </p:nvPr>
        </p:nvSpPr>
        <p:spPr/>
        <p:txBody>
          <a:bodyPr/>
          <a:lstStyle/>
          <a:p>
            <a:fld id="{37B5E936-8AEF-4483-B145-A0574B3808AC}" type="datetimeFigureOut">
              <a:rPr lang="en-US" smtClean="0"/>
              <a:t>9/6/2024</a:t>
            </a:fld>
            <a:endParaRPr lang="en-US" dirty="0"/>
          </a:p>
        </p:txBody>
      </p:sp>
      <p:sp>
        <p:nvSpPr>
          <p:cNvPr id="6" name="Footer Placeholder 5">
            <a:extLst>
              <a:ext uri="{FF2B5EF4-FFF2-40B4-BE49-F238E27FC236}">
                <a16:creationId xmlns:a16="http://schemas.microsoft.com/office/drawing/2014/main" id="{C401FC94-3860-499E-9D8C-4775618BCBD8}"/>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13C409E-587B-476D-B23C-3E28F36B7D4D}"/>
              </a:ext>
            </a:extLst>
          </p:cNvPr>
          <p:cNvSpPr>
            <a:spLocks noGrp="1"/>
          </p:cNvSpPr>
          <p:nvPr>
            <p:ph type="sldNum" sz="quarter" idx="12"/>
          </p:nvPr>
        </p:nvSpPr>
        <p:spPr/>
        <p:txBody>
          <a:bodyPr/>
          <a:lstStyle/>
          <a:p>
            <a:fld id="{88495492-045F-4BB5-8B32-CA09B7E706BD}" type="slidenum">
              <a:rPr lang="en-US" smtClean="0"/>
              <a:t>‹#›</a:t>
            </a:fld>
            <a:endParaRPr lang="en-US" dirty="0"/>
          </a:p>
        </p:txBody>
      </p:sp>
    </p:spTree>
    <p:extLst>
      <p:ext uri="{BB962C8B-B14F-4D97-AF65-F5344CB8AC3E}">
        <p14:creationId xmlns:p14="http://schemas.microsoft.com/office/powerpoint/2010/main" val="12773458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1D62D3-E291-453A-AE38-1898039ACAA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D2D483D-00FF-4293-8007-8A4DA9015F6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9CDB6F4B-1228-434E-A1EE-0564E8AE953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DB04B95-4254-4791-B659-30968AF1FE12}"/>
              </a:ext>
            </a:extLst>
          </p:cNvPr>
          <p:cNvSpPr>
            <a:spLocks noGrp="1"/>
          </p:cNvSpPr>
          <p:nvPr>
            <p:ph type="dt" sz="half" idx="10"/>
          </p:nvPr>
        </p:nvSpPr>
        <p:spPr/>
        <p:txBody>
          <a:bodyPr/>
          <a:lstStyle/>
          <a:p>
            <a:fld id="{37B5E936-8AEF-4483-B145-A0574B3808AC}" type="datetimeFigureOut">
              <a:rPr lang="en-US" smtClean="0"/>
              <a:t>9/6/2024</a:t>
            </a:fld>
            <a:endParaRPr lang="en-US" dirty="0"/>
          </a:p>
        </p:txBody>
      </p:sp>
      <p:sp>
        <p:nvSpPr>
          <p:cNvPr id="6" name="Footer Placeholder 5">
            <a:extLst>
              <a:ext uri="{FF2B5EF4-FFF2-40B4-BE49-F238E27FC236}">
                <a16:creationId xmlns:a16="http://schemas.microsoft.com/office/drawing/2014/main" id="{21806F1E-A756-43F7-B339-88AA4B83618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A3B92B5-6FF5-4358-A3A8-4A0E81C56E6A}"/>
              </a:ext>
            </a:extLst>
          </p:cNvPr>
          <p:cNvSpPr>
            <a:spLocks noGrp="1"/>
          </p:cNvSpPr>
          <p:nvPr>
            <p:ph type="sldNum" sz="quarter" idx="12"/>
          </p:nvPr>
        </p:nvSpPr>
        <p:spPr/>
        <p:txBody>
          <a:bodyPr/>
          <a:lstStyle/>
          <a:p>
            <a:fld id="{88495492-045F-4BB5-8B32-CA09B7E706BD}" type="slidenum">
              <a:rPr lang="en-US" smtClean="0"/>
              <a:t>‹#›</a:t>
            </a:fld>
            <a:endParaRPr lang="en-US" dirty="0"/>
          </a:p>
        </p:txBody>
      </p:sp>
    </p:spTree>
    <p:extLst>
      <p:ext uri="{BB962C8B-B14F-4D97-AF65-F5344CB8AC3E}">
        <p14:creationId xmlns:p14="http://schemas.microsoft.com/office/powerpoint/2010/main" val="93285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1BE72A-8B30-4906-8257-40A1E7EA88E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9232116-6743-464E-BD4A-FD08DBCDC46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C16F5A5-2ACD-4E3B-A6A9-A57C5DF02E17}"/>
              </a:ext>
            </a:extLst>
          </p:cNvPr>
          <p:cNvSpPr>
            <a:spLocks noGrp="1"/>
          </p:cNvSpPr>
          <p:nvPr>
            <p:ph type="dt" sz="half" idx="10"/>
          </p:nvPr>
        </p:nvSpPr>
        <p:spPr/>
        <p:txBody>
          <a:bodyPr/>
          <a:lstStyle/>
          <a:p>
            <a:fld id="{37B5E936-8AEF-4483-B145-A0574B3808AC}" type="datetimeFigureOut">
              <a:rPr lang="en-US" smtClean="0"/>
              <a:t>9/6/2024</a:t>
            </a:fld>
            <a:endParaRPr lang="en-US" dirty="0"/>
          </a:p>
        </p:txBody>
      </p:sp>
      <p:sp>
        <p:nvSpPr>
          <p:cNvPr id="5" name="Footer Placeholder 4">
            <a:extLst>
              <a:ext uri="{FF2B5EF4-FFF2-40B4-BE49-F238E27FC236}">
                <a16:creationId xmlns:a16="http://schemas.microsoft.com/office/drawing/2014/main" id="{8E636045-1692-4DF7-8F57-717BF215552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3EB9541-EBB7-4F1C-8174-2AAA466AB393}"/>
              </a:ext>
            </a:extLst>
          </p:cNvPr>
          <p:cNvSpPr>
            <a:spLocks noGrp="1"/>
          </p:cNvSpPr>
          <p:nvPr>
            <p:ph type="sldNum" sz="quarter" idx="12"/>
          </p:nvPr>
        </p:nvSpPr>
        <p:spPr/>
        <p:txBody>
          <a:bodyPr/>
          <a:lstStyle/>
          <a:p>
            <a:fld id="{88495492-045F-4BB5-8B32-CA09B7E706BD}" type="slidenum">
              <a:rPr lang="en-US" smtClean="0"/>
              <a:t>‹#›</a:t>
            </a:fld>
            <a:endParaRPr lang="en-US" dirty="0"/>
          </a:p>
        </p:txBody>
      </p:sp>
    </p:spTree>
    <p:extLst>
      <p:ext uri="{BB962C8B-B14F-4D97-AF65-F5344CB8AC3E}">
        <p14:creationId xmlns:p14="http://schemas.microsoft.com/office/powerpoint/2010/main" val="3740898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0CCAA3E-70C4-4934-B311-69079D2D616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25B90AD-BD89-44A4-AECA-E995F220213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4FDA1CD-3E43-497B-AEB8-31E211B2227A}"/>
              </a:ext>
            </a:extLst>
          </p:cNvPr>
          <p:cNvSpPr>
            <a:spLocks noGrp="1"/>
          </p:cNvSpPr>
          <p:nvPr>
            <p:ph type="dt" sz="half" idx="10"/>
          </p:nvPr>
        </p:nvSpPr>
        <p:spPr/>
        <p:txBody>
          <a:bodyPr/>
          <a:lstStyle/>
          <a:p>
            <a:fld id="{37B5E936-8AEF-4483-B145-A0574B3808AC}" type="datetimeFigureOut">
              <a:rPr lang="en-US" smtClean="0"/>
              <a:t>9/6/2024</a:t>
            </a:fld>
            <a:endParaRPr lang="en-US" dirty="0"/>
          </a:p>
        </p:txBody>
      </p:sp>
      <p:sp>
        <p:nvSpPr>
          <p:cNvPr id="5" name="Footer Placeholder 4">
            <a:extLst>
              <a:ext uri="{FF2B5EF4-FFF2-40B4-BE49-F238E27FC236}">
                <a16:creationId xmlns:a16="http://schemas.microsoft.com/office/drawing/2014/main" id="{A5B99A4F-FF05-419B-807E-8B0AA09F814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79B363E-065F-4168-B4B5-C103152F9B89}"/>
              </a:ext>
            </a:extLst>
          </p:cNvPr>
          <p:cNvSpPr>
            <a:spLocks noGrp="1"/>
          </p:cNvSpPr>
          <p:nvPr>
            <p:ph type="sldNum" sz="quarter" idx="12"/>
          </p:nvPr>
        </p:nvSpPr>
        <p:spPr/>
        <p:txBody>
          <a:bodyPr/>
          <a:lstStyle/>
          <a:p>
            <a:fld id="{88495492-045F-4BB5-8B32-CA09B7E706BD}" type="slidenum">
              <a:rPr lang="en-US" smtClean="0"/>
              <a:t>‹#›</a:t>
            </a:fld>
            <a:endParaRPr lang="en-US" dirty="0"/>
          </a:p>
        </p:txBody>
      </p:sp>
    </p:spTree>
    <p:extLst>
      <p:ext uri="{BB962C8B-B14F-4D97-AF65-F5344CB8AC3E}">
        <p14:creationId xmlns:p14="http://schemas.microsoft.com/office/powerpoint/2010/main" val="29817801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447775F-B477-4BE7-8FB0-2F5F4BCAF0A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34448FB-2D7A-478C-B76B-414338FF454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85747FE-E723-40F3-A324-14DE447C404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7B5E936-8AEF-4483-B145-A0574B3808AC}" type="datetimeFigureOut">
              <a:rPr lang="en-US" smtClean="0"/>
              <a:t>9/6/2024</a:t>
            </a:fld>
            <a:endParaRPr lang="en-US" dirty="0"/>
          </a:p>
        </p:txBody>
      </p:sp>
      <p:sp>
        <p:nvSpPr>
          <p:cNvPr id="5" name="Footer Placeholder 4">
            <a:extLst>
              <a:ext uri="{FF2B5EF4-FFF2-40B4-BE49-F238E27FC236}">
                <a16:creationId xmlns:a16="http://schemas.microsoft.com/office/drawing/2014/main" id="{99DB80D9-A215-43AD-BBF6-A1602FBE974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4E953952-D784-4957-8EF2-887F7389C2F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8495492-045F-4BB5-8B32-CA09B7E706BD}" type="slidenum">
              <a:rPr lang="en-US" smtClean="0"/>
              <a:t>‹#›</a:t>
            </a:fld>
            <a:endParaRPr lang="en-US" dirty="0"/>
          </a:p>
        </p:txBody>
      </p:sp>
    </p:spTree>
    <p:extLst>
      <p:ext uri="{BB962C8B-B14F-4D97-AF65-F5344CB8AC3E}">
        <p14:creationId xmlns:p14="http://schemas.microsoft.com/office/powerpoint/2010/main" val="2273155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9.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9.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9.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9.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9.xml"/><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9.xml"/><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hyperlink" Target="https://www.cancer.org/cancer/cancer-causes/diet-physical-activity/body-weight-and-cancer-risk/adult-bmi.html" TargetMode="External"/><Relationship Id="rId2" Type="http://schemas.openxmlformats.org/officeDocument/2006/relationships/hyperlink" Target="https://www.medicalnewstoday.com/articles/7624" TargetMode="External"/><Relationship Id="rId1" Type="http://schemas.openxmlformats.org/officeDocument/2006/relationships/slideLayout" Target="../slideLayouts/slideLayout9.xml"/><Relationship Id="rId6" Type="http://schemas.openxmlformats.org/officeDocument/2006/relationships/hyperlink" Target="https://app.powerbi.com/groups/me/reports/94d95c48-387a-431e-a72a-ad6d88f9d438?ctid=74347ffe-8392-4a6f-9cd2-4d7371e222a1" TargetMode="External"/><Relationship Id="rId5" Type="http://schemas.openxmlformats.org/officeDocument/2006/relationships/hyperlink" Target="https://www.kaggle.com/fedesoriano/stroke-prediction-dataset" TargetMode="External"/><Relationship Id="rId4" Type="http://schemas.openxmlformats.org/officeDocument/2006/relationships/hyperlink" Target="https://www.singlecare.com/blog/normal-blood-glucose-levels/" TargetMode="External"/></Relationships>
</file>

<file path=ppt/slides/_rels/slide1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3.pn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BE5A232-996D-4054-873B-01ADCA74A4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64764" y="0"/>
            <a:ext cx="8527236" cy="6858000"/>
          </a:xfrm>
          <a:prstGeom prst="rect">
            <a:avLst/>
          </a:prstGeom>
        </p:spPr>
      </p:pic>
      <p:sp>
        <p:nvSpPr>
          <p:cNvPr id="6" name="Title 1">
            <a:extLst>
              <a:ext uri="{FF2B5EF4-FFF2-40B4-BE49-F238E27FC236}">
                <a16:creationId xmlns:a16="http://schemas.microsoft.com/office/drawing/2014/main" id="{FAE3D2FC-F20F-44FE-A57F-D9189DF6183F}"/>
              </a:ext>
            </a:extLst>
          </p:cNvPr>
          <p:cNvSpPr>
            <a:spLocks noGrp="1"/>
          </p:cNvSpPr>
          <p:nvPr>
            <p:ph type="ctrTitle"/>
          </p:nvPr>
        </p:nvSpPr>
        <p:spPr>
          <a:xfrm>
            <a:off x="212433" y="932523"/>
            <a:ext cx="3038539" cy="1348580"/>
          </a:xfrm>
        </p:spPr>
        <p:txBody>
          <a:bodyPr>
            <a:normAutofit/>
          </a:bodyPr>
          <a:lstStyle/>
          <a:p>
            <a:r>
              <a:rPr lang="en-US" sz="3500" dirty="0">
                <a:effectLst>
                  <a:glow rad="63500">
                    <a:schemeClr val="accent1">
                      <a:satMod val="175000"/>
                      <a:alpha val="40000"/>
                    </a:schemeClr>
                  </a:glow>
                  <a:outerShdw blurRad="50800" dist="38100" algn="l" rotWithShape="0">
                    <a:prstClr val="black">
                      <a:alpha val="40000"/>
                    </a:prstClr>
                  </a:outerShdw>
                </a:effectLst>
                <a:latin typeface="Arial Rounded MT Bold" panose="020F0704030504030204" pitchFamily="34" charset="0"/>
              </a:rPr>
              <a:t>STROKE PREDICTION</a:t>
            </a:r>
          </a:p>
        </p:txBody>
      </p:sp>
      <p:sp>
        <p:nvSpPr>
          <p:cNvPr id="7" name="Subtitle 2">
            <a:extLst>
              <a:ext uri="{FF2B5EF4-FFF2-40B4-BE49-F238E27FC236}">
                <a16:creationId xmlns:a16="http://schemas.microsoft.com/office/drawing/2014/main" id="{81E09245-12E2-4217-A988-85F28E55F278}"/>
              </a:ext>
            </a:extLst>
          </p:cNvPr>
          <p:cNvSpPr>
            <a:spLocks noGrp="1"/>
          </p:cNvSpPr>
          <p:nvPr>
            <p:ph type="subTitle" idx="1"/>
          </p:nvPr>
        </p:nvSpPr>
        <p:spPr>
          <a:xfrm>
            <a:off x="177782" y="5656352"/>
            <a:ext cx="3107840" cy="850326"/>
          </a:xfrm>
        </p:spPr>
        <p:txBody>
          <a:bodyPr>
            <a:normAutofit lnSpcReduction="10000"/>
          </a:bodyPr>
          <a:lstStyle/>
          <a:p>
            <a:pPr algn="l"/>
            <a:r>
              <a:rPr lang="en-US" dirty="0">
                <a:latin typeface="Arial Rounded MT Bold" panose="020F0704030504030204" pitchFamily="34" charset="0"/>
              </a:rPr>
              <a:t>Presented by:</a:t>
            </a:r>
          </a:p>
          <a:p>
            <a:pPr algn="l"/>
            <a:r>
              <a:rPr lang="en-US" dirty="0">
                <a:latin typeface="Arial Rounded MT Bold" panose="020F0704030504030204" pitchFamily="34" charset="0"/>
              </a:rPr>
              <a:t>Owen Muriithi</a:t>
            </a:r>
          </a:p>
        </p:txBody>
      </p:sp>
      <p:pic>
        <p:nvPicPr>
          <p:cNvPr id="8" name="Picture 2" descr="logo">
            <a:extLst>
              <a:ext uri="{FF2B5EF4-FFF2-40B4-BE49-F238E27FC236}">
                <a16:creationId xmlns:a16="http://schemas.microsoft.com/office/drawing/2014/main" id="{9BCCC72F-A003-4C44-9C65-F156994B8F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25134" y="113372"/>
            <a:ext cx="2286000" cy="8191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52981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48711FDE-41F1-436B-9091-F99D9B239906}"/>
              </a:ext>
            </a:extLst>
          </p:cNvPr>
          <p:cNvGrpSpPr/>
          <p:nvPr/>
        </p:nvGrpSpPr>
        <p:grpSpPr>
          <a:xfrm>
            <a:off x="-1" y="781049"/>
            <a:ext cx="4005943" cy="6076951"/>
            <a:chOff x="0" y="-530"/>
            <a:chExt cx="4664412" cy="6857155"/>
          </a:xfrm>
        </p:grpSpPr>
        <p:sp>
          <p:nvSpPr>
            <p:cNvPr id="12" name="Freeform: Shape 11">
              <a:extLst>
                <a:ext uri="{FF2B5EF4-FFF2-40B4-BE49-F238E27FC236}">
                  <a16:creationId xmlns:a16="http://schemas.microsoft.com/office/drawing/2014/main" id="{2ACDBF55-B713-43F4-B64C-1BFB25730D81}"/>
                </a:ext>
              </a:extLst>
            </p:cNvPr>
            <p:cNvSpPr/>
            <p:nvPr/>
          </p:nvSpPr>
          <p:spPr>
            <a:xfrm>
              <a:off x="1362649" y="181009"/>
              <a:ext cx="1720247" cy="4556772"/>
            </a:xfrm>
            <a:custGeom>
              <a:avLst/>
              <a:gdLst>
                <a:gd name="connsiteX0" fmla="*/ 750892 w 747522"/>
                <a:gd name="connsiteY0" fmla="*/ 1914068 h 1975104"/>
                <a:gd name="connsiteX1" fmla="*/ 743348 w 747522"/>
                <a:gd name="connsiteY1" fmla="*/ 1778279 h 1975104"/>
                <a:gd name="connsiteX2" fmla="*/ 669967 w 747522"/>
                <a:gd name="connsiteY2" fmla="*/ 969721 h 1975104"/>
                <a:gd name="connsiteX3" fmla="*/ 565726 w 747522"/>
                <a:gd name="connsiteY3" fmla="*/ 469087 h 1975104"/>
                <a:gd name="connsiteX4" fmla="*/ 518406 w 747522"/>
                <a:gd name="connsiteY4" fmla="*/ 98069 h 1975104"/>
                <a:gd name="connsiteX5" fmla="*/ 508804 w 747522"/>
                <a:gd name="connsiteY5" fmla="*/ 85725 h 1975104"/>
                <a:gd name="connsiteX6" fmla="*/ 491659 w 747522"/>
                <a:gd name="connsiteY6" fmla="*/ 107671 h 1975104"/>
                <a:gd name="connsiteX7" fmla="*/ 409363 w 747522"/>
                <a:gd name="connsiteY7" fmla="*/ 263347 h 1975104"/>
                <a:gd name="connsiteX8" fmla="*/ 357243 w 747522"/>
                <a:gd name="connsiteY8" fmla="*/ 269519 h 1975104"/>
                <a:gd name="connsiteX9" fmla="*/ 102125 w 747522"/>
                <a:gd name="connsiteY9" fmla="*/ 59665 h 1975104"/>
                <a:gd name="connsiteX10" fmla="*/ 67835 w 747522"/>
                <a:gd name="connsiteY10" fmla="*/ 0 h 1975104"/>
                <a:gd name="connsiteX11" fmla="*/ 17772 w 747522"/>
                <a:gd name="connsiteY11" fmla="*/ 43205 h 1975104"/>
                <a:gd name="connsiteX12" fmla="*/ 1312 w 747522"/>
                <a:gd name="connsiteY12" fmla="*/ 95326 h 1975104"/>
                <a:gd name="connsiteX13" fmla="*/ 36288 w 747522"/>
                <a:gd name="connsiteY13" fmla="*/ 135788 h 1975104"/>
                <a:gd name="connsiteX14" fmla="*/ 93895 w 747522"/>
                <a:gd name="connsiteY14" fmla="*/ 211912 h 1975104"/>
                <a:gd name="connsiteX15" fmla="*/ 323638 w 747522"/>
                <a:gd name="connsiteY15" fmla="*/ 756437 h 1975104"/>
                <a:gd name="connsiteX16" fmla="*/ 368901 w 747522"/>
                <a:gd name="connsiteY16" fmla="*/ 984809 h 1975104"/>
                <a:gd name="connsiteX17" fmla="*/ 415536 w 747522"/>
                <a:gd name="connsiteY17" fmla="*/ 1261186 h 1975104"/>
                <a:gd name="connsiteX18" fmla="*/ 458055 w 747522"/>
                <a:gd name="connsiteY18" fmla="*/ 1675409 h 1975104"/>
                <a:gd name="connsiteX19" fmla="*/ 472457 w 747522"/>
                <a:gd name="connsiteY19" fmla="*/ 1942186 h 1975104"/>
                <a:gd name="connsiteX20" fmla="*/ 474514 w 747522"/>
                <a:gd name="connsiteY20" fmla="*/ 1981276 h 1975104"/>
                <a:gd name="connsiteX21" fmla="*/ 713173 w 747522"/>
                <a:gd name="connsiteY21" fmla="*/ 1971675 h 1975104"/>
                <a:gd name="connsiteX22" fmla="*/ 746091 w 747522"/>
                <a:gd name="connsiteY22" fmla="*/ 1970303 h 1975104"/>
                <a:gd name="connsiteX23" fmla="*/ 750892 w 747522"/>
                <a:gd name="connsiteY23" fmla="*/ 1914068 h 1975104"/>
                <a:gd name="connsiteX0" fmla="*/ 746091 w 751387"/>
                <a:gd name="connsiteY0" fmla="*/ 1970303 h 1981737"/>
                <a:gd name="connsiteX1" fmla="*/ 743348 w 751387"/>
                <a:gd name="connsiteY1" fmla="*/ 1778279 h 1981737"/>
                <a:gd name="connsiteX2" fmla="*/ 669967 w 751387"/>
                <a:gd name="connsiteY2" fmla="*/ 969721 h 1981737"/>
                <a:gd name="connsiteX3" fmla="*/ 565726 w 751387"/>
                <a:gd name="connsiteY3" fmla="*/ 469087 h 1981737"/>
                <a:gd name="connsiteX4" fmla="*/ 518406 w 751387"/>
                <a:gd name="connsiteY4" fmla="*/ 98069 h 1981737"/>
                <a:gd name="connsiteX5" fmla="*/ 508804 w 751387"/>
                <a:gd name="connsiteY5" fmla="*/ 85725 h 1981737"/>
                <a:gd name="connsiteX6" fmla="*/ 491659 w 751387"/>
                <a:gd name="connsiteY6" fmla="*/ 107671 h 1981737"/>
                <a:gd name="connsiteX7" fmla="*/ 409363 w 751387"/>
                <a:gd name="connsiteY7" fmla="*/ 263347 h 1981737"/>
                <a:gd name="connsiteX8" fmla="*/ 357243 w 751387"/>
                <a:gd name="connsiteY8" fmla="*/ 269519 h 1981737"/>
                <a:gd name="connsiteX9" fmla="*/ 102125 w 751387"/>
                <a:gd name="connsiteY9" fmla="*/ 59665 h 1981737"/>
                <a:gd name="connsiteX10" fmla="*/ 67835 w 751387"/>
                <a:gd name="connsiteY10" fmla="*/ 0 h 1981737"/>
                <a:gd name="connsiteX11" fmla="*/ 17772 w 751387"/>
                <a:gd name="connsiteY11" fmla="*/ 43205 h 1981737"/>
                <a:gd name="connsiteX12" fmla="*/ 1312 w 751387"/>
                <a:gd name="connsiteY12" fmla="*/ 95326 h 1981737"/>
                <a:gd name="connsiteX13" fmla="*/ 36288 w 751387"/>
                <a:gd name="connsiteY13" fmla="*/ 135788 h 1981737"/>
                <a:gd name="connsiteX14" fmla="*/ 93895 w 751387"/>
                <a:gd name="connsiteY14" fmla="*/ 211912 h 1981737"/>
                <a:gd name="connsiteX15" fmla="*/ 323638 w 751387"/>
                <a:gd name="connsiteY15" fmla="*/ 756437 h 1981737"/>
                <a:gd name="connsiteX16" fmla="*/ 368901 w 751387"/>
                <a:gd name="connsiteY16" fmla="*/ 984809 h 1981737"/>
                <a:gd name="connsiteX17" fmla="*/ 415536 w 751387"/>
                <a:gd name="connsiteY17" fmla="*/ 1261186 h 1981737"/>
                <a:gd name="connsiteX18" fmla="*/ 458055 w 751387"/>
                <a:gd name="connsiteY18" fmla="*/ 1675409 h 1981737"/>
                <a:gd name="connsiteX19" fmla="*/ 472457 w 751387"/>
                <a:gd name="connsiteY19" fmla="*/ 1942186 h 1981737"/>
                <a:gd name="connsiteX20" fmla="*/ 474514 w 751387"/>
                <a:gd name="connsiteY20" fmla="*/ 1981276 h 1981737"/>
                <a:gd name="connsiteX21" fmla="*/ 713173 w 751387"/>
                <a:gd name="connsiteY21" fmla="*/ 1971675 h 1981737"/>
                <a:gd name="connsiteX22" fmla="*/ 746091 w 751387"/>
                <a:gd name="connsiteY22" fmla="*/ 1970303 h 1981737"/>
                <a:gd name="connsiteX0" fmla="*/ 746091 w 751387"/>
                <a:gd name="connsiteY0" fmla="*/ 1970303 h 1990354"/>
                <a:gd name="connsiteX1" fmla="*/ 743348 w 751387"/>
                <a:gd name="connsiteY1" fmla="*/ 1778279 h 1990354"/>
                <a:gd name="connsiteX2" fmla="*/ 669967 w 751387"/>
                <a:gd name="connsiteY2" fmla="*/ 969721 h 1990354"/>
                <a:gd name="connsiteX3" fmla="*/ 565726 w 751387"/>
                <a:gd name="connsiteY3" fmla="*/ 469087 h 1990354"/>
                <a:gd name="connsiteX4" fmla="*/ 518406 w 751387"/>
                <a:gd name="connsiteY4" fmla="*/ 98069 h 1990354"/>
                <a:gd name="connsiteX5" fmla="*/ 508804 w 751387"/>
                <a:gd name="connsiteY5" fmla="*/ 85725 h 1990354"/>
                <a:gd name="connsiteX6" fmla="*/ 491659 w 751387"/>
                <a:gd name="connsiteY6" fmla="*/ 107671 h 1990354"/>
                <a:gd name="connsiteX7" fmla="*/ 409363 w 751387"/>
                <a:gd name="connsiteY7" fmla="*/ 263347 h 1990354"/>
                <a:gd name="connsiteX8" fmla="*/ 357243 w 751387"/>
                <a:gd name="connsiteY8" fmla="*/ 269519 h 1990354"/>
                <a:gd name="connsiteX9" fmla="*/ 102125 w 751387"/>
                <a:gd name="connsiteY9" fmla="*/ 59665 h 1990354"/>
                <a:gd name="connsiteX10" fmla="*/ 67835 w 751387"/>
                <a:gd name="connsiteY10" fmla="*/ 0 h 1990354"/>
                <a:gd name="connsiteX11" fmla="*/ 17772 w 751387"/>
                <a:gd name="connsiteY11" fmla="*/ 43205 h 1990354"/>
                <a:gd name="connsiteX12" fmla="*/ 1312 w 751387"/>
                <a:gd name="connsiteY12" fmla="*/ 95326 h 1990354"/>
                <a:gd name="connsiteX13" fmla="*/ 36288 w 751387"/>
                <a:gd name="connsiteY13" fmla="*/ 135788 h 1990354"/>
                <a:gd name="connsiteX14" fmla="*/ 93895 w 751387"/>
                <a:gd name="connsiteY14" fmla="*/ 211912 h 1990354"/>
                <a:gd name="connsiteX15" fmla="*/ 323638 w 751387"/>
                <a:gd name="connsiteY15" fmla="*/ 756437 h 1990354"/>
                <a:gd name="connsiteX16" fmla="*/ 368901 w 751387"/>
                <a:gd name="connsiteY16" fmla="*/ 984809 h 1990354"/>
                <a:gd name="connsiteX17" fmla="*/ 415536 w 751387"/>
                <a:gd name="connsiteY17" fmla="*/ 1261186 h 1990354"/>
                <a:gd name="connsiteX18" fmla="*/ 458055 w 751387"/>
                <a:gd name="connsiteY18" fmla="*/ 1675409 h 1990354"/>
                <a:gd name="connsiteX19" fmla="*/ 472457 w 751387"/>
                <a:gd name="connsiteY19" fmla="*/ 1942186 h 1990354"/>
                <a:gd name="connsiteX20" fmla="*/ 474514 w 751387"/>
                <a:gd name="connsiteY20" fmla="*/ 1981276 h 1990354"/>
                <a:gd name="connsiteX21" fmla="*/ 746091 w 751387"/>
                <a:gd name="connsiteY21" fmla="*/ 1970303 h 1990354"/>
                <a:gd name="connsiteX0" fmla="*/ 746091 w 751387"/>
                <a:gd name="connsiteY0" fmla="*/ 1970303 h 1990354"/>
                <a:gd name="connsiteX1" fmla="*/ 743348 w 751387"/>
                <a:gd name="connsiteY1" fmla="*/ 1778279 h 1990354"/>
                <a:gd name="connsiteX2" fmla="*/ 669967 w 751387"/>
                <a:gd name="connsiteY2" fmla="*/ 969721 h 1990354"/>
                <a:gd name="connsiteX3" fmla="*/ 565726 w 751387"/>
                <a:gd name="connsiteY3" fmla="*/ 469087 h 1990354"/>
                <a:gd name="connsiteX4" fmla="*/ 518406 w 751387"/>
                <a:gd name="connsiteY4" fmla="*/ 98069 h 1990354"/>
                <a:gd name="connsiteX5" fmla="*/ 508804 w 751387"/>
                <a:gd name="connsiteY5" fmla="*/ 85725 h 1990354"/>
                <a:gd name="connsiteX6" fmla="*/ 491659 w 751387"/>
                <a:gd name="connsiteY6" fmla="*/ 107671 h 1990354"/>
                <a:gd name="connsiteX7" fmla="*/ 409363 w 751387"/>
                <a:gd name="connsiteY7" fmla="*/ 263347 h 1990354"/>
                <a:gd name="connsiteX8" fmla="*/ 357243 w 751387"/>
                <a:gd name="connsiteY8" fmla="*/ 269519 h 1990354"/>
                <a:gd name="connsiteX9" fmla="*/ 102125 w 751387"/>
                <a:gd name="connsiteY9" fmla="*/ 59665 h 1990354"/>
                <a:gd name="connsiteX10" fmla="*/ 67835 w 751387"/>
                <a:gd name="connsiteY10" fmla="*/ 0 h 1990354"/>
                <a:gd name="connsiteX11" fmla="*/ 17772 w 751387"/>
                <a:gd name="connsiteY11" fmla="*/ 43205 h 1990354"/>
                <a:gd name="connsiteX12" fmla="*/ 1312 w 751387"/>
                <a:gd name="connsiteY12" fmla="*/ 95326 h 1990354"/>
                <a:gd name="connsiteX13" fmla="*/ 36288 w 751387"/>
                <a:gd name="connsiteY13" fmla="*/ 135788 h 1990354"/>
                <a:gd name="connsiteX14" fmla="*/ 93895 w 751387"/>
                <a:gd name="connsiteY14" fmla="*/ 211912 h 1990354"/>
                <a:gd name="connsiteX15" fmla="*/ 323638 w 751387"/>
                <a:gd name="connsiteY15" fmla="*/ 756437 h 1990354"/>
                <a:gd name="connsiteX16" fmla="*/ 368901 w 751387"/>
                <a:gd name="connsiteY16" fmla="*/ 984809 h 1990354"/>
                <a:gd name="connsiteX17" fmla="*/ 415536 w 751387"/>
                <a:gd name="connsiteY17" fmla="*/ 1261186 h 1990354"/>
                <a:gd name="connsiteX18" fmla="*/ 458055 w 751387"/>
                <a:gd name="connsiteY18" fmla="*/ 1675409 h 1990354"/>
                <a:gd name="connsiteX19" fmla="*/ 474514 w 751387"/>
                <a:gd name="connsiteY19" fmla="*/ 1981276 h 1990354"/>
                <a:gd name="connsiteX20" fmla="*/ 746091 w 751387"/>
                <a:gd name="connsiteY20" fmla="*/ 1970303 h 1990354"/>
                <a:gd name="connsiteX0" fmla="*/ 746091 w 751387"/>
                <a:gd name="connsiteY0" fmla="*/ 1970303 h 1990354"/>
                <a:gd name="connsiteX1" fmla="*/ 743348 w 751387"/>
                <a:gd name="connsiteY1" fmla="*/ 1778279 h 1990354"/>
                <a:gd name="connsiteX2" fmla="*/ 669967 w 751387"/>
                <a:gd name="connsiteY2" fmla="*/ 969721 h 1990354"/>
                <a:gd name="connsiteX3" fmla="*/ 565726 w 751387"/>
                <a:gd name="connsiteY3" fmla="*/ 469087 h 1990354"/>
                <a:gd name="connsiteX4" fmla="*/ 518406 w 751387"/>
                <a:gd name="connsiteY4" fmla="*/ 98069 h 1990354"/>
                <a:gd name="connsiteX5" fmla="*/ 508804 w 751387"/>
                <a:gd name="connsiteY5" fmla="*/ 85725 h 1990354"/>
                <a:gd name="connsiteX6" fmla="*/ 491659 w 751387"/>
                <a:gd name="connsiteY6" fmla="*/ 107671 h 1990354"/>
                <a:gd name="connsiteX7" fmla="*/ 409363 w 751387"/>
                <a:gd name="connsiteY7" fmla="*/ 263347 h 1990354"/>
                <a:gd name="connsiteX8" fmla="*/ 357243 w 751387"/>
                <a:gd name="connsiteY8" fmla="*/ 269519 h 1990354"/>
                <a:gd name="connsiteX9" fmla="*/ 102125 w 751387"/>
                <a:gd name="connsiteY9" fmla="*/ 59665 h 1990354"/>
                <a:gd name="connsiteX10" fmla="*/ 67835 w 751387"/>
                <a:gd name="connsiteY10" fmla="*/ 0 h 1990354"/>
                <a:gd name="connsiteX11" fmla="*/ 17772 w 751387"/>
                <a:gd name="connsiteY11" fmla="*/ 43205 h 1990354"/>
                <a:gd name="connsiteX12" fmla="*/ 1312 w 751387"/>
                <a:gd name="connsiteY12" fmla="*/ 95326 h 1990354"/>
                <a:gd name="connsiteX13" fmla="*/ 36288 w 751387"/>
                <a:gd name="connsiteY13" fmla="*/ 135788 h 1990354"/>
                <a:gd name="connsiteX14" fmla="*/ 93895 w 751387"/>
                <a:gd name="connsiteY14" fmla="*/ 211912 h 1990354"/>
                <a:gd name="connsiteX15" fmla="*/ 323638 w 751387"/>
                <a:gd name="connsiteY15" fmla="*/ 756437 h 1990354"/>
                <a:gd name="connsiteX16" fmla="*/ 368901 w 751387"/>
                <a:gd name="connsiteY16" fmla="*/ 984809 h 1990354"/>
                <a:gd name="connsiteX17" fmla="*/ 415536 w 751387"/>
                <a:gd name="connsiteY17" fmla="*/ 1261186 h 1990354"/>
                <a:gd name="connsiteX18" fmla="*/ 458055 w 751387"/>
                <a:gd name="connsiteY18" fmla="*/ 1675409 h 1990354"/>
                <a:gd name="connsiteX19" fmla="*/ 474514 w 751387"/>
                <a:gd name="connsiteY19" fmla="*/ 1981276 h 1990354"/>
                <a:gd name="connsiteX20" fmla="*/ 746091 w 751387"/>
                <a:gd name="connsiteY20" fmla="*/ 1970303 h 1990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1387" h="1990354">
                  <a:moveTo>
                    <a:pt x="746091" y="1970303"/>
                  </a:moveTo>
                  <a:cubicBezTo>
                    <a:pt x="751120" y="1938070"/>
                    <a:pt x="756035" y="1945042"/>
                    <a:pt x="743348" y="1778279"/>
                  </a:cubicBezTo>
                  <a:cubicBezTo>
                    <a:pt x="739919" y="1715186"/>
                    <a:pt x="675454" y="1010183"/>
                    <a:pt x="669967" y="969721"/>
                  </a:cubicBezTo>
                  <a:cubicBezTo>
                    <a:pt x="648022" y="801700"/>
                    <a:pt x="597273" y="635737"/>
                    <a:pt x="565726" y="469087"/>
                  </a:cubicBezTo>
                  <a:cubicBezTo>
                    <a:pt x="547895" y="375133"/>
                    <a:pt x="518406" y="100127"/>
                    <a:pt x="518406" y="98069"/>
                  </a:cubicBezTo>
                  <a:cubicBezTo>
                    <a:pt x="514977" y="93955"/>
                    <a:pt x="517034" y="86411"/>
                    <a:pt x="508804" y="85725"/>
                  </a:cubicBezTo>
                  <a:cubicBezTo>
                    <a:pt x="499203" y="90526"/>
                    <a:pt x="496460" y="100127"/>
                    <a:pt x="491659" y="107671"/>
                  </a:cubicBezTo>
                  <a:cubicBezTo>
                    <a:pt x="471085" y="145390"/>
                    <a:pt x="427880" y="224257"/>
                    <a:pt x="409363" y="263347"/>
                  </a:cubicBezTo>
                  <a:cubicBezTo>
                    <a:pt x="402505" y="277063"/>
                    <a:pt x="381246" y="272948"/>
                    <a:pt x="357243" y="269519"/>
                  </a:cubicBezTo>
                  <a:cubicBezTo>
                    <a:pt x="351070" y="269519"/>
                    <a:pt x="178249" y="119329"/>
                    <a:pt x="102125" y="59665"/>
                  </a:cubicBezTo>
                  <a:cubicBezTo>
                    <a:pt x="81551" y="43891"/>
                    <a:pt x="64406" y="28804"/>
                    <a:pt x="67835" y="0"/>
                  </a:cubicBezTo>
                  <a:cubicBezTo>
                    <a:pt x="42460" y="3429"/>
                    <a:pt x="21886" y="9601"/>
                    <a:pt x="17772" y="43205"/>
                  </a:cubicBezTo>
                  <a:cubicBezTo>
                    <a:pt x="17086" y="71323"/>
                    <a:pt x="6799" y="76124"/>
                    <a:pt x="1312" y="95326"/>
                  </a:cubicBezTo>
                  <a:cubicBezTo>
                    <a:pt x="-5546" y="117958"/>
                    <a:pt x="15714" y="122758"/>
                    <a:pt x="36288" y="135788"/>
                  </a:cubicBezTo>
                  <a:cubicBezTo>
                    <a:pt x="59605" y="150876"/>
                    <a:pt x="76750" y="190652"/>
                    <a:pt x="93895" y="211912"/>
                  </a:cubicBezTo>
                  <a:cubicBezTo>
                    <a:pt x="199509" y="341528"/>
                    <a:pt x="315409" y="719404"/>
                    <a:pt x="323638" y="756437"/>
                  </a:cubicBezTo>
                  <a:cubicBezTo>
                    <a:pt x="340098" y="831875"/>
                    <a:pt x="355185" y="907999"/>
                    <a:pt x="368901" y="984809"/>
                  </a:cubicBezTo>
                  <a:cubicBezTo>
                    <a:pt x="386046" y="1076706"/>
                    <a:pt x="401820" y="1168603"/>
                    <a:pt x="415536" y="1261186"/>
                  </a:cubicBezTo>
                  <a:cubicBezTo>
                    <a:pt x="436110" y="1398346"/>
                    <a:pt x="448454" y="1536878"/>
                    <a:pt x="458055" y="1675409"/>
                  </a:cubicBezTo>
                  <a:cubicBezTo>
                    <a:pt x="467885" y="1795424"/>
                    <a:pt x="468112" y="1886363"/>
                    <a:pt x="474514" y="1981276"/>
                  </a:cubicBezTo>
                  <a:cubicBezTo>
                    <a:pt x="520120" y="1985962"/>
                    <a:pt x="701285" y="2004136"/>
                    <a:pt x="746091" y="1970303"/>
                  </a:cubicBezTo>
                  <a:close/>
                </a:path>
              </a:pathLst>
            </a:custGeom>
            <a:solidFill>
              <a:srgbClr val="AFD2C8"/>
            </a:solidFill>
            <a:ln w="68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Arial"/>
              </a:endParaRPr>
            </a:p>
          </p:txBody>
        </p:sp>
        <p:sp>
          <p:nvSpPr>
            <p:cNvPr id="13" name="Freeform: Shape 12">
              <a:extLst>
                <a:ext uri="{FF2B5EF4-FFF2-40B4-BE49-F238E27FC236}">
                  <a16:creationId xmlns:a16="http://schemas.microsoft.com/office/drawing/2014/main" id="{24EB3BC6-DA31-416B-8D75-495A9C6ECE45}"/>
                </a:ext>
              </a:extLst>
            </p:cNvPr>
            <p:cNvSpPr/>
            <p:nvPr/>
          </p:nvSpPr>
          <p:spPr>
            <a:xfrm>
              <a:off x="700584" y="4688266"/>
              <a:ext cx="2657562" cy="2168355"/>
            </a:xfrm>
            <a:custGeom>
              <a:avLst/>
              <a:gdLst>
                <a:gd name="connsiteX0" fmla="*/ 2278552 w 2666423"/>
                <a:gd name="connsiteY0" fmla="*/ 156 h 2183348"/>
                <a:gd name="connsiteX1" fmla="*/ 2250485 w 2666423"/>
                <a:gd name="connsiteY1" fmla="*/ 359 h 2183348"/>
                <a:gd name="connsiteX2" fmla="*/ 1930695 w 2666423"/>
                <a:gd name="connsiteY2" fmla="*/ 22415 h 2183348"/>
                <a:gd name="connsiteX3" fmla="*/ 1856654 w 2666423"/>
                <a:gd name="connsiteY3" fmla="*/ 42893 h 2183348"/>
                <a:gd name="connsiteX4" fmla="*/ 241947 w 2666423"/>
                <a:gd name="connsiteY4" fmla="*/ 41317 h 2183348"/>
                <a:gd name="connsiteX5" fmla="*/ 164756 w 2666423"/>
                <a:gd name="connsiteY5" fmla="*/ 496586 h 2183348"/>
                <a:gd name="connsiteX6" fmla="*/ 70237 w 2666423"/>
                <a:gd name="connsiteY6" fmla="*/ 1396096 h 2183348"/>
                <a:gd name="connsiteX7" fmla="*/ 0 w 2666423"/>
                <a:gd name="connsiteY7" fmla="*/ 2183348 h 2183348"/>
                <a:gd name="connsiteX8" fmla="*/ 2666423 w 2666423"/>
                <a:gd name="connsiteY8" fmla="*/ 2183348 h 2183348"/>
                <a:gd name="connsiteX9" fmla="*/ 2666248 w 2666423"/>
                <a:gd name="connsiteY9" fmla="*/ 2138454 h 2183348"/>
                <a:gd name="connsiteX10" fmla="*/ 2660070 w 2666423"/>
                <a:gd name="connsiteY10" fmla="*/ 61798 h 2183348"/>
                <a:gd name="connsiteX11" fmla="*/ 2278552 w 2666423"/>
                <a:gd name="connsiteY11" fmla="*/ 156 h 2183348"/>
                <a:gd name="connsiteX0" fmla="*/ 2278552 w 2666423"/>
                <a:gd name="connsiteY0" fmla="*/ 156 h 2183348"/>
                <a:gd name="connsiteX1" fmla="*/ 2250485 w 2666423"/>
                <a:gd name="connsiteY1" fmla="*/ 359 h 2183348"/>
                <a:gd name="connsiteX2" fmla="*/ 1856654 w 2666423"/>
                <a:gd name="connsiteY2" fmla="*/ 42893 h 2183348"/>
                <a:gd name="connsiteX3" fmla="*/ 241947 w 2666423"/>
                <a:gd name="connsiteY3" fmla="*/ 41317 h 2183348"/>
                <a:gd name="connsiteX4" fmla="*/ 164756 w 2666423"/>
                <a:gd name="connsiteY4" fmla="*/ 496586 h 2183348"/>
                <a:gd name="connsiteX5" fmla="*/ 70237 w 2666423"/>
                <a:gd name="connsiteY5" fmla="*/ 1396096 h 2183348"/>
                <a:gd name="connsiteX6" fmla="*/ 0 w 2666423"/>
                <a:gd name="connsiteY6" fmla="*/ 2183348 h 2183348"/>
                <a:gd name="connsiteX7" fmla="*/ 2666423 w 2666423"/>
                <a:gd name="connsiteY7" fmla="*/ 2183348 h 2183348"/>
                <a:gd name="connsiteX8" fmla="*/ 2666248 w 2666423"/>
                <a:gd name="connsiteY8" fmla="*/ 2138454 h 2183348"/>
                <a:gd name="connsiteX9" fmla="*/ 2660070 w 2666423"/>
                <a:gd name="connsiteY9" fmla="*/ 61798 h 2183348"/>
                <a:gd name="connsiteX10" fmla="*/ 2278552 w 2666423"/>
                <a:gd name="connsiteY10" fmla="*/ 156 h 2183348"/>
                <a:gd name="connsiteX0" fmla="*/ 2660070 w 2666423"/>
                <a:gd name="connsiteY0" fmla="*/ 175207 h 2296757"/>
                <a:gd name="connsiteX1" fmla="*/ 2250485 w 2666423"/>
                <a:gd name="connsiteY1" fmla="*/ 113768 h 2296757"/>
                <a:gd name="connsiteX2" fmla="*/ 1856654 w 2666423"/>
                <a:gd name="connsiteY2" fmla="*/ 156302 h 2296757"/>
                <a:gd name="connsiteX3" fmla="*/ 241947 w 2666423"/>
                <a:gd name="connsiteY3" fmla="*/ 154726 h 2296757"/>
                <a:gd name="connsiteX4" fmla="*/ 164756 w 2666423"/>
                <a:gd name="connsiteY4" fmla="*/ 609995 h 2296757"/>
                <a:gd name="connsiteX5" fmla="*/ 70237 w 2666423"/>
                <a:gd name="connsiteY5" fmla="*/ 1509505 h 2296757"/>
                <a:gd name="connsiteX6" fmla="*/ 0 w 2666423"/>
                <a:gd name="connsiteY6" fmla="*/ 2296757 h 2296757"/>
                <a:gd name="connsiteX7" fmla="*/ 2666423 w 2666423"/>
                <a:gd name="connsiteY7" fmla="*/ 2296757 h 2296757"/>
                <a:gd name="connsiteX8" fmla="*/ 2666248 w 2666423"/>
                <a:gd name="connsiteY8" fmla="*/ 2251863 h 2296757"/>
                <a:gd name="connsiteX9" fmla="*/ 2660070 w 2666423"/>
                <a:gd name="connsiteY9" fmla="*/ 175207 h 2296757"/>
                <a:gd name="connsiteX0" fmla="*/ 2660070 w 2666423"/>
                <a:gd name="connsiteY0" fmla="*/ 159487 h 2281037"/>
                <a:gd name="connsiteX1" fmla="*/ 1856654 w 2666423"/>
                <a:gd name="connsiteY1" fmla="*/ 140582 h 2281037"/>
                <a:gd name="connsiteX2" fmla="*/ 241947 w 2666423"/>
                <a:gd name="connsiteY2" fmla="*/ 139006 h 2281037"/>
                <a:gd name="connsiteX3" fmla="*/ 164756 w 2666423"/>
                <a:gd name="connsiteY3" fmla="*/ 594275 h 2281037"/>
                <a:gd name="connsiteX4" fmla="*/ 70237 w 2666423"/>
                <a:gd name="connsiteY4" fmla="*/ 1493785 h 2281037"/>
                <a:gd name="connsiteX5" fmla="*/ 0 w 2666423"/>
                <a:gd name="connsiteY5" fmla="*/ 2281037 h 2281037"/>
                <a:gd name="connsiteX6" fmla="*/ 2666423 w 2666423"/>
                <a:gd name="connsiteY6" fmla="*/ 2281037 h 2281037"/>
                <a:gd name="connsiteX7" fmla="*/ 2666248 w 2666423"/>
                <a:gd name="connsiteY7" fmla="*/ 2236143 h 2281037"/>
                <a:gd name="connsiteX8" fmla="*/ 2660070 w 2666423"/>
                <a:gd name="connsiteY8" fmla="*/ 159487 h 2281037"/>
                <a:gd name="connsiteX0" fmla="*/ 2660070 w 2666423"/>
                <a:gd name="connsiteY0" fmla="*/ 179276 h 2300826"/>
                <a:gd name="connsiteX1" fmla="*/ 241947 w 2666423"/>
                <a:gd name="connsiteY1" fmla="*/ 158795 h 2300826"/>
                <a:gd name="connsiteX2" fmla="*/ 164756 w 2666423"/>
                <a:gd name="connsiteY2" fmla="*/ 614064 h 2300826"/>
                <a:gd name="connsiteX3" fmla="*/ 70237 w 2666423"/>
                <a:gd name="connsiteY3" fmla="*/ 1513574 h 2300826"/>
                <a:gd name="connsiteX4" fmla="*/ 0 w 2666423"/>
                <a:gd name="connsiteY4" fmla="*/ 2300826 h 2300826"/>
                <a:gd name="connsiteX5" fmla="*/ 2666423 w 2666423"/>
                <a:gd name="connsiteY5" fmla="*/ 2300826 h 2300826"/>
                <a:gd name="connsiteX6" fmla="*/ 2666248 w 2666423"/>
                <a:gd name="connsiteY6" fmla="*/ 2255932 h 2300826"/>
                <a:gd name="connsiteX7" fmla="*/ 2660070 w 2666423"/>
                <a:gd name="connsiteY7" fmla="*/ 179276 h 2300826"/>
                <a:gd name="connsiteX0" fmla="*/ 2660070 w 2666423"/>
                <a:gd name="connsiteY0" fmla="*/ 78896 h 2200446"/>
                <a:gd name="connsiteX1" fmla="*/ 241947 w 2666423"/>
                <a:gd name="connsiteY1" fmla="*/ 58415 h 2200446"/>
                <a:gd name="connsiteX2" fmla="*/ 164756 w 2666423"/>
                <a:gd name="connsiteY2" fmla="*/ 513684 h 2200446"/>
                <a:gd name="connsiteX3" fmla="*/ 70237 w 2666423"/>
                <a:gd name="connsiteY3" fmla="*/ 1413194 h 2200446"/>
                <a:gd name="connsiteX4" fmla="*/ 0 w 2666423"/>
                <a:gd name="connsiteY4" fmla="*/ 2200446 h 2200446"/>
                <a:gd name="connsiteX5" fmla="*/ 2666423 w 2666423"/>
                <a:gd name="connsiteY5" fmla="*/ 2200446 h 2200446"/>
                <a:gd name="connsiteX6" fmla="*/ 2666248 w 2666423"/>
                <a:gd name="connsiteY6" fmla="*/ 2155552 h 2200446"/>
                <a:gd name="connsiteX7" fmla="*/ 2660070 w 2666423"/>
                <a:gd name="connsiteY7" fmla="*/ 78896 h 2200446"/>
                <a:gd name="connsiteX0" fmla="*/ 2660070 w 2666423"/>
                <a:gd name="connsiteY0" fmla="*/ 54035 h 2175585"/>
                <a:gd name="connsiteX1" fmla="*/ 241947 w 2666423"/>
                <a:gd name="connsiteY1" fmla="*/ 33554 h 2175585"/>
                <a:gd name="connsiteX2" fmla="*/ 164756 w 2666423"/>
                <a:gd name="connsiteY2" fmla="*/ 488823 h 2175585"/>
                <a:gd name="connsiteX3" fmla="*/ 70237 w 2666423"/>
                <a:gd name="connsiteY3" fmla="*/ 1388333 h 2175585"/>
                <a:gd name="connsiteX4" fmla="*/ 0 w 2666423"/>
                <a:gd name="connsiteY4" fmla="*/ 2175585 h 2175585"/>
                <a:gd name="connsiteX5" fmla="*/ 2666423 w 2666423"/>
                <a:gd name="connsiteY5" fmla="*/ 2175585 h 2175585"/>
                <a:gd name="connsiteX6" fmla="*/ 2666248 w 2666423"/>
                <a:gd name="connsiteY6" fmla="*/ 2130691 h 2175585"/>
                <a:gd name="connsiteX7" fmla="*/ 2660070 w 2666423"/>
                <a:gd name="connsiteY7" fmla="*/ 54035 h 21755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66423" h="2175585">
                  <a:moveTo>
                    <a:pt x="2660070" y="54035"/>
                  </a:moveTo>
                  <a:cubicBezTo>
                    <a:pt x="2026658" y="-56569"/>
                    <a:pt x="782070" y="37543"/>
                    <a:pt x="241947" y="33554"/>
                  </a:cubicBezTo>
                  <a:cubicBezTo>
                    <a:pt x="180509" y="165881"/>
                    <a:pt x="182085" y="347044"/>
                    <a:pt x="164756" y="488823"/>
                  </a:cubicBezTo>
                  <a:cubicBezTo>
                    <a:pt x="128525" y="788134"/>
                    <a:pt x="98591" y="1089022"/>
                    <a:pt x="70237" y="1388333"/>
                  </a:cubicBezTo>
                  <a:lnTo>
                    <a:pt x="0" y="2175585"/>
                  </a:lnTo>
                  <a:lnTo>
                    <a:pt x="2666423" y="2175585"/>
                  </a:lnTo>
                  <a:cubicBezTo>
                    <a:pt x="2666365" y="2160620"/>
                    <a:pt x="2666306" y="2145656"/>
                    <a:pt x="2666248" y="2130691"/>
                  </a:cubicBezTo>
                  <a:cubicBezTo>
                    <a:pt x="2662506" y="1169438"/>
                    <a:pt x="2658297" y="74416"/>
                    <a:pt x="2660070" y="54035"/>
                  </a:cubicBezTo>
                  <a:close/>
                </a:path>
              </a:pathLst>
            </a:custGeom>
            <a:solidFill>
              <a:sysClr val="windowText" lastClr="000000"/>
            </a:solidFill>
            <a:ln w="6854" cap="flat">
              <a:noFill/>
              <a:prstDash val="solid"/>
              <a:miter/>
            </a:ln>
          </p:spPr>
          <p:txBody>
            <a:bodyPr wrap="square"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Arial"/>
              </a:endParaRPr>
            </a:p>
          </p:txBody>
        </p:sp>
        <p:sp>
          <p:nvSpPr>
            <p:cNvPr id="14" name="Freeform: Shape 13">
              <a:extLst>
                <a:ext uri="{FF2B5EF4-FFF2-40B4-BE49-F238E27FC236}">
                  <a16:creationId xmlns:a16="http://schemas.microsoft.com/office/drawing/2014/main" id="{5EFDFD23-F98F-494A-A116-DE5D3995B6BE}"/>
                </a:ext>
              </a:extLst>
            </p:cNvPr>
            <p:cNvSpPr/>
            <p:nvPr/>
          </p:nvSpPr>
          <p:spPr>
            <a:xfrm>
              <a:off x="0" y="226153"/>
              <a:ext cx="4664412" cy="6630472"/>
            </a:xfrm>
            <a:custGeom>
              <a:avLst/>
              <a:gdLst>
                <a:gd name="connsiteX0" fmla="*/ 2570601 w 4679962"/>
                <a:gd name="connsiteY0" fmla="*/ 285525 h 6652578"/>
                <a:gd name="connsiteX1" fmla="*/ 2865188 w 4679962"/>
                <a:gd name="connsiteY1" fmla="*/ 2276735 h 6652578"/>
                <a:gd name="connsiteX2" fmla="*/ 3058952 w 4679962"/>
                <a:gd name="connsiteY2" fmla="*/ 4945335 h 6652578"/>
                <a:gd name="connsiteX3" fmla="*/ 3145923 w 4679962"/>
                <a:gd name="connsiteY3" fmla="*/ 6556538 h 6652578"/>
                <a:gd name="connsiteX4" fmla="*/ 3150679 w 4679962"/>
                <a:gd name="connsiteY4" fmla="*/ 6652578 h 6652578"/>
                <a:gd name="connsiteX5" fmla="*/ 3807167 w 4679962"/>
                <a:gd name="connsiteY5" fmla="*/ 6652578 h 6652578"/>
                <a:gd name="connsiteX6" fmla="*/ 3667028 w 4679962"/>
                <a:gd name="connsiteY6" fmla="*/ 4236439 h 6652578"/>
                <a:gd name="connsiteX7" fmla="*/ 3934834 w 4679962"/>
                <a:gd name="connsiteY7" fmla="*/ 5135951 h 6652578"/>
                <a:gd name="connsiteX8" fmla="*/ 4679962 w 4679962"/>
                <a:gd name="connsiteY8" fmla="*/ 5167457 h 6652578"/>
                <a:gd name="connsiteX9" fmla="*/ 4509827 w 4679962"/>
                <a:gd name="connsiteY9" fmla="*/ 3960757 h 6652578"/>
                <a:gd name="connsiteX10" fmla="*/ 4040379 w 4679962"/>
                <a:gd name="connsiteY10" fmla="*/ 1875028 h 6652578"/>
                <a:gd name="connsiteX11" fmla="*/ 3386619 w 4679962"/>
                <a:gd name="connsiteY11" fmla="*/ 794354 h 6652578"/>
                <a:gd name="connsiteX12" fmla="*/ 2644642 w 4679962"/>
                <a:gd name="connsiteY12" fmla="*/ 513947 h 6652578"/>
                <a:gd name="connsiteX13" fmla="*/ 2597382 w 4679962"/>
                <a:gd name="connsiteY13" fmla="*/ 309155 h 6652578"/>
                <a:gd name="connsiteX14" fmla="*/ 2570601 w 4679962"/>
                <a:gd name="connsiteY14" fmla="*/ 285525 h 6652578"/>
                <a:gd name="connsiteX15" fmla="*/ 1284153 w 4679962"/>
                <a:gd name="connsiteY15" fmla="*/ 0 h 6652578"/>
                <a:gd name="connsiteX16" fmla="*/ 1225276 w 4679962"/>
                <a:gd name="connsiteY16" fmla="*/ 1969 h 6652578"/>
                <a:gd name="connsiteX17" fmla="*/ 1004730 w 4679962"/>
                <a:gd name="connsiteY17" fmla="*/ 317034 h 6652578"/>
                <a:gd name="connsiteX18" fmla="*/ 207616 w 4679962"/>
                <a:gd name="connsiteY18" fmla="*/ 647852 h 6652578"/>
                <a:gd name="connsiteX19" fmla="*/ 52003 w 4679962"/>
                <a:gd name="connsiteY19" fmla="*/ 770309 h 6652578"/>
                <a:gd name="connsiteX20" fmla="*/ 0 w 4679962"/>
                <a:gd name="connsiteY20" fmla="*/ 827682 h 6652578"/>
                <a:gd name="connsiteX21" fmla="*/ 0 w 4679962"/>
                <a:gd name="connsiteY21" fmla="*/ 4113092 h 6652578"/>
                <a:gd name="connsiteX22" fmla="*/ 77701 w 4679962"/>
                <a:gd name="connsiteY22" fmla="*/ 4144411 h 6652578"/>
                <a:gd name="connsiteX23" fmla="*/ 327341 w 4679962"/>
                <a:gd name="connsiteY23" fmla="*/ 4217540 h 6652578"/>
                <a:gd name="connsiteX24" fmla="*/ 305877 w 4679962"/>
                <a:gd name="connsiteY24" fmla="*/ 6404485 h 6652578"/>
                <a:gd name="connsiteX25" fmla="*/ 311484 w 4679962"/>
                <a:gd name="connsiteY25" fmla="*/ 6652578 h 6652578"/>
                <a:gd name="connsiteX26" fmla="*/ 2550036 w 4679962"/>
                <a:gd name="connsiteY26" fmla="*/ 6652578 h 6652578"/>
                <a:gd name="connsiteX27" fmla="*/ 2548648 w 4679962"/>
                <a:gd name="connsiteY27" fmla="*/ 6596334 h 6652578"/>
                <a:gd name="connsiteX28" fmla="*/ 2400465 w 4679962"/>
                <a:gd name="connsiteY28" fmla="*/ 3102210 h 6652578"/>
                <a:gd name="connsiteX29" fmla="*/ 1370204 w 4679962"/>
                <a:gd name="connsiteY29" fmla="*/ 143748 h 6652578"/>
                <a:gd name="connsiteX30" fmla="*/ 1422191 w 4679962"/>
                <a:gd name="connsiteY30" fmla="*/ 9845 h 6652578"/>
                <a:gd name="connsiteX31" fmla="*/ 1284153 w 4679962"/>
                <a:gd name="connsiteY31" fmla="*/ 0 h 6652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679962" h="6652578">
                  <a:moveTo>
                    <a:pt x="2570601" y="285525"/>
                  </a:moveTo>
                  <a:cubicBezTo>
                    <a:pt x="2583203" y="791205"/>
                    <a:pt x="2758064" y="1537908"/>
                    <a:pt x="2865188" y="2276735"/>
                  </a:cubicBezTo>
                  <a:cubicBezTo>
                    <a:pt x="3014844" y="3303848"/>
                    <a:pt x="3003816" y="4085210"/>
                    <a:pt x="3058952" y="4945335"/>
                  </a:cubicBezTo>
                  <a:cubicBezTo>
                    <a:pt x="3083074" y="5325088"/>
                    <a:pt x="3116242" y="5961138"/>
                    <a:pt x="3145923" y="6556538"/>
                  </a:cubicBezTo>
                  <a:lnTo>
                    <a:pt x="3150679" y="6652578"/>
                  </a:lnTo>
                  <a:lnTo>
                    <a:pt x="3807167" y="6652578"/>
                  </a:lnTo>
                  <a:lnTo>
                    <a:pt x="3667028" y="4236439"/>
                  </a:lnTo>
                  <a:lnTo>
                    <a:pt x="3934834" y="5135951"/>
                  </a:lnTo>
                  <a:lnTo>
                    <a:pt x="4679962" y="5167457"/>
                  </a:lnTo>
                  <a:cubicBezTo>
                    <a:pt x="4679962" y="5167457"/>
                    <a:pt x="4612224" y="4690135"/>
                    <a:pt x="4509827" y="3960757"/>
                  </a:cubicBezTo>
                  <a:cubicBezTo>
                    <a:pt x="4407431" y="3231383"/>
                    <a:pt x="4087639" y="2108177"/>
                    <a:pt x="4040379" y="1875028"/>
                  </a:cubicBezTo>
                  <a:cubicBezTo>
                    <a:pt x="3993119" y="1641880"/>
                    <a:pt x="3656000" y="955038"/>
                    <a:pt x="3386619" y="794354"/>
                  </a:cubicBezTo>
                  <a:cubicBezTo>
                    <a:pt x="3117240" y="633672"/>
                    <a:pt x="2644642" y="513947"/>
                    <a:pt x="2644642" y="513947"/>
                  </a:cubicBezTo>
                  <a:lnTo>
                    <a:pt x="2597382" y="309155"/>
                  </a:lnTo>
                  <a:cubicBezTo>
                    <a:pt x="2597382" y="309155"/>
                    <a:pt x="2598956" y="302854"/>
                    <a:pt x="2570601" y="285525"/>
                  </a:cubicBezTo>
                  <a:close/>
                  <a:moveTo>
                    <a:pt x="1284153" y="0"/>
                  </a:moveTo>
                  <a:cubicBezTo>
                    <a:pt x="1248118" y="0"/>
                    <a:pt x="1225276" y="1969"/>
                    <a:pt x="1225276" y="1969"/>
                  </a:cubicBezTo>
                  <a:lnTo>
                    <a:pt x="1004730" y="317034"/>
                  </a:lnTo>
                  <a:cubicBezTo>
                    <a:pt x="1004730" y="317034"/>
                    <a:pt x="445490" y="498196"/>
                    <a:pt x="207616" y="647852"/>
                  </a:cubicBezTo>
                  <a:cubicBezTo>
                    <a:pt x="148147" y="685266"/>
                    <a:pt x="96752" y="726126"/>
                    <a:pt x="52003" y="770309"/>
                  </a:cubicBezTo>
                  <a:lnTo>
                    <a:pt x="0" y="827682"/>
                  </a:lnTo>
                  <a:lnTo>
                    <a:pt x="0" y="4113092"/>
                  </a:lnTo>
                  <a:lnTo>
                    <a:pt x="77701" y="4144411"/>
                  </a:lnTo>
                  <a:cubicBezTo>
                    <a:pt x="162227" y="4173924"/>
                    <a:pt x="246212" y="4198636"/>
                    <a:pt x="327341" y="4217540"/>
                  </a:cubicBezTo>
                  <a:cubicBezTo>
                    <a:pt x="277717" y="4420755"/>
                    <a:pt x="285594" y="5438022"/>
                    <a:pt x="305877" y="6404485"/>
                  </a:cubicBezTo>
                  <a:lnTo>
                    <a:pt x="311484" y="6652578"/>
                  </a:lnTo>
                  <a:lnTo>
                    <a:pt x="2550036" y="6652578"/>
                  </a:lnTo>
                  <a:lnTo>
                    <a:pt x="2548648" y="6596334"/>
                  </a:lnTo>
                  <a:cubicBezTo>
                    <a:pt x="2519814" y="5472748"/>
                    <a:pt x="2471354" y="3993646"/>
                    <a:pt x="2400465" y="3102210"/>
                  </a:cubicBezTo>
                  <a:cubicBezTo>
                    <a:pt x="2283892" y="1630855"/>
                    <a:pt x="1975128" y="591140"/>
                    <a:pt x="1370204" y="143748"/>
                  </a:cubicBezTo>
                  <a:cubicBezTo>
                    <a:pt x="1390684" y="101216"/>
                    <a:pt x="1395410" y="63406"/>
                    <a:pt x="1422191" y="9845"/>
                  </a:cubicBezTo>
                  <a:cubicBezTo>
                    <a:pt x="1369417" y="1969"/>
                    <a:pt x="1320189" y="0"/>
                    <a:pt x="1284153" y="0"/>
                  </a:cubicBezTo>
                  <a:close/>
                </a:path>
              </a:pathLst>
            </a:custGeom>
            <a:solidFill>
              <a:sysClr val="window" lastClr="FFFFFF"/>
            </a:solidFill>
            <a:ln w="6854" cap="flat">
              <a:noFill/>
              <a:prstDash val="solid"/>
              <a:miter/>
            </a:ln>
          </p:spPr>
          <p:txBody>
            <a:bodyPr wrap="square"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Arial"/>
              </a:endParaRPr>
            </a:p>
          </p:txBody>
        </p:sp>
        <p:sp>
          <p:nvSpPr>
            <p:cNvPr id="15" name="Freeform: Shape 14">
              <a:extLst>
                <a:ext uri="{FF2B5EF4-FFF2-40B4-BE49-F238E27FC236}">
                  <a16:creationId xmlns:a16="http://schemas.microsoft.com/office/drawing/2014/main" id="{5D8292EA-CF6C-4037-A5E7-EB8BBA63A79B}"/>
                </a:ext>
              </a:extLst>
            </p:cNvPr>
            <p:cNvSpPr/>
            <p:nvPr/>
          </p:nvSpPr>
          <p:spPr>
            <a:xfrm>
              <a:off x="1506088" y="-530"/>
              <a:ext cx="1126951" cy="809234"/>
            </a:xfrm>
            <a:custGeom>
              <a:avLst/>
              <a:gdLst>
                <a:gd name="connsiteX0" fmla="*/ 1130709 w 1130709"/>
                <a:gd name="connsiteY0" fmla="*/ 0 h 811931"/>
                <a:gd name="connsiteX1" fmla="*/ 28840 w 1130709"/>
                <a:gd name="connsiteY1" fmla="*/ 0 h 811931"/>
                <a:gd name="connsiteX2" fmla="*/ 27423 w 1130709"/>
                <a:gd name="connsiteY2" fmla="*/ 11472 h 811931"/>
                <a:gd name="connsiteX3" fmla="*/ 871 w 1130709"/>
                <a:gd name="connsiteY3" fmla="*/ 185295 h 811931"/>
                <a:gd name="connsiteX4" fmla="*/ 71760 w 1130709"/>
                <a:gd name="connsiteY4" fmla="*/ 328650 h 811931"/>
                <a:gd name="connsiteX5" fmla="*/ 536481 w 1130709"/>
                <a:gd name="connsiteY5" fmla="*/ 694126 h 811931"/>
                <a:gd name="connsiteX6" fmla="*/ 676685 w 1130709"/>
                <a:gd name="connsiteY6" fmla="*/ 804399 h 811931"/>
                <a:gd name="connsiteX7" fmla="*/ 829490 w 1130709"/>
                <a:gd name="connsiteY7" fmla="*/ 747687 h 811931"/>
                <a:gd name="connsiteX8" fmla="*/ 1020105 w 1130709"/>
                <a:gd name="connsiteY8" fmla="*/ 405841 h 811931"/>
                <a:gd name="connsiteX9" fmla="*/ 1002776 w 1130709"/>
                <a:gd name="connsiteY9" fmla="*/ 240431 h 811931"/>
                <a:gd name="connsiteX10" fmla="*/ 1102858 w 1130709"/>
                <a:gd name="connsiteY10" fmla="*/ 62691 h 811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30709" h="811931">
                  <a:moveTo>
                    <a:pt x="1130709" y="0"/>
                  </a:moveTo>
                  <a:lnTo>
                    <a:pt x="28840" y="0"/>
                  </a:lnTo>
                  <a:lnTo>
                    <a:pt x="27423" y="11472"/>
                  </a:lnTo>
                  <a:cubicBezTo>
                    <a:pt x="14162" y="106899"/>
                    <a:pt x="-1099" y="168558"/>
                    <a:pt x="871" y="185295"/>
                  </a:cubicBezTo>
                  <a:cubicBezTo>
                    <a:pt x="-5432" y="248308"/>
                    <a:pt x="22925" y="290843"/>
                    <a:pt x="71760" y="328650"/>
                  </a:cubicBezTo>
                  <a:cubicBezTo>
                    <a:pt x="226141" y="449951"/>
                    <a:pt x="385250" y="569674"/>
                    <a:pt x="536481" y="694126"/>
                  </a:cubicBezTo>
                  <a:cubicBezTo>
                    <a:pt x="560111" y="713029"/>
                    <a:pt x="654631" y="785494"/>
                    <a:pt x="676685" y="804399"/>
                  </a:cubicBezTo>
                  <a:cubicBezTo>
                    <a:pt x="689287" y="812276"/>
                    <a:pt x="790107" y="831178"/>
                    <a:pt x="829490" y="747687"/>
                  </a:cubicBezTo>
                  <a:cubicBezTo>
                    <a:pt x="889354" y="621661"/>
                    <a:pt x="949215" y="527141"/>
                    <a:pt x="1020105" y="405841"/>
                  </a:cubicBezTo>
                  <a:cubicBezTo>
                    <a:pt x="1020105" y="396388"/>
                    <a:pt x="938189" y="327074"/>
                    <a:pt x="1002776" y="240431"/>
                  </a:cubicBezTo>
                  <a:cubicBezTo>
                    <a:pt x="1034676" y="197898"/>
                    <a:pt x="1069038" y="134491"/>
                    <a:pt x="1102858" y="62691"/>
                  </a:cubicBezTo>
                  <a:close/>
                </a:path>
              </a:pathLst>
            </a:custGeom>
            <a:solidFill>
              <a:srgbClr val="FECBA3"/>
            </a:solidFill>
            <a:ln w="635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Arial"/>
              </a:endParaRPr>
            </a:p>
          </p:txBody>
        </p:sp>
        <p:sp>
          <p:nvSpPr>
            <p:cNvPr id="16" name="Freeform: Shape 15">
              <a:extLst>
                <a:ext uri="{FF2B5EF4-FFF2-40B4-BE49-F238E27FC236}">
                  <a16:creationId xmlns:a16="http://schemas.microsoft.com/office/drawing/2014/main" id="{D8431512-13CE-4F98-81D1-F294F71ED36F}"/>
                </a:ext>
              </a:extLst>
            </p:cNvPr>
            <p:cNvSpPr/>
            <p:nvPr/>
          </p:nvSpPr>
          <p:spPr>
            <a:xfrm>
              <a:off x="1717351" y="24002"/>
              <a:ext cx="800747" cy="785047"/>
            </a:xfrm>
            <a:custGeom>
              <a:avLst/>
              <a:gdLst>
                <a:gd name="connsiteX0" fmla="*/ 351815 w 349758"/>
                <a:gd name="connsiteY0" fmla="*/ 165278 h 342900"/>
                <a:gd name="connsiteX1" fmla="*/ 266776 w 349758"/>
                <a:gd name="connsiteY1" fmla="*/ 317525 h 342900"/>
                <a:gd name="connsiteX2" fmla="*/ 183794 w 349758"/>
                <a:gd name="connsiteY2" fmla="*/ 309982 h 342900"/>
                <a:gd name="connsiteX3" fmla="*/ 121387 w 349758"/>
                <a:gd name="connsiteY3" fmla="*/ 210541 h 342900"/>
                <a:gd name="connsiteX4" fmla="*/ 0 w 349758"/>
                <a:gd name="connsiteY4" fmla="*/ 0 h 342900"/>
                <a:gd name="connsiteX5" fmla="*/ 111785 w 349758"/>
                <a:gd name="connsiteY5" fmla="*/ 93955 h 342900"/>
                <a:gd name="connsiteX6" fmla="*/ 336728 w 349758"/>
                <a:gd name="connsiteY6" fmla="*/ 106985 h 342900"/>
                <a:gd name="connsiteX7" fmla="*/ 351815 w 349758"/>
                <a:gd name="connsiteY7" fmla="*/ 165278 h 342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9758" h="342900">
                  <a:moveTo>
                    <a:pt x="351815" y="165278"/>
                  </a:moveTo>
                  <a:cubicBezTo>
                    <a:pt x="320954" y="218084"/>
                    <a:pt x="295580" y="264033"/>
                    <a:pt x="266776" y="317525"/>
                  </a:cubicBezTo>
                  <a:cubicBezTo>
                    <a:pt x="245516" y="353873"/>
                    <a:pt x="215341" y="361417"/>
                    <a:pt x="183794" y="309982"/>
                  </a:cubicBezTo>
                  <a:cubicBezTo>
                    <a:pt x="159791" y="275006"/>
                    <a:pt x="139903" y="242773"/>
                    <a:pt x="121387" y="210541"/>
                  </a:cubicBezTo>
                  <a:cubicBezTo>
                    <a:pt x="84353" y="145390"/>
                    <a:pt x="4115" y="10287"/>
                    <a:pt x="0" y="0"/>
                  </a:cubicBezTo>
                  <a:cubicBezTo>
                    <a:pt x="37719" y="39776"/>
                    <a:pt x="76810" y="66523"/>
                    <a:pt x="111785" y="93955"/>
                  </a:cubicBezTo>
                  <a:cubicBezTo>
                    <a:pt x="183109" y="150876"/>
                    <a:pt x="262661" y="165964"/>
                    <a:pt x="336728" y="106985"/>
                  </a:cubicBezTo>
                  <a:cubicBezTo>
                    <a:pt x="338099" y="160477"/>
                    <a:pt x="351130" y="161849"/>
                    <a:pt x="351815" y="165278"/>
                  </a:cubicBezTo>
                  <a:close/>
                </a:path>
              </a:pathLst>
            </a:custGeom>
            <a:solidFill>
              <a:sysClr val="windowText" lastClr="000000">
                <a:alpha val="20000"/>
              </a:sysClr>
            </a:solidFill>
            <a:ln w="9293"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Arial"/>
              </a:endParaRPr>
            </a:p>
          </p:txBody>
        </p:sp>
        <p:sp>
          <p:nvSpPr>
            <p:cNvPr id="17" name="Freeform: Shape 16">
              <a:extLst>
                <a:ext uri="{FF2B5EF4-FFF2-40B4-BE49-F238E27FC236}">
                  <a16:creationId xmlns:a16="http://schemas.microsoft.com/office/drawing/2014/main" id="{0BFC87B0-4F6A-41C5-B26C-E719A3429BCF}"/>
                </a:ext>
              </a:extLst>
            </p:cNvPr>
            <p:cNvSpPr/>
            <p:nvPr/>
          </p:nvSpPr>
          <p:spPr>
            <a:xfrm>
              <a:off x="3979452" y="5679057"/>
              <a:ext cx="659436" cy="1177568"/>
            </a:xfrm>
            <a:custGeom>
              <a:avLst/>
              <a:gdLst>
                <a:gd name="connsiteX0" fmla="*/ 288211 w 288036"/>
                <a:gd name="connsiteY0" fmla="*/ 224436 h 514350"/>
                <a:gd name="connsiteX1" fmla="*/ 288896 w 288036"/>
                <a:gd name="connsiteY1" fmla="*/ 286843 h 514350"/>
                <a:gd name="connsiteX2" fmla="*/ 113332 w 288036"/>
                <a:gd name="connsiteY2" fmla="*/ 504928 h 514350"/>
                <a:gd name="connsiteX3" fmla="*/ 52981 w 288036"/>
                <a:gd name="connsiteY3" fmla="*/ 481611 h 514350"/>
                <a:gd name="connsiteX4" fmla="*/ 61897 w 288036"/>
                <a:gd name="connsiteY4" fmla="*/ 441148 h 514350"/>
                <a:gd name="connsiteX5" fmla="*/ 82471 w 288036"/>
                <a:gd name="connsiteY5" fmla="*/ 380798 h 514350"/>
                <a:gd name="connsiteX6" fmla="*/ 133906 w 288036"/>
                <a:gd name="connsiteY6" fmla="*/ 195632 h 514350"/>
                <a:gd name="connsiteX7" fmla="*/ 87271 w 288036"/>
                <a:gd name="connsiteY7" fmla="*/ 246381 h 514350"/>
                <a:gd name="connsiteX8" fmla="*/ 82471 w 288036"/>
                <a:gd name="connsiteY8" fmla="*/ 303988 h 514350"/>
                <a:gd name="connsiteX9" fmla="*/ 40637 w 288036"/>
                <a:gd name="connsiteY9" fmla="*/ 382170 h 514350"/>
                <a:gd name="connsiteX10" fmla="*/ 1546 w 288036"/>
                <a:gd name="connsiteY10" fmla="*/ 373254 h 514350"/>
                <a:gd name="connsiteX11" fmla="*/ 7718 w 288036"/>
                <a:gd name="connsiteY11" fmla="*/ 80418 h 514350"/>
                <a:gd name="connsiteX12" fmla="*/ 42008 w 288036"/>
                <a:gd name="connsiteY12" fmla="*/ 6351 h 514350"/>
                <a:gd name="connsiteX13" fmla="*/ 66011 w 288036"/>
                <a:gd name="connsiteY13" fmla="*/ 865 h 514350"/>
                <a:gd name="connsiteX14" fmla="*/ 252549 w 288036"/>
                <a:gd name="connsiteY14" fmla="*/ 27611 h 514350"/>
                <a:gd name="connsiteX15" fmla="*/ 272437 w 288036"/>
                <a:gd name="connsiteY15" fmla="*/ 37898 h 514350"/>
                <a:gd name="connsiteX16" fmla="*/ 288211 w 288036"/>
                <a:gd name="connsiteY16" fmla="*/ 224436 h 514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88036" h="514350">
                  <a:moveTo>
                    <a:pt x="288211" y="224436"/>
                  </a:moveTo>
                  <a:cubicBezTo>
                    <a:pt x="288211" y="234037"/>
                    <a:pt x="293011" y="275871"/>
                    <a:pt x="288896" y="286843"/>
                  </a:cubicBezTo>
                  <a:cubicBezTo>
                    <a:pt x="253921" y="378741"/>
                    <a:pt x="192199" y="449378"/>
                    <a:pt x="113332" y="504928"/>
                  </a:cubicBezTo>
                  <a:cubicBezTo>
                    <a:pt x="81099" y="527559"/>
                    <a:pt x="61211" y="517272"/>
                    <a:pt x="52981" y="481611"/>
                  </a:cubicBezTo>
                  <a:cubicBezTo>
                    <a:pt x="53667" y="463780"/>
                    <a:pt x="57782" y="452121"/>
                    <a:pt x="61897" y="441148"/>
                  </a:cubicBezTo>
                  <a:cubicBezTo>
                    <a:pt x="63268" y="416460"/>
                    <a:pt x="64640" y="393142"/>
                    <a:pt x="82471" y="380798"/>
                  </a:cubicBezTo>
                  <a:cubicBezTo>
                    <a:pt x="133220" y="345136"/>
                    <a:pt x="172996" y="202490"/>
                    <a:pt x="133906" y="195632"/>
                  </a:cubicBezTo>
                  <a:cubicBezTo>
                    <a:pt x="93443" y="194946"/>
                    <a:pt x="89329" y="213463"/>
                    <a:pt x="87271" y="246381"/>
                  </a:cubicBezTo>
                  <a:cubicBezTo>
                    <a:pt x="84528" y="273813"/>
                    <a:pt x="88643" y="285472"/>
                    <a:pt x="82471" y="303988"/>
                  </a:cubicBezTo>
                  <a:cubicBezTo>
                    <a:pt x="75613" y="333478"/>
                    <a:pt x="68069" y="363653"/>
                    <a:pt x="40637" y="382170"/>
                  </a:cubicBezTo>
                  <a:cubicBezTo>
                    <a:pt x="24178" y="393142"/>
                    <a:pt x="9090" y="398629"/>
                    <a:pt x="1546" y="373254"/>
                  </a:cubicBezTo>
                  <a:cubicBezTo>
                    <a:pt x="-2569" y="341022"/>
                    <a:pt x="2232" y="96191"/>
                    <a:pt x="7718" y="80418"/>
                  </a:cubicBezTo>
                  <a:cubicBezTo>
                    <a:pt x="11833" y="52300"/>
                    <a:pt x="22120" y="26925"/>
                    <a:pt x="42008" y="6351"/>
                  </a:cubicBezTo>
                  <a:cubicBezTo>
                    <a:pt x="48866" y="-1192"/>
                    <a:pt x="57096" y="-507"/>
                    <a:pt x="66011" y="865"/>
                  </a:cubicBezTo>
                  <a:cubicBezTo>
                    <a:pt x="128419" y="9095"/>
                    <a:pt x="190141" y="18010"/>
                    <a:pt x="252549" y="27611"/>
                  </a:cubicBezTo>
                  <a:cubicBezTo>
                    <a:pt x="260093" y="28983"/>
                    <a:pt x="267637" y="31040"/>
                    <a:pt x="272437" y="37898"/>
                  </a:cubicBezTo>
                  <a:cubicBezTo>
                    <a:pt x="277238" y="49557"/>
                    <a:pt x="279981" y="203862"/>
                    <a:pt x="288211" y="224436"/>
                  </a:cubicBezTo>
                  <a:close/>
                </a:path>
              </a:pathLst>
            </a:custGeom>
            <a:solidFill>
              <a:srgbClr val="FECBA3"/>
            </a:solidFill>
            <a:ln w="635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Arial"/>
              </a:endParaRPr>
            </a:p>
          </p:txBody>
        </p:sp>
        <p:sp>
          <p:nvSpPr>
            <p:cNvPr id="18" name="Freeform: Shape 17">
              <a:extLst>
                <a:ext uri="{FF2B5EF4-FFF2-40B4-BE49-F238E27FC236}">
                  <a16:creationId xmlns:a16="http://schemas.microsoft.com/office/drawing/2014/main" id="{1680F470-47B2-44A3-8EBA-0C980C58232B}"/>
                </a:ext>
              </a:extLst>
            </p:cNvPr>
            <p:cNvSpPr/>
            <p:nvPr/>
          </p:nvSpPr>
          <p:spPr>
            <a:xfrm>
              <a:off x="4029912" y="5220842"/>
              <a:ext cx="580933" cy="549532"/>
            </a:xfrm>
            <a:custGeom>
              <a:avLst/>
              <a:gdLst>
                <a:gd name="connsiteX0" fmla="*/ 249025 w 253746"/>
                <a:gd name="connsiteY0" fmla="*/ 240785 h 240030"/>
                <a:gd name="connsiteX1" fmla="*/ 61116 w 253746"/>
                <a:gd name="connsiteY1" fmla="*/ 211981 h 240030"/>
                <a:gd name="connsiteX2" fmla="*/ 18596 w 253746"/>
                <a:gd name="connsiteY2" fmla="*/ 206495 h 240030"/>
                <a:gd name="connsiteX3" fmla="*/ 13110 w 253746"/>
                <a:gd name="connsiteY3" fmla="*/ 205809 h 240030"/>
                <a:gd name="connsiteX4" fmla="*/ 6938 w 253746"/>
                <a:gd name="connsiteY4" fmla="*/ 159860 h 240030"/>
                <a:gd name="connsiteX5" fmla="*/ 6252 w 253746"/>
                <a:gd name="connsiteY5" fmla="*/ 131742 h 240030"/>
                <a:gd name="connsiteX6" fmla="*/ 765 w 253746"/>
                <a:gd name="connsiteY6" fmla="*/ 74135 h 240030"/>
                <a:gd name="connsiteX7" fmla="*/ 22711 w 253746"/>
                <a:gd name="connsiteY7" fmla="*/ 32987 h 240030"/>
                <a:gd name="connsiteX8" fmla="*/ 244224 w 253746"/>
                <a:gd name="connsiteY8" fmla="*/ 50132 h 240030"/>
                <a:gd name="connsiteX9" fmla="*/ 253140 w 253746"/>
                <a:gd name="connsiteY9" fmla="*/ 75507 h 240030"/>
                <a:gd name="connsiteX10" fmla="*/ 253826 w 253746"/>
                <a:gd name="connsiteY10" fmla="*/ 155745 h 240030"/>
                <a:gd name="connsiteX11" fmla="*/ 253140 w 253746"/>
                <a:gd name="connsiteY11" fmla="*/ 241470 h 240030"/>
                <a:gd name="connsiteX12" fmla="*/ 253140 w 253746"/>
                <a:gd name="connsiteY12" fmla="*/ 241470 h 240030"/>
                <a:gd name="connsiteX13" fmla="*/ 249025 w 253746"/>
                <a:gd name="connsiteY13" fmla="*/ 240785 h 240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53746" h="240030">
                  <a:moveTo>
                    <a:pt x="249025" y="240785"/>
                  </a:moveTo>
                  <a:cubicBezTo>
                    <a:pt x="186617" y="231183"/>
                    <a:pt x="123524" y="221582"/>
                    <a:pt x="61116" y="211981"/>
                  </a:cubicBezTo>
                  <a:cubicBezTo>
                    <a:pt x="47400" y="209924"/>
                    <a:pt x="32998" y="208552"/>
                    <a:pt x="18596" y="206495"/>
                  </a:cubicBezTo>
                  <a:cubicBezTo>
                    <a:pt x="16539" y="205809"/>
                    <a:pt x="15167" y="205809"/>
                    <a:pt x="13110" y="205809"/>
                  </a:cubicBezTo>
                  <a:cubicBezTo>
                    <a:pt x="4194" y="191407"/>
                    <a:pt x="14481" y="174262"/>
                    <a:pt x="6938" y="159860"/>
                  </a:cubicBezTo>
                  <a:cubicBezTo>
                    <a:pt x="6938" y="150259"/>
                    <a:pt x="6252" y="140658"/>
                    <a:pt x="6252" y="131742"/>
                  </a:cubicBezTo>
                  <a:cubicBezTo>
                    <a:pt x="-606" y="113226"/>
                    <a:pt x="8309" y="92652"/>
                    <a:pt x="765" y="74135"/>
                  </a:cubicBezTo>
                  <a:cubicBezTo>
                    <a:pt x="-2664" y="54933"/>
                    <a:pt x="5566" y="42588"/>
                    <a:pt x="22711" y="32987"/>
                  </a:cubicBezTo>
                  <a:cubicBezTo>
                    <a:pt x="108436" y="-15705"/>
                    <a:pt x="159185" y="-10904"/>
                    <a:pt x="244224" y="50132"/>
                  </a:cubicBezTo>
                  <a:cubicBezTo>
                    <a:pt x="253826" y="56990"/>
                    <a:pt x="253140" y="65906"/>
                    <a:pt x="253140" y="75507"/>
                  </a:cubicBezTo>
                  <a:cubicBezTo>
                    <a:pt x="253826" y="102253"/>
                    <a:pt x="253826" y="128999"/>
                    <a:pt x="253826" y="155745"/>
                  </a:cubicBezTo>
                  <a:cubicBezTo>
                    <a:pt x="257255" y="184549"/>
                    <a:pt x="258626" y="212667"/>
                    <a:pt x="253140" y="241470"/>
                  </a:cubicBezTo>
                  <a:lnTo>
                    <a:pt x="253140" y="241470"/>
                  </a:lnTo>
                  <a:cubicBezTo>
                    <a:pt x="252454" y="243528"/>
                    <a:pt x="251082" y="243528"/>
                    <a:pt x="249025" y="240785"/>
                  </a:cubicBezTo>
                  <a:close/>
                </a:path>
              </a:pathLst>
            </a:custGeom>
            <a:solidFill>
              <a:srgbClr val="AFD2C8"/>
            </a:solidFill>
            <a:ln w="68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Arial"/>
              </a:endParaRPr>
            </a:p>
          </p:txBody>
        </p:sp>
        <p:sp>
          <p:nvSpPr>
            <p:cNvPr id="19" name="Freeform: Shape 18">
              <a:extLst>
                <a:ext uri="{FF2B5EF4-FFF2-40B4-BE49-F238E27FC236}">
                  <a16:creationId xmlns:a16="http://schemas.microsoft.com/office/drawing/2014/main" id="{2E4D6DBE-4201-48AE-AE70-E9975A0B3792}"/>
                </a:ext>
              </a:extLst>
            </p:cNvPr>
            <p:cNvSpPr/>
            <p:nvPr/>
          </p:nvSpPr>
          <p:spPr>
            <a:xfrm>
              <a:off x="3048741" y="4563135"/>
              <a:ext cx="15702" cy="109905"/>
            </a:xfrm>
            <a:custGeom>
              <a:avLst/>
              <a:gdLst>
                <a:gd name="connsiteX0" fmla="*/ 5506 w 0"/>
                <a:gd name="connsiteY0" fmla="*/ 52121 h 48006"/>
                <a:gd name="connsiteX1" fmla="*/ 706 w 0"/>
                <a:gd name="connsiteY1" fmla="*/ 0 h 48006"/>
                <a:gd name="connsiteX2" fmla="*/ 5506 w 0"/>
                <a:gd name="connsiteY2" fmla="*/ 52121 h 48006"/>
              </a:gdLst>
              <a:ahLst/>
              <a:cxnLst>
                <a:cxn ang="0">
                  <a:pos x="connsiteX0" y="connsiteY0"/>
                </a:cxn>
                <a:cxn ang="0">
                  <a:pos x="connsiteX1" y="connsiteY1"/>
                </a:cxn>
                <a:cxn ang="0">
                  <a:pos x="connsiteX2" y="connsiteY2"/>
                </a:cxn>
              </a:cxnLst>
              <a:rect l="l" t="t" r="r" b="b"/>
              <a:pathLst>
                <a:path h="48006">
                  <a:moveTo>
                    <a:pt x="5506" y="52121"/>
                  </a:moveTo>
                  <a:cubicBezTo>
                    <a:pt x="-4095" y="35661"/>
                    <a:pt x="2077" y="17145"/>
                    <a:pt x="706" y="0"/>
                  </a:cubicBezTo>
                  <a:cubicBezTo>
                    <a:pt x="10993" y="16459"/>
                    <a:pt x="3449" y="34976"/>
                    <a:pt x="5506" y="52121"/>
                  </a:cubicBezTo>
                  <a:close/>
                </a:path>
              </a:pathLst>
            </a:custGeom>
            <a:solidFill>
              <a:srgbClr val="FDFDFD"/>
            </a:solidFill>
            <a:ln w="68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Arial"/>
              </a:endParaRPr>
            </a:p>
          </p:txBody>
        </p:sp>
        <p:sp>
          <p:nvSpPr>
            <p:cNvPr id="20" name="Freeform: Shape 19">
              <a:extLst>
                <a:ext uri="{FF2B5EF4-FFF2-40B4-BE49-F238E27FC236}">
                  <a16:creationId xmlns:a16="http://schemas.microsoft.com/office/drawing/2014/main" id="{3A76D039-945A-4950-8352-EF2F87FB7594}"/>
                </a:ext>
              </a:extLst>
            </p:cNvPr>
            <p:cNvSpPr/>
            <p:nvPr/>
          </p:nvSpPr>
          <p:spPr>
            <a:xfrm>
              <a:off x="2051094" y="775349"/>
              <a:ext cx="942054" cy="3359992"/>
            </a:xfrm>
            <a:custGeom>
              <a:avLst/>
              <a:gdLst>
                <a:gd name="connsiteX0" fmla="*/ 199868 w 411480"/>
                <a:gd name="connsiteY0" fmla="*/ 1391119 h 1467612"/>
                <a:gd name="connsiteX1" fmla="*/ 195067 w 411480"/>
                <a:gd name="connsiteY1" fmla="*/ 1363687 h 1467612"/>
                <a:gd name="connsiteX2" fmla="*/ 106599 w 411480"/>
                <a:gd name="connsiteY2" fmla="*/ 580503 h 1467612"/>
                <a:gd name="connsiteX3" fmla="*/ 102484 w 411480"/>
                <a:gd name="connsiteY3" fmla="*/ 569531 h 1467612"/>
                <a:gd name="connsiteX4" fmla="*/ 66822 w 411480"/>
                <a:gd name="connsiteY4" fmla="*/ 228002 h 1467612"/>
                <a:gd name="connsiteX5" fmla="*/ 22245 w 411480"/>
                <a:gd name="connsiteY5" fmla="*/ 130619 h 1467612"/>
                <a:gd name="connsiteX6" fmla="*/ 9901 w 411480"/>
                <a:gd name="connsiteY6" fmla="*/ 75069 h 1467612"/>
                <a:gd name="connsiteX7" fmla="*/ 54478 w 411480"/>
                <a:gd name="connsiteY7" fmla="*/ 6489 h 1467612"/>
                <a:gd name="connsiteX8" fmla="*/ 102484 w 411480"/>
                <a:gd name="connsiteY8" fmla="*/ 317 h 1467612"/>
                <a:gd name="connsiteX9" fmla="*/ 136774 w 411480"/>
                <a:gd name="connsiteY9" fmla="*/ 17462 h 1467612"/>
                <a:gd name="connsiteX10" fmla="*/ 162834 w 411480"/>
                <a:gd name="connsiteY10" fmla="*/ 51752 h 1467612"/>
                <a:gd name="connsiteX11" fmla="*/ 173121 w 411480"/>
                <a:gd name="connsiteY11" fmla="*/ 127875 h 1467612"/>
                <a:gd name="connsiteX12" fmla="*/ 173807 w 411480"/>
                <a:gd name="connsiteY12" fmla="*/ 157365 h 1467612"/>
                <a:gd name="connsiteX13" fmla="*/ 283535 w 411480"/>
                <a:gd name="connsiteY13" fmla="*/ 496836 h 1467612"/>
                <a:gd name="connsiteX14" fmla="*/ 404922 w 411480"/>
                <a:gd name="connsiteY14" fmla="*/ 1290307 h 1467612"/>
                <a:gd name="connsiteX15" fmla="*/ 408351 w 411480"/>
                <a:gd name="connsiteY15" fmla="*/ 1304023 h 1467612"/>
                <a:gd name="connsiteX16" fmla="*/ 363774 w 411480"/>
                <a:gd name="connsiteY16" fmla="*/ 1427467 h 1467612"/>
                <a:gd name="connsiteX17" fmla="*/ 272562 w 411480"/>
                <a:gd name="connsiteY17" fmla="*/ 1445297 h 1467612"/>
                <a:gd name="connsiteX18" fmla="*/ 199868 w 411480"/>
                <a:gd name="connsiteY18" fmla="*/ 1391119 h 1467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11480" h="1467612">
                  <a:moveTo>
                    <a:pt x="199868" y="1391119"/>
                  </a:moveTo>
                  <a:cubicBezTo>
                    <a:pt x="192324" y="1382890"/>
                    <a:pt x="195067" y="1373288"/>
                    <a:pt x="195067" y="1363687"/>
                  </a:cubicBezTo>
                  <a:cubicBezTo>
                    <a:pt x="194381" y="1099654"/>
                    <a:pt x="160777" y="839050"/>
                    <a:pt x="106599" y="580503"/>
                  </a:cubicBezTo>
                  <a:cubicBezTo>
                    <a:pt x="105913" y="577074"/>
                    <a:pt x="103856" y="573645"/>
                    <a:pt x="102484" y="569531"/>
                  </a:cubicBezTo>
                  <a:cubicBezTo>
                    <a:pt x="67508" y="457745"/>
                    <a:pt x="58593" y="343217"/>
                    <a:pt x="66822" y="228002"/>
                  </a:cubicBezTo>
                  <a:cubicBezTo>
                    <a:pt x="70251" y="182739"/>
                    <a:pt x="58593" y="154622"/>
                    <a:pt x="22245" y="130619"/>
                  </a:cubicBezTo>
                  <a:cubicBezTo>
                    <a:pt x="-4501" y="112788"/>
                    <a:pt x="-5187" y="103872"/>
                    <a:pt x="9901" y="75069"/>
                  </a:cubicBezTo>
                  <a:cubicBezTo>
                    <a:pt x="22931" y="51066"/>
                    <a:pt x="28418" y="22262"/>
                    <a:pt x="54478" y="6489"/>
                  </a:cubicBezTo>
                  <a:cubicBezTo>
                    <a:pt x="70251" y="1688"/>
                    <a:pt x="86711" y="5803"/>
                    <a:pt x="102484" y="317"/>
                  </a:cubicBezTo>
                  <a:cubicBezTo>
                    <a:pt x="117572" y="-1741"/>
                    <a:pt x="127859" y="6489"/>
                    <a:pt x="136774" y="17462"/>
                  </a:cubicBezTo>
                  <a:cubicBezTo>
                    <a:pt x="145689" y="28434"/>
                    <a:pt x="153233" y="40779"/>
                    <a:pt x="162834" y="51752"/>
                  </a:cubicBezTo>
                  <a:cubicBezTo>
                    <a:pt x="184094" y="75069"/>
                    <a:pt x="195067" y="99072"/>
                    <a:pt x="173121" y="127875"/>
                  </a:cubicBezTo>
                  <a:cubicBezTo>
                    <a:pt x="166263" y="136791"/>
                    <a:pt x="167635" y="147764"/>
                    <a:pt x="173807" y="157365"/>
                  </a:cubicBezTo>
                  <a:cubicBezTo>
                    <a:pt x="235529" y="262292"/>
                    <a:pt x="260904" y="378878"/>
                    <a:pt x="283535" y="496836"/>
                  </a:cubicBezTo>
                  <a:cubicBezTo>
                    <a:pt x="333599" y="759497"/>
                    <a:pt x="368574" y="1024902"/>
                    <a:pt x="404922" y="1290307"/>
                  </a:cubicBezTo>
                  <a:cubicBezTo>
                    <a:pt x="405608" y="1295107"/>
                    <a:pt x="407665" y="1299222"/>
                    <a:pt x="408351" y="1304023"/>
                  </a:cubicBezTo>
                  <a:cubicBezTo>
                    <a:pt x="423438" y="1356143"/>
                    <a:pt x="389148" y="1390433"/>
                    <a:pt x="363774" y="1427467"/>
                  </a:cubicBezTo>
                  <a:cubicBezTo>
                    <a:pt x="327426" y="1482331"/>
                    <a:pt x="326741" y="1483016"/>
                    <a:pt x="272562" y="1445297"/>
                  </a:cubicBezTo>
                  <a:cubicBezTo>
                    <a:pt x="247188" y="1428838"/>
                    <a:pt x="217698" y="1417180"/>
                    <a:pt x="199868" y="1391119"/>
                  </a:cubicBezTo>
                  <a:close/>
                </a:path>
              </a:pathLst>
            </a:custGeom>
            <a:solidFill>
              <a:srgbClr val="F0786E"/>
            </a:solidFill>
            <a:ln w="68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Arial"/>
              </a:endParaRPr>
            </a:p>
          </p:txBody>
        </p:sp>
        <p:sp>
          <p:nvSpPr>
            <p:cNvPr id="21" name="Freeform: Shape 20">
              <a:extLst>
                <a:ext uri="{FF2B5EF4-FFF2-40B4-BE49-F238E27FC236}">
                  <a16:creationId xmlns:a16="http://schemas.microsoft.com/office/drawing/2014/main" id="{A28BA68B-EDD5-4200-8FD0-332701AC87AE}"/>
                </a:ext>
              </a:extLst>
            </p:cNvPr>
            <p:cNvSpPr/>
            <p:nvPr/>
          </p:nvSpPr>
          <p:spPr>
            <a:xfrm>
              <a:off x="0" y="2348919"/>
              <a:ext cx="1791144" cy="2479556"/>
            </a:xfrm>
            <a:custGeom>
              <a:avLst/>
              <a:gdLst>
                <a:gd name="connsiteX0" fmla="*/ 0 w 1797116"/>
                <a:gd name="connsiteY0" fmla="*/ 0 h 2487823"/>
                <a:gd name="connsiteX1" fmla="*/ 0 w 1797116"/>
                <a:gd name="connsiteY1" fmla="*/ 809270 h 2487823"/>
                <a:gd name="connsiteX2" fmla="*/ 604597 w 1797116"/>
                <a:gd name="connsiteY2" fmla="*/ 2221592 h 2487823"/>
                <a:gd name="connsiteX3" fmla="*/ 1797116 w 1797116"/>
                <a:gd name="connsiteY3" fmla="*/ 2487823 h 2487823"/>
                <a:gd name="connsiteX4" fmla="*/ 856649 w 1797116"/>
                <a:gd name="connsiteY4" fmla="*/ 220931 h 24878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97116" h="2487823">
                  <a:moveTo>
                    <a:pt x="0" y="0"/>
                  </a:moveTo>
                  <a:lnTo>
                    <a:pt x="0" y="809270"/>
                  </a:lnTo>
                  <a:lnTo>
                    <a:pt x="604597" y="2221592"/>
                  </a:lnTo>
                  <a:lnTo>
                    <a:pt x="1797116" y="2487823"/>
                  </a:lnTo>
                  <a:lnTo>
                    <a:pt x="856649" y="220931"/>
                  </a:lnTo>
                  <a:close/>
                </a:path>
              </a:pathLst>
            </a:custGeom>
            <a:solidFill>
              <a:sysClr val="windowText" lastClr="000000">
                <a:lumMod val="75000"/>
                <a:lumOff val="25000"/>
              </a:sysClr>
            </a:solidFill>
            <a:ln w="6854" cap="flat">
              <a:noFill/>
              <a:prstDash val="solid"/>
              <a:miter/>
            </a:ln>
          </p:spPr>
          <p:txBody>
            <a:bodyPr wrap="square"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Arial"/>
              </a:endParaRPr>
            </a:p>
          </p:txBody>
        </p:sp>
        <p:sp>
          <p:nvSpPr>
            <p:cNvPr id="22" name="Freeform: Shape 21">
              <a:extLst>
                <a:ext uri="{FF2B5EF4-FFF2-40B4-BE49-F238E27FC236}">
                  <a16:creationId xmlns:a16="http://schemas.microsoft.com/office/drawing/2014/main" id="{3004BEBB-763E-4609-9D10-78682835F2E0}"/>
                </a:ext>
              </a:extLst>
            </p:cNvPr>
            <p:cNvSpPr/>
            <p:nvPr/>
          </p:nvSpPr>
          <p:spPr>
            <a:xfrm>
              <a:off x="528795" y="3244903"/>
              <a:ext cx="1067661" cy="989157"/>
            </a:xfrm>
            <a:custGeom>
              <a:avLst/>
              <a:gdLst>
                <a:gd name="connsiteX0" fmla="*/ 59665 w 466344"/>
                <a:gd name="connsiteY0" fmla="*/ 140307 h 432054"/>
                <a:gd name="connsiteX1" fmla="*/ 117958 w 466344"/>
                <a:gd name="connsiteY1" fmla="*/ 63498 h 432054"/>
                <a:gd name="connsiteX2" fmla="*/ 304495 w 466344"/>
                <a:gd name="connsiteY2" fmla="*/ 27836 h 432054"/>
                <a:gd name="connsiteX3" fmla="*/ 301066 w 466344"/>
                <a:gd name="connsiteY3" fmla="*/ 74470 h 432054"/>
                <a:gd name="connsiteX4" fmla="*/ 330556 w 466344"/>
                <a:gd name="connsiteY4" fmla="*/ 70356 h 432054"/>
                <a:gd name="connsiteX5" fmla="*/ 378562 w 466344"/>
                <a:gd name="connsiteY5" fmla="*/ 77899 h 432054"/>
                <a:gd name="connsiteX6" fmla="*/ 393649 w 466344"/>
                <a:gd name="connsiteY6" fmla="*/ 121105 h 432054"/>
                <a:gd name="connsiteX7" fmla="*/ 426568 w 466344"/>
                <a:gd name="connsiteY7" fmla="*/ 150594 h 432054"/>
                <a:gd name="connsiteX8" fmla="*/ 433426 w 466344"/>
                <a:gd name="connsiteY8" fmla="*/ 194485 h 432054"/>
                <a:gd name="connsiteX9" fmla="*/ 453314 w 466344"/>
                <a:gd name="connsiteY9" fmla="*/ 217803 h 432054"/>
                <a:gd name="connsiteX10" fmla="*/ 452628 w 466344"/>
                <a:gd name="connsiteY10" fmla="*/ 269923 h 432054"/>
                <a:gd name="connsiteX11" fmla="*/ 466344 w 466344"/>
                <a:gd name="connsiteY11" fmla="*/ 304899 h 432054"/>
                <a:gd name="connsiteX12" fmla="*/ 439598 w 466344"/>
                <a:gd name="connsiteY12" fmla="*/ 359077 h 432054"/>
                <a:gd name="connsiteX13" fmla="*/ 362102 w 466344"/>
                <a:gd name="connsiteY13" fmla="*/ 393367 h 432054"/>
                <a:gd name="connsiteX14" fmla="*/ 202311 w 466344"/>
                <a:gd name="connsiteY14" fmla="*/ 436573 h 432054"/>
                <a:gd name="connsiteX15" fmla="*/ 128930 w 466344"/>
                <a:gd name="connsiteY15" fmla="*/ 434515 h 432054"/>
                <a:gd name="connsiteX16" fmla="*/ 52807 w 466344"/>
                <a:gd name="connsiteY16" fmla="*/ 436573 h 432054"/>
                <a:gd name="connsiteX17" fmla="*/ 4115 w 466344"/>
                <a:gd name="connsiteY17" fmla="*/ 409827 h 432054"/>
                <a:gd name="connsiteX18" fmla="*/ 0 w 466344"/>
                <a:gd name="connsiteY18" fmla="*/ 354277 h 432054"/>
                <a:gd name="connsiteX19" fmla="*/ 23317 w 466344"/>
                <a:gd name="connsiteY19" fmla="*/ 191742 h 432054"/>
                <a:gd name="connsiteX20" fmla="*/ 59665 w 466344"/>
                <a:gd name="connsiteY20" fmla="*/ 140307 h 4320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66344" h="432054">
                  <a:moveTo>
                    <a:pt x="59665" y="140307"/>
                  </a:moveTo>
                  <a:cubicBezTo>
                    <a:pt x="78867" y="114933"/>
                    <a:pt x="90526" y="87501"/>
                    <a:pt x="117958" y="63498"/>
                  </a:cubicBezTo>
                  <a:cubicBezTo>
                    <a:pt x="205740" y="-282"/>
                    <a:pt x="235915" y="-22913"/>
                    <a:pt x="304495" y="27836"/>
                  </a:cubicBezTo>
                  <a:cubicBezTo>
                    <a:pt x="323698" y="47038"/>
                    <a:pt x="298323" y="72413"/>
                    <a:pt x="301066" y="74470"/>
                  </a:cubicBezTo>
                  <a:cubicBezTo>
                    <a:pt x="305181" y="83386"/>
                    <a:pt x="311353" y="72413"/>
                    <a:pt x="330556" y="70356"/>
                  </a:cubicBezTo>
                  <a:cubicBezTo>
                    <a:pt x="347701" y="68298"/>
                    <a:pt x="366903" y="66927"/>
                    <a:pt x="378562" y="77899"/>
                  </a:cubicBezTo>
                  <a:cubicBezTo>
                    <a:pt x="395707" y="92987"/>
                    <a:pt x="384048" y="99845"/>
                    <a:pt x="393649" y="121105"/>
                  </a:cubicBezTo>
                  <a:cubicBezTo>
                    <a:pt x="402565" y="139621"/>
                    <a:pt x="414909" y="126591"/>
                    <a:pt x="426568" y="150594"/>
                  </a:cubicBezTo>
                  <a:cubicBezTo>
                    <a:pt x="436169" y="170482"/>
                    <a:pt x="427253" y="178026"/>
                    <a:pt x="433426" y="194485"/>
                  </a:cubicBezTo>
                  <a:cubicBezTo>
                    <a:pt x="437540" y="204087"/>
                    <a:pt x="446456" y="203401"/>
                    <a:pt x="453314" y="217803"/>
                  </a:cubicBezTo>
                  <a:cubicBezTo>
                    <a:pt x="460172" y="232204"/>
                    <a:pt x="447142" y="253464"/>
                    <a:pt x="452628" y="269923"/>
                  </a:cubicBezTo>
                  <a:cubicBezTo>
                    <a:pt x="458114" y="285011"/>
                    <a:pt x="460858" y="292555"/>
                    <a:pt x="466344" y="304899"/>
                  </a:cubicBezTo>
                  <a:cubicBezTo>
                    <a:pt x="473202" y="320673"/>
                    <a:pt x="454000" y="351534"/>
                    <a:pt x="439598" y="359077"/>
                  </a:cubicBezTo>
                  <a:cubicBezTo>
                    <a:pt x="429311" y="364564"/>
                    <a:pt x="379247" y="384452"/>
                    <a:pt x="362102" y="393367"/>
                  </a:cubicBezTo>
                  <a:cubicBezTo>
                    <a:pt x="316840" y="422857"/>
                    <a:pt x="246888" y="437259"/>
                    <a:pt x="202311" y="436573"/>
                  </a:cubicBezTo>
                  <a:cubicBezTo>
                    <a:pt x="183794" y="434515"/>
                    <a:pt x="138532" y="436573"/>
                    <a:pt x="128930" y="434515"/>
                  </a:cubicBezTo>
                  <a:cubicBezTo>
                    <a:pt x="96698" y="431086"/>
                    <a:pt x="85039" y="441373"/>
                    <a:pt x="52807" y="436573"/>
                  </a:cubicBezTo>
                  <a:cubicBezTo>
                    <a:pt x="34976" y="433830"/>
                    <a:pt x="6858" y="426972"/>
                    <a:pt x="4115" y="409827"/>
                  </a:cubicBezTo>
                  <a:cubicBezTo>
                    <a:pt x="2057" y="398854"/>
                    <a:pt x="0" y="365250"/>
                    <a:pt x="0" y="354277"/>
                  </a:cubicBezTo>
                  <a:cubicBezTo>
                    <a:pt x="2057" y="299413"/>
                    <a:pt x="5486" y="243863"/>
                    <a:pt x="23317" y="191742"/>
                  </a:cubicBezTo>
                  <a:cubicBezTo>
                    <a:pt x="31547" y="171854"/>
                    <a:pt x="42520" y="153337"/>
                    <a:pt x="59665" y="140307"/>
                  </a:cubicBezTo>
                  <a:close/>
                </a:path>
              </a:pathLst>
            </a:custGeom>
            <a:solidFill>
              <a:srgbClr val="FECBA3"/>
            </a:solidFill>
            <a:ln w="635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Arial"/>
              </a:endParaRPr>
            </a:p>
          </p:txBody>
        </p:sp>
        <p:sp>
          <p:nvSpPr>
            <p:cNvPr id="23" name="Freeform: Shape 22">
              <a:extLst>
                <a:ext uri="{FF2B5EF4-FFF2-40B4-BE49-F238E27FC236}">
                  <a16:creationId xmlns:a16="http://schemas.microsoft.com/office/drawing/2014/main" id="{177418AD-AE15-4C91-A84C-2B7EAAB0F2AB}"/>
                </a:ext>
              </a:extLst>
            </p:cNvPr>
            <p:cNvSpPr/>
            <p:nvPr/>
          </p:nvSpPr>
          <p:spPr>
            <a:xfrm>
              <a:off x="219866" y="3566125"/>
              <a:ext cx="619804" cy="848710"/>
            </a:xfrm>
            <a:custGeom>
              <a:avLst/>
              <a:gdLst>
                <a:gd name="connsiteX0" fmla="*/ 270724 w 267462"/>
                <a:gd name="connsiteY0" fmla="*/ 295913 h 370332"/>
                <a:gd name="connsiteX1" fmla="*/ 177455 w 267462"/>
                <a:gd name="connsiteY1" fmla="*/ 338432 h 370332"/>
                <a:gd name="connsiteX2" fmla="*/ 126706 w 267462"/>
                <a:gd name="connsiteY2" fmla="*/ 356263 h 370332"/>
                <a:gd name="connsiteX3" fmla="*/ 104760 w 267462"/>
                <a:gd name="connsiteY3" fmla="*/ 362435 h 370332"/>
                <a:gd name="connsiteX4" fmla="*/ 40981 w 267462"/>
                <a:gd name="connsiteY4" fmla="*/ 331574 h 370332"/>
                <a:gd name="connsiteX5" fmla="*/ 3262 w 267462"/>
                <a:gd name="connsiteY5" fmla="*/ 53825 h 370332"/>
                <a:gd name="connsiteX6" fmla="*/ 97902 w 267462"/>
                <a:gd name="connsiteY6" fmla="*/ 16106 h 370332"/>
                <a:gd name="connsiteX7" fmla="*/ 194600 w 267462"/>
                <a:gd name="connsiteY7" fmla="*/ 1019 h 370332"/>
                <a:gd name="connsiteX8" fmla="*/ 169911 w 267462"/>
                <a:gd name="connsiteY8" fmla="*/ 48339 h 370332"/>
                <a:gd name="connsiteX9" fmla="*/ 190485 w 267462"/>
                <a:gd name="connsiteY9" fmla="*/ 273281 h 370332"/>
                <a:gd name="connsiteX10" fmla="*/ 208316 w 267462"/>
                <a:gd name="connsiteY10" fmla="*/ 290426 h 370332"/>
                <a:gd name="connsiteX11" fmla="*/ 270724 w 267462"/>
                <a:gd name="connsiteY11" fmla="*/ 295913 h 370332"/>
                <a:gd name="connsiteX0" fmla="*/ 270724 w 270724"/>
                <a:gd name="connsiteY0" fmla="*/ 294894 h 370709"/>
                <a:gd name="connsiteX1" fmla="*/ 177455 w 270724"/>
                <a:gd name="connsiteY1" fmla="*/ 337413 h 370709"/>
                <a:gd name="connsiteX2" fmla="*/ 126706 w 270724"/>
                <a:gd name="connsiteY2" fmla="*/ 355244 h 370709"/>
                <a:gd name="connsiteX3" fmla="*/ 104760 w 270724"/>
                <a:gd name="connsiteY3" fmla="*/ 361416 h 370709"/>
                <a:gd name="connsiteX4" fmla="*/ 40981 w 270724"/>
                <a:gd name="connsiteY4" fmla="*/ 330555 h 370709"/>
                <a:gd name="connsiteX5" fmla="*/ 3262 w 270724"/>
                <a:gd name="connsiteY5" fmla="*/ 52806 h 370709"/>
                <a:gd name="connsiteX6" fmla="*/ 194600 w 270724"/>
                <a:gd name="connsiteY6" fmla="*/ 0 h 370709"/>
                <a:gd name="connsiteX7" fmla="*/ 169911 w 270724"/>
                <a:gd name="connsiteY7" fmla="*/ 47320 h 370709"/>
                <a:gd name="connsiteX8" fmla="*/ 190485 w 270724"/>
                <a:gd name="connsiteY8" fmla="*/ 272262 h 370709"/>
                <a:gd name="connsiteX9" fmla="*/ 208316 w 270724"/>
                <a:gd name="connsiteY9" fmla="*/ 289407 h 370709"/>
                <a:gd name="connsiteX10" fmla="*/ 270724 w 270724"/>
                <a:gd name="connsiteY10" fmla="*/ 294894 h 370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0724" h="370709">
                  <a:moveTo>
                    <a:pt x="270724" y="294894"/>
                  </a:moveTo>
                  <a:cubicBezTo>
                    <a:pt x="236434" y="324383"/>
                    <a:pt x="211059" y="325755"/>
                    <a:pt x="177455" y="337413"/>
                  </a:cubicBezTo>
                  <a:lnTo>
                    <a:pt x="126706" y="355244"/>
                  </a:lnTo>
                  <a:lnTo>
                    <a:pt x="104760" y="361416"/>
                  </a:lnTo>
                  <a:cubicBezTo>
                    <a:pt x="56754" y="377190"/>
                    <a:pt x="58811" y="376504"/>
                    <a:pt x="40981" y="330555"/>
                  </a:cubicBezTo>
                  <a:cubicBezTo>
                    <a:pt x="-4968" y="213969"/>
                    <a:pt x="-2911" y="157734"/>
                    <a:pt x="3262" y="52806"/>
                  </a:cubicBezTo>
                  <a:cubicBezTo>
                    <a:pt x="28865" y="-2287"/>
                    <a:pt x="166825" y="914"/>
                    <a:pt x="194600" y="0"/>
                  </a:cubicBezTo>
                  <a:cubicBezTo>
                    <a:pt x="180884" y="19888"/>
                    <a:pt x="175397" y="30175"/>
                    <a:pt x="169911" y="47320"/>
                  </a:cubicBezTo>
                  <a:cubicBezTo>
                    <a:pt x="147965" y="113842"/>
                    <a:pt x="181570" y="202311"/>
                    <a:pt x="190485" y="272262"/>
                  </a:cubicBezTo>
                  <a:cubicBezTo>
                    <a:pt x="191857" y="284607"/>
                    <a:pt x="197343" y="287350"/>
                    <a:pt x="208316" y="289407"/>
                  </a:cubicBezTo>
                  <a:cubicBezTo>
                    <a:pt x="242606" y="295579"/>
                    <a:pt x="236434" y="288721"/>
                    <a:pt x="270724" y="294894"/>
                  </a:cubicBezTo>
                  <a:close/>
                </a:path>
              </a:pathLst>
            </a:custGeom>
            <a:solidFill>
              <a:srgbClr val="AFD2C8"/>
            </a:solidFill>
            <a:ln w="68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Arial"/>
              </a:endParaRPr>
            </a:p>
          </p:txBody>
        </p:sp>
        <p:grpSp>
          <p:nvGrpSpPr>
            <p:cNvPr id="24" name="Group 23">
              <a:extLst>
                <a:ext uri="{FF2B5EF4-FFF2-40B4-BE49-F238E27FC236}">
                  <a16:creationId xmlns:a16="http://schemas.microsoft.com/office/drawing/2014/main" id="{5ACD0A1F-9487-4027-84C5-391CEADDB19C}"/>
                </a:ext>
              </a:extLst>
            </p:cNvPr>
            <p:cNvGrpSpPr/>
            <p:nvPr/>
          </p:nvGrpSpPr>
          <p:grpSpPr>
            <a:xfrm>
              <a:off x="1238079" y="49762"/>
              <a:ext cx="2466332" cy="2548272"/>
              <a:chOff x="1238079" y="49762"/>
              <a:chExt cx="2466332" cy="2548272"/>
            </a:xfrm>
          </p:grpSpPr>
          <p:sp>
            <p:nvSpPr>
              <p:cNvPr id="25" name="Freeform: Shape 24">
                <a:extLst>
                  <a:ext uri="{FF2B5EF4-FFF2-40B4-BE49-F238E27FC236}">
                    <a16:creationId xmlns:a16="http://schemas.microsoft.com/office/drawing/2014/main" id="{A99C1451-1C89-4525-9FD3-CE881C0DA927}"/>
                  </a:ext>
                </a:extLst>
              </p:cNvPr>
              <p:cNvSpPr/>
              <p:nvPr/>
            </p:nvSpPr>
            <p:spPr>
              <a:xfrm>
                <a:off x="1238079" y="49762"/>
                <a:ext cx="304313" cy="2244313"/>
              </a:xfrm>
              <a:custGeom>
                <a:avLst/>
                <a:gdLst>
                  <a:gd name="connsiteX0" fmla="*/ 95326 w 109728"/>
                  <a:gd name="connsiteY0" fmla="*/ 43205 h 809244"/>
                  <a:gd name="connsiteX1" fmla="*/ 66523 w 109728"/>
                  <a:gd name="connsiteY1" fmla="*/ 86411 h 809244"/>
                  <a:gd name="connsiteX2" fmla="*/ 28804 w 109728"/>
                  <a:gd name="connsiteY2" fmla="*/ 237287 h 809244"/>
                  <a:gd name="connsiteX3" fmla="*/ 65837 w 109728"/>
                  <a:gd name="connsiteY3" fmla="*/ 595274 h 809244"/>
                  <a:gd name="connsiteX4" fmla="*/ 111100 w 109728"/>
                  <a:gd name="connsiteY4" fmla="*/ 800329 h 809244"/>
                  <a:gd name="connsiteX5" fmla="*/ 80924 w 109728"/>
                  <a:gd name="connsiteY5" fmla="*/ 801700 h 809244"/>
                  <a:gd name="connsiteX6" fmla="*/ 0 w 109728"/>
                  <a:gd name="connsiteY6" fmla="*/ 265405 h 809244"/>
                  <a:gd name="connsiteX7" fmla="*/ 100813 w 109728"/>
                  <a:gd name="connsiteY7" fmla="*/ 0 h 809244"/>
                  <a:gd name="connsiteX8" fmla="*/ 95326 w 109728"/>
                  <a:gd name="connsiteY8" fmla="*/ 43205 h 809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9728" h="809244">
                    <a:moveTo>
                      <a:pt x="95326" y="43205"/>
                    </a:moveTo>
                    <a:cubicBezTo>
                      <a:pt x="81610" y="58979"/>
                      <a:pt x="77495" y="70637"/>
                      <a:pt x="66523" y="86411"/>
                    </a:cubicBezTo>
                    <a:cubicBezTo>
                      <a:pt x="36347" y="133731"/>
                      <a:pt x="28804" y="184480"/>
                      <a:pt x="28804" y="237287"/>
                    </a:cubicBezTo>
                    <a:cubicBezTo>
                      <a:pt x="29489" y="357988"/>
                      <a:pt x="43891" y="477317"/>
                      <a:pt x="65837" y="595274"/>
                    </a:cubicBezTo>
                    <a:cubicBezTo>
                      <a:pt x="77495" y="659054"/>
                      <a:pt x="99441" y="736549"/>
                      <a:pt x="111100" y="800329"/>
                    </a:cubicBezTo>
                    <a:cubicBezTo>
                      <a:pt x="113843" y="816102"/>
                      <a:pt x="93269" y="817474"/>
                      <a:pt x="80924" y="801700"/>
                    </a:cubicBezTo>
                    <a:cubicBezTo>
                      <a:pt x="43891" y="624764"/>
                      <a:pt x="0" y="448513"/>
                      <a:pt x="0" y="265405"/>
                    </a:cubicBezTo>
                    <a:cubicBezTo>
                      <a:pt x="0" y="166649"/>
                      <a:pt x="23317" y="70637"/>
                      <a:pt x="100813" y="0"/>
                    </a:cubicBezTo>
                    <a:cubicBezTo>
                      <a:pt x="100127" y="16459"/>
                      <a:pt x="96698" y="31547"/>
                      <a:pt x="95326" y="43205"/>
                    </a:cubicBezTo>
                    <a:close/>
                  </a:path>
                </a:pathLst>
              </a:custGeom>
              <a:solidFill>
                <a:sysClr val="windowText" lastClr="000000">
                  <a:lumMod val="75000"/>
                  <a:lumOff val="25000"/>
                </a:sysClr>
              </a:solidFill>
              <a:ln w="68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Arial"/>
                </a:endParaRPr>
              </a:p>
            </p:txBody>
          </p:sp>
          <p:grpSp>
            <p:nvGrpSpPr>
              <p:cNvPr id="26" name="Group 25">
                <a:extLst>
                  <a:ext uri="{FF2B5EF4-FFF2-40B4-BE49-F238E27FC236}">
                    <a16:creationId xmlns:a16="http://schemas.microsoft.com/office/drawing/2014/main" id="{936191CB-EA1E-4579-BB73-83E46B11FDFB}"/>
                  </a:ext>
                </a:extLst>
              </p:cNvPr>
              <p:cNvGrpSpPr/>
              <p:nvPr/>
            </p:nvGrpSpPr>
            <p:grpSpPr>
              <a:xfrm flipH="1">
                <a:off x="2570295" y="442420"/>
                <a:ext cx="1134116" cy="2094513"/>
                <a:chOff x="8696683" y="395466"/>
                <a:chExt cx="939346" cy="1734809"/>
              </a:xfrm>
            </p:grpSpPr>
            <p:sp>
              <p:nvSpPr>
                <p:cNvPr id="34" name="Freeform: Shape 33">
                  <a:extLst>
                    <a:ext uri="{FF2B5EF4-FFF2-40B4-BE49-F238E27FC236}">
                      <a16:creationId xmlns:a16="http://schemas.microsoft.com/office/drawing/2014/main" id="{64BEA9B9-067B-4E4E-B4F8-9AEC8FF37E35}"/>
                    </a:ext>
                  </a:extLst>
                </p:cNvPr>
                <p:cNvSpPr/>
                <p:nvPr/>
              </p:nvSpPr>
              <p:spPr>
                <a:xfrm flipH="1">
                  <a:off x="9030650" y="2067261"/>
                  <a:ext cx="63014" cy="63014"/>
                </a:xfrm>
                <a:custGeom>
                  <a:avLst/>
                  <a:gdLst>
                    <a:gd name="connsiteX0" fmla="*/ 0 w 27432"/>
                    <a:gd name="connsiteY0" fmla="*/ 24526 h 27432"/>
                    <a:gd name="connsiteX1" fmla="*/ 0 w 27432"/>
                    <a:gd name="connsiteY1" fmla="*/ 7381 h 27432"/>
                    <a:gd name="connsiteX2" fmla="*/ 30861 w 27432"/>
                    <a:gd name="connsiteY2" fmla="*/ 8067 h 27432"/>
                    <a:gd name="connsiteX3" fmla="*/ 30861 w 27432"/>
                    <a:gd name="connsiteY3" fmla="*/ 23154 h 27432"/>
                    <a:gd name="connsiteX4" fmla="*/ 0 w 27432"/>
                    <a:gd name="connsiteY4" fmla="*/ 24526 h 27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432" h="27432">
                      <a:moveTo>
                        <a:pt x="0" y="24526"/>
                      </a:moveTo>
                      <a:cubicBezTo>
                        <a:pt x="0" y="19040"/>
                        <a:pt x="0" y="12867"/>
                        <a:pt x="0" y="7381"/>
                      </a:cubicBezTo>
                      <a:cubicBezTo>
                        <a:pt x="10287" y="-2906"/>
                        <a:pt x="21260" y="-2220"/>
                        <a:pt x="30861" y="8067"/>
                      </a:cubicBezTo>
                      <a:cubicBezTo>
                        <a:pt x="35662" y="12867"/>
                        <a:pt x="34976" y="18354"/>
                        <a:pt x="30861" y="23154"/>
                      </a:cubicBezTo>
                      <a:cubicBezTo>
                        <a:pt x="21260" y="34127"/>
                        <a:pt x="10287" y="34127"/>
                        <a:pt x="0" y="24526"/>
                      </a:cubicBezTo>
                      <a:close/>
                    </a:path>
                  </a:pathLst>
                </a:custGeom>
                <a:solidFill>
                  <a:sysClr val="windowText" lastClr="000000">
                    <a:lumMod val="75000"/>
                    <a:lumOff val="25000"/>
                  </a:sysClr>
                </a:solidFill>
                <a:ln w="68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Arial"/>
                  </a:endParaRPr>
                </a:p>
              </p:txBody>
            </p:sp>
            <p:sp>
              <p:nvSpPr>
                <p:cNvPr id="35" name="Freeform: Shape 34">
                  <a:extLst>
                    <a:ext uri="{FF2B5EF4-FFF2-40B4-BE49-F238E27FC236}">
                      <a16:creationId xmlns:a16="http://schemas.microsoft.com/office/drawing/2014/main" id="{3477EA76-D173-4375-992B-D1C2C31EF5FF}"/>
                    </a:ext>
                  </a:extLst>
                </p:cNvPr>
                <p:cNvSpPr/>
                <p:nvPr/>
              </p:nvSpPr>
              <p:spPr>
                <a:xfrm flipH="1">
                  <a:off x="8725762" y="2008599"/>
                  <a:ext cx="78765" cy="78765"/>
                </a:xfrm>
                <a:custGeom>
                  <a:avLst/>
                  <a:gdLst>
                    <a:gd name="connsiteX0" fmla="*/ 16088 w 34290"/>
                    <a:gd name="connsiteY0" fmla="*/ 0 h 34290"/>
                    <a:gd name="connsiteX1" fmla="*/ 38719 w 34290"/>
                    <a:gd name="connsiteY1" fmla="*/ 6172 h 34290"/>
                    <a:gd name="connsiteX2" fmla="*/ 18831 w 34290"/>
                    <a:gd name="connsiteY2" fmla="*/ 35662 h 34290"/>
                    <a:gd name="connsiteX3" fmla="*/ 314 w 34290"/>
                    <a:gd name="connsiteY3" fmla="*/ 28804 h 34290"/>
                    <a:gd name="connsiteX4" fmla="*/ 16088 w 34290"/>
                    <a:gd name="connsiteY4" fmla="*/ 0 h 34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290" h="34290">
                      <a:moveTo>
                        <a:pt x="16088" y="0"/>
                      </a:moveTo>
                      <a:cubicBezTo>
                        <a:pt x="23631" y="1372"/>
                        <a:pt x="32547" y="-686"/>
                        <a:pt x="38719" y="6172"/>
                      </a:cubicBezTo>
                      <a:cubicBezTo>
                        <a:pt x="40776" y="17145"/>
                        <a:pt x="32547" y="34290"/>
                        <a:pt x="18831" y="35662"/>
                      </a:cubicBezTo>
                      <a:cubicBezTo>
                        <a:pt x="11973" y="36347"/>
                        <a:pt x="2372" y="39091"/>
                        <a:pt x="314" y="28804"/>
                      </a:cubicBezTo>
                      <a:cubicBezTo>
                        <a:pt x="-1057" y="19202"/>
                        <a:pt x="1686" y="2057"/>
                        <a:pt x="16088" y="0"/>
                      </a:cubicBezTo>
                      <a:close/>
                    </a:path>
                  </a:pathLst>
                </a:custGeom>
                <a:solidFill>
                  <a:sysClr val="windowText" lastClr="000000">
                    <a:lumMod val="75000"/>
                    <a:lumOff val="25000"/>
                  </a:sysClr>
                </a:solidFill>
                <a:ln w="68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Arial"/>
                  </a:endParaRPr>
                </a:p>
              </p:txBody>
            </p:sp>
            <p:grpSp>
              <p:nvGrpSpPr>
                <p:cNvPr id="36" name="Group 35">
                  <a:extLst>
                    <a:ext uri="{FF2B5EF4-FFF2-40B4-BE49-F238E27FC236}">
                      <a16:creationId xmlns:a16="http://schemas.microsoft.com/office/drawing/2014/main" id="{8E1B39B7-5905-42B4-B45A-43805040A2D0}"/>
                    </a:ext>
                  </a:extLst>
                </p:cNvPr>
                <p:cNvGrpSpPr/>
                <p:nvPr/>
              </p:nvGrpSpPr>
              <p:grpSpPr>
                <a:xfrm>
                  <a:off x="8696683" y="395466"/>
                  <a:ext cx="939346" cy="1714491"/>
                  <a:chOff x="8696683" y="395466"/>
                  <a:chExt cx="939346" cy="1714491"/>
                </a:xfrm>
              </p:grpSpPr>
              <p:sp>
                <p:nvSpPr>
                  <p:cNvPr id="37" name="Freeform: Shape 36">
                    <a:extLst>
                      <a:ext uri="{FF2B5EF4-FFF2-40B4-BE49-F238E27FC236}">
                        <a16:creationId xmlns:a16="http://schemas.microsoft.com/office/drawing/2014/main" id="{083ACBDB-085C-4C73-92B6-54B62183E1E7}"/>
                      </a:ext>
                    </a:extLst>
                  </p:cNvPr>
                  <p:cNvSpPr/>
                  <p:nvPr/>
                </p:nvSpPr>
                <p:spPr>
                  <a:xfrm flipH="1">
                    <a:off x="9092092" y="1401062"/>
                    <a:ext cx="330819" cy="708895"/>
                  </a:xfrm>
                  <a:custGeom>
                    <a:avLst/>
                    <a:gdLst>
                      <a:gd name="connsiteX0" fmla="*/ 0 w 144018"/>
                      <a:gd name="connsiteY0" fmla="*/ 4566 h 308610"/>
                      <a:gd name="connsiteX1" fmla="*/ 19888 w 144018"/>
                      <a:gd name="connsiteY1" fmla="*/ 7309 h 308610"/>
                      <a:gd name="connsiteX2" fmla="*/ 28804 w 144018"/>
                      <a:gd name="connsiteY2" fmla="*/ 73146 h 308610"/>
                      <a:gd name="connsiteX3" fmla="*/ 75438 w 144018"/>
                      <a:gd name="connsiteY3" fmla="*/ 239109 h 308610"/>
                      <a:gd name="connsiteX4" fmla="*/ 104242 w 144018"/>
                      <a:gd name="connsiteY4" fmla="*/ 280943 h 308610"/>
                      <a:gd name="connsiteX5" fmla="*/ 143332 w 144018"/>
                      <a:gd name="connsiteY5" fmla="*/ 297402 h 308610"/>
                      <a:gd name="connsiteX6" fmla="*/ 143332 w 144018"/>
                      <a:gd name="connsiteY6" fmla="*/ 314547 h 308610"/>
                      <a:gd name="connsiteX7" fmla="*/ 60350 w 144018"/>
                      <a:gd name="connsiteY7" fmla="*/ 243910 h 308610"/>
                      <a:gd name="connsiteX8" fmla="*/ 4115 w 144018"/>
                      <a:gd name="connsiteY8" fmla="*/ 29940 h 308610"/>
                      <a:gd name="connsiteX9" fmla="*/ 0 w 144018"/>
                      <a:gd name="connsiteY9" fmla="*/ 4566 h 308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4018" h="308610">
                        <a:moveTo>
                          <a:pt x="0" y="4566"/>
                        </a:moveTo>
                        <a:cubicBezTo>
                          <a:pt x="9601" y="-3664"/>
                          <a:pt x="13716" y="451"/>
                          <a:pt x="19888" y="7309"/>
                        </a:cubicBezTo>
                        <a:cubicBezTo>
                          <a:pt x="21260" y="32684"/>
                          <a:pt x="24689" y="52572"/>
                          <a:pt x="28804" y="73146"/>
                        </a:cubicBezTo>
                        <a:cubicBezTo>
                          <a:pt x="40462" y="129381"/>
                          <a:pt x="58979" y="202762"/>
                          <a:pt x="75438" y="239109"/>
                        </a:cubicBezTo>
                        <a:cubicBezTo>
                          <a:pt x="80924" y="250082"/>
                          <a:pt x="97384" y="274085"/>
                          <a:pt x="104242" y="280943"/>
                        </a:cubicBezTo>
                        <a:cubicBezTo>
                          <a:pt x="114529" y="289173"/>
                          <a:pt x="128930" y="297402"/>
                          <a:pt x="143332" y="297402"/>
                        </a:cubicBezTo>
                        <a:cubicBezTo>
                          <a:pt x="148133" y="302889"/>
                          <a:pt x="148133" y="309061"/>
                          <a:pt x="143332" y="314547"/>
                        </a:cubicBezTo>
                        <a:cubicBezTo>
                          <a:pt x="102184" y="307004"/>
                          <a:pt x="76810" y="280257"/>
                          <a:pt x="60350" y="243910"/>
                        </a:cubicBezTo>
                        <a:cubicBezTo>
                          <a:pt x="31547" y="174644"/>
                          <a:pt x="14402" y="104007"/>
                          <a:pt x="4115" y="29940"/>
                        </a:cubicBezTo>
                        <a:cubicBezTo>
                          <a:pt x="3429" y="21711"/>
                          <a:pt x="2057" y="12110"/>
                          <a:pt x="0" y="4566"/>
                        </a:cubicBezTo>
                        <a:close/>
                      </a:path>
                    </a:pathLst>
                  </a:custGeom>
                  <a:solidFill>
                    <a:sysClr val="window" lastClr="FFFFFF">
                      <a:lumMod val="75000"/>
                    </a:sysClr>
                  </a:solidFill>
                  <a:ln w="68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Arial"/>
                    </a:endParaRPr>
                  </a:p>
                </p:txBody>
              </p:sp>
              <p:sp>
                <p:nvSpPr>
                  <p:cNvPr id="38" name="Freeform: Shape 37">
                    <a:extLst>
                      <a:ext uri="{FF2B5EF4-FFF2-40B4-BE49-F238E27FC236}">
                        <a16:creationId xmlns:a16="http://schemas.microsoft.com/office/drawing/2014/main" id="{E8EA7EAD-31D4-43ED-BF23-73587B3A12D0}"/>
                      </a:ext>
                    </a:extLst>
                  </p:cNvPr>
                  <p:cNvSpPr/>
                  <p:nvPr/>
                </p:nvSpPr>
                <p:spPr>
                  <a:xfrm flipH="1">
                    <a:off x="8696683" y="1335935"/>
                    <a:ext cx="173286" cy="708895"/>
                  </a:xfrm>
                  <a:custGeom>
                    <a:avLst/>
                    <a:gdLst>
                      <a:gd name="connsiteX0" fmla="*/ 0 w 75438"/>
                      <a:gd name="connsiteY0" fmla="*/ 9601 h 308610"/>
                      <a:gd name="connsiteX1" fmla="*/ 17145 w 75438"/>
                      <a:gd name="connsiteY1" fmla="*/ 0 h 308610"/>
                      <a:gd name="connsiteX2" fmla="*/ 75438 w 75438"/>
                      <a:gd name="connsiteY2" fmla="*/ 233858 h 308610"/>
                      <a:gd name="connsiteX3" fmla="*/ 75438 w 75438"/>
                      <a:gd name="connsiteY3" fmla="*/ 279121 h 308610"/>
                      <a:gd name="connsiteX4" fmla="*/ 65151 w 75438"/>
                      <a:gd name="connsiteY4" fmla="*/ 311353 h 308610"/>
                      <a:gd name="connsiteX5" fmla="*/ 47320 w 75438"/>
                      <a:gd name="connsiteY5" fmla="*/ 296951 h 308610"/>
                      <a:gd name="connsiteX6" fmla="*/ 61722 w 75438"/>
                      <a:gd name="connsiteY6" fmla="*/ 256489 h 308610"/>
                      <a:gd name="connsiteX7" fmla="*/ 57607 w 75438"/>
                      <a:gd name="connsiteY7" fmla="*/ 225628 h 308610"/>
                      <a:gd name="connsiteX8" fmla="*/ 5487 w 75438"/>
                      <a:gd name="connsiteY8" fmla="*/ 25375 h 308610"/>
                      <a:gd name="connsiteX9" fmla="*/ 0 w 75438"/>
                      <a:gd name="connsiteY9" fmla="*/ 9601 h 308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438" h="308610">
                        <a:moveTo>
                          <a:pt x="0" y="9601"/>
                        </a:moveTo>
                        <a:cubicBezTo>
                          <a:pt x="6172" y="3429"/>
                          <a:pt x="11659" y="6172"/>
                          <a:pt x="17145" y="0"/>
                        </a:cubicBezTo>
                        <a:cubicBezTo>
                          <a:pt x="45263" y="100127"/>
                          <a:pt x="62408" y="153619"/>
                          <a:pt x="75438" y="233858"/>
                        </a:cubicBezTo>
                        <a:cubicBezTo>
                          <a:pt x="78181" y="248945"/>
                          <a:pt x="78181" y="264033"/>
                          <a:pt x="75438" y="279121"/>
                        </a:cubicBezTo>
                        <a:cubicBezTo>
                          <a:pt x="71323" y="292837"/>
                          <a:pt x="69266" y="297637"/>
                          <a:pt x="65151" y="311353"/>
                        </a:cubicBezTo>
                        <a:cubicBezTo>
                          <a:pt x="56236" y="314782"/>
                          <a:pt x="53493" y="304495"/>
                          <a:pt x="47320" y="296951"/>
                        </a:cubicBezTo>
                        <a:cubicBezTo>
                          <a:pt x="58293" y="285979"/>
                          <a:pt x="61036" y="277749"/>
                          <a:pt x="61722" y="256489"/>
                        </a:cubicBezTo>
                        <a:cubicBezTo>
                          <a:pt x="59665" y="243459"/>
                          <a:pt x="60351" y="233172"/>
                          <a:pt x="57607" y="225628"/>
                        </a:cubicBezTo>
                        <a:cubicBezTo>
                          <a:pt x="44577" y="157734"/>
                          <a:pt x="28804" y="100127"/>
                          <a:pt x="5487" y="25375"/>
                        </a:cubicBezTo>
                        <a:cubicBezTo>
                          <a:pt x="4801" y="21946"/>
                          <a:pt x="2058" y="13030"/>
                          <a:pt x="0" y="9601"/>
                        </a:cubicBezTo>
                        <a:close/>
                      </a:path>
                    </a:pathLst>
                  </a:custGeom>
                  <a:solidFill>
                    <a:sysClr val="window" lastClr="FFFFFF">
                      <a:lumMod val="75000"/>
                    </a:sysClr>
                  </a:solidFill>
                  <a:ln w="68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Arial"/>
                    </a:endParaRPr>
                  </a:p>
                </p:txBody>
              </p:sp>
              <p:sp>
                <p:nvSpPr>
                  <p:cNvPr id="39" name="Freeform: Shape 38">
                    <a:extLst>
                      <a:ext uri="{FF2B5EF4-FFF2-40B4-BE49-F238E27FC236}">
                        <a16:creationId xmlns:a16="http://schemas.microsoft.com/office/drawing/2014/main" id="{E4750050-0979-44E7-A839-A430BC055D73}"/>
                      </a:ext>
                    </a:extLst>
                  </p:cNvPr>
                  <p:cNvSpPr/>
                  <p:nvPr/>
                </p:nvSpPr>
                <p:spPr>
                  <a:xfrm flipH="1">
                    <a:off x="8832612" y="395466"/>
                    <a:ext cx="803417" cy="1023961"/>
                  </a:xfrm>
                  <a:custGeom>
                    <a:avLst/>
                    <a:gdLst>
                      <a:gd name="connsiteX0" fmla="*/ 196 w 349758"/>
                      <a:gd name="connsiteY0" fmla="*/ 0 h 445770"/>
                      <a:gd name="connsiteX1" fmla="*/ 119525 w 349758"/>
                      <a:gd name="connsiteY1" fmla="*/ 109042 h 445770"/>
                      <a:gd name="connsiteX2" fmla="*/ 153815 w 349758"/>
                      <a:gd name="connsiteY2" fmla="*/ 161163 h 445770"/>
                      <a:gd name="connsiteX3" fmla="*/ 181247 w 349758"/>
                      <a:gd name="connsiteY3" fmla="*/ 189967 h 445770"/>
                      <a:gd name="connsiteX4" fmla="*/ 226510 w 349758"/>
                      <a:gd name="connsiteY4" fmla="*/ 200254 h 445770"/>
                      <a:gd name="connsiteX5" fmla="*/ 293033 w 349758"/>
                      <a:gd name="connsiteY5" fmla="*/ 270891 h 445770"/>
                      <a:gd name="connsiteX6" fmla="*/ 351326 w 349758"/>
                      <a:gd name="connsiteY6" fmla="*/ 407365 h 445770"/>
                      <a:gd name="connsiteX7" fmla="*/ 333495 w 349758"/>
                      <a:gd name="connsiteY7" fmla="*/ 425196 h 445770"/>
                      <a:gd name="connsiteX8" fmla="*/ 274516 w 349758"/>
                      <a:gd name="connsiteY8" fmla="*/ 291465 h 445770"/>
                      <a:gd name="connsiteX9" fmla="*/ 197707 w 349758"/>
                      <a:gd name="connsiteY9" fmla="*/ 216027 h 445770"/>
                      <a:gd name="connsiteX10" fmla="*/ 146957 w 349758"/>
                      <a:gd name="connsiteY10" fmla="*/ 228371 h 445770"/>
                      <a:gd name="connsiteX11" fmla="*/ 101009 w 349758"/>
                      <a:gd name="connsiteY11" fmla="*/ 369646 h 445770"/>
                      <a:gd name="connsiteX12" fmla="*/ 114725 w 349758"/>
                      <a:gd name="connsiteY12" fmla="*/ 447142 h 445770"/>
                      <a:gd name="connsiteX13" fmla="*/ 92779 w 349758"/>
                      <a:gd name="connsiteY13" fmla="*/ 445770 h 445770"/>
                      <a:gd name="connsiteX14" fmla="*/ 71519 w 349758"/>
                      <a:gd name="connsiteY14" fmla="*/ 350444 h 445770"/>
                      <a:gd name="connsiteX15" fmla="*/ 132556 w 349758"/>
                      <a:gd name="connsiteY15" fmla="*/ 205054 h 445770"/>
                      <a:gd name="connsiteX16" fmla="*/ 128441 w 349758"/>
                      <a:gd name="connsiteY16" fmla="*/ 176251 h 445770"/>
                      <a:gd name="connsiteX17" fmla="*/ 107181 w 349758"/>
                      <a:gd name="connsiteY17" fmla="*/ 137846 h 445770"/>
                      <a:gd name="connsiteX18" fmla="*/ 35858 w 349758"/>
                      <a:gd name="connsiteY18" fmla="*/ 63779 h 445770"/>
                      <a:gd name="connsiteX19" fmla="*/ 7740 w 349758"/>
                      <a:gd name="connsiteY19" fmla="*/ 38405 h 445770"/>
                      <a:gd name="connsiteX20" fmla="*/ 196 w 349758"/>
                      <a:gd name="connsiteY20" fmla="*/ 0 h 445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49758" h="445770">
                        <a:moveTo>
                          <a:pt x="196" y="0"/>
                        </a:moveTo>
                        <a:cubicBezTo>
                          <a:pt x="30371" y="22631"/>
                          <a:pt x="85921" y="64465"/>
                          <a:pt x="119525" y="109042"/>
                        </a:cubicBezTo>
                        <a:cubicBezTo>
                          <a:pt x="119525" y="109042"/>
                          <a:pt x="142843" y="142646"/>
                          <a:pt x="153815" y="161163"/>
                        </a:cubicBezTo>
                        <a:cubicBezTo>
                          <a:pt x="162731" y="175565"/>
                          <a:pt x="163417" y="191338"/>
                          <a:pt x="181247" y="189967"/>
                        </a:cubicBezTo>
                        <a:cubicBezTo>
                          <a:pt x="197707" y="191338"/>
                          <a:pt x="216223" y="196139"/>
                          <a:pt x="226510" y="200254"/>
                        </a:cubicBezTo>
                        <a:cubicBezTo>
                          <a:pt x="256685" y="212598"/>
                          <a:pt x="280003" y="246888"/>
                          <a:pt x="293033" y="270891"/>
                        </a:cubicBezTo>
                        <a:cubicBezTo>
                          <a:pt x="317036" y="315468"/>
                          <a:pt x="335553" y="359359"/>
                          <a:pt x="351326" y="407365"/>
                        </a:cubicBezTo>
                        <a:cubicBezTo>
                          <a:pt x="352012" y="420395"/>
                          <a:pt x="346525" y="426568"/>
                          <a:pt x="333495" y="425196"/>
                        </a:cubicBezTo>
                        <a:cubicBezTo>
                          <a:pt x="310178" y="379933"/>
                          <a:pt x="304006" y="343586"/>
                          <a:pt x="274516" y="291465"/>
                        </a:cubicBezTo>
                        <a:cubicBezTo>
                          <a:pt x="258057" y="265405"/>
                          <a:pt x="248456" y="226314"/>
                          <a:pt x="197707" y="216027"/>
                        </a:cubicBezTo>
                        <a:cubicBezTo>
                          <a:pt x="185362" y="213284"/>
                          <a:pt x="156559" y="220828"/>
                          <a:pt x="146957" y="228371"/>
                        </a:cubicBezTo>
                        <a:cubicBezTo>
                          <a:pt x="104438" y="259232"/>
                          <a:pt x="88664" y="317525"/>
                          <a:pt x="101009" y="369646"/>
                        </a:cubicBezTo>
                        <a:cubicBezTo>
                          <a:pt x="106495" y="395021"/>
                          <a:pt x="111982" y="419024"/>
                          <a:pt x="114725" y="447142"/>
                        </a:cubicBezTo>
                        <a:cubicBezTo>
                          <a:pt x="112667" y="451942"/>
                          <a:pt x="99637" y="449199"/>
                          <a:pt x="92779" y="445770"/>
                        </a:cubicBezTo>
                        <a:cubicBezTo>
                          <a:pt x="85235" y="415595"/>
                          <a:pt x="74263" y="381991"/>
                          <a:pt x="71519" y="350444"/>
                        </a:cubicBezTo>
                        <a:cubicBezTo>
                          <a:pt x="66719" y="291465"/>
                          <a:pt x="88664" y="243459"/>
                          <a:pt x="132556" y="205054"/>
                        </a:cubicBezTo>
                        <a:cubicBezTo>
                          <a:pt x="142157" y="196825"/>
                          <a:pt x="134613" y="185852"/>
                          <a:pt x="128441" y="176251"/>
                        </a:cubicBezTo>
                        <a:cubicBezTo>
                          <a:pt x="128441" y="176251"/>
                          <a:pt x="117468" y="154991"/>
                          <a:pt x="107181" y="137846"/>
                        </a:cubicBezTo>
                        <a:cubicBezTo>
                          <a:pt x="94837" y="115900"/>
                          <a:pt x="68090" y="90526"/>
                          <a:pt x="35858" y="63779"/>
                        </a:cubicBezTo>
                        <a:cubicBezTo>
                          <a:pt x="27628" y="55550"/>
                          <a:pt x="15970" y="45949"/>
                          <a:pt x="7740" y="38405"/>
                        </a:cubicBezTo>
                        <a:cubicBezTo>
                          <a:pt x="4997" y="36347"/>
                          <a:pt x="-1175" y="11659"/>
                          <a:pt x="196" y="0"/>
                        </a:cubicBezTo>
                        <a:close/>
                      </a:path>
                    </a:pathLst>
                  </a:custGeom>
                  <a:solidFill>
                    <a:sysClr val="windowText" lastClr="000000">
                      <a:lumMod val="75000"/>
                      <a:lumOff val="25000"/>
                    </a:sysClr>
                  </a:solidFill>
                  <a:ln w="68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Arial"/>
                    </a:endParaRPr>
                  </a:p>
                </p:txBody>
              </p:sp>
            </p:grpSp>
          </p:grpSp>
          <p:grpSp>
            <p:nvGrpSpPr>
              <p:cNvPr id="27" name="Group 26">
                <a:extLst>
                  <a:ext uri="{FF2B5EF4-FFF2-40B4-BE49-F238E27FC236}">
                    <a16:creationId xmlns:a16="http://schemas.microsoft.com/office/drawing/2014/main" id="{BF2377E2-EA7A-4849-B5DD-2CB9AB12CB0C}"/>
                  </a:ext>
                </a:extLst>
              </p:cNvPr>
              <p:cNvGrpSpPr/>
              <p:nvPr/>
            </p:nvGrpSpPr>
            <p:grpSpPr>
              <a:xfrm rot="11700000">
                <a:off x="1322631" y="2252611"/>
                <a:ext cx="345423" cy="345423"/>
                <a:chOff x="7123973" y="1204727"/>
                <a:chExt cx="252497" cy="252497"/>
              </a:xfrm>
            </p:grpSpPr>
            <p:grpSp>
              <p:nvGrpSpPr>
                <p:cNvPr id="28" name="Group 27">
                  <a:extLst>
                    <a:ext uri="{FF2B5EF4-FFF2-40B4-BE49-F238E27FC236}">
                      <a16:creationId xmlns:a16="http://schemas.microsoft.com/office/drawing/2014/main" id="{72AF7E3F-6653-49AA-8506-014D11C35320}"/>
                    </a:ext>
                  </a:extLst>
                </p:cNvPr>
                <p:cNvGrpSpPr/>
                <p:nvPr/>
              </p:nvGrpSpPr>
              <p:grpSpPr>
                <a:xfrm>
                  <a:off x="7123973" y="1204727"/>
                  <a:ext cx="252497" cy="252497"/>
                  <a:chOff x="4915373" y="1633391"/>
                  <a:chExt cx="342000" cy="342000"/>
                </a:xfrm>
              </p:grpSpPr>
              <p:sp>
                <p:nvSpPr>
                  <p:cNvPr id="31" name="Oval 30">
                    <a:extLst>
                      <a:ext uri="{FF2B5EF4-FFF2-40B4-BE49-F238E27FC236}">
                        <a16:creationId xmlns:a16="http://schemas.microsoft.com/office/drawing/2014/main" id="{F9653FE1-02D5-4BFB-81D6-4FC2DB79C4B5}"/>
                      </a:ext>
                    </a:extLst>
                  </p:cNvPr>
                  <p:cNvSpPr/>
                  <p:nvPr/>
                </p:nvSpPr>
                <p:spPr>
                  <a:xfrm>
                    <a:off x="4915373" y="1633391"/>
                    <a:ext cx="342000" cy="342000"/>
                  </a:xfrm>
                  <a:prstGeom prst="ellipse">
                    <a:avLst/>
                  </a:prstGeom>
                  <a:solidFill>
                    <a:sysClr val="windowText" lastClr="000000">
                      <a:lumMod val="75000"/>
                      <a:lumOff val="25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2701" b="0" i="0" u="none" strike="noStrike" kern="0" cap="none" spc="0" normalizeH="0" baseline="0" noProof="0">
                      <a:ln>
                        <a:noFill/>
                      </a:ln>
                      <a:solidFill>
                        <a:prstClr val="white"/>
                      </a:solidFill>
                      <a:effectLst/>
                      <a:uLnTx/>
                      <a:uFillTx/>
                      <a:latin typeface="Arial"/>
                      <a:cs typeface="+mn-cs"/>
                    </a:endParaRPr>
                  </a:p>
                </p:txBody>
              </p:sp>
              <p:sp>
                <p:nvSpPr>
                  <p:cNvPr id="32" name="Oval 31">
                    <a:extLst>
                      <a:ext uri="{FF2B5EF4-FFF2-40B4-BE49-F238E27FC236}">
                        <a16:creationId xmlns:a16="http://schemas.microsoft.com/office/drawing/2014/main" id="{8C5F7B18-1C05-41CB-B706-382F1954B88D}"/>
                      </a:ext>
                    </a:extLst>
                  </p:cNvPr>
                  <p:cNvSpPr/>
                  <p:nvPr/>
                </p:nvSpPr>
                <p:spPr>
                  <a:xfrm>
                    <a:off x="4932040" y="1666488"/>
                    <a:ext cx="295795" cy="295795"/>
                  </a:xfrm>
                  <a:prstGeom prst="ellipse">
                    <a:avLst/>
                  </a:prstGeom>
                  <a:solidFill>
                    <a:sysClr val="window" lastClr="FFFFFF">
                      <a:lumMod val="85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2701" b="0" i="0" u="none" strike="noStrike" kern="0" cap="none" spc="0" normalizeH="0" baseline="0" noProof="0">
                      <a:ln>
                        <a:noFill/>
                      </a:ln>
                      <a:solidFill>
                        <a:prstClr val="white"/>
                      </a:solidFill>
                      <a:effectLst/>
                      <a:uLnTx/>
                      <a:uFillTx/>
                      <a:latin typeface="Arial"/>
                      <a:cs typeface="+mn-cs"/>
                    </a:endParaRPr>
                  </a:p>
                </p:txBody>
              </p:sp>
              <p:sp>
                <p:nvSpPr>
                  <p:cNvPr id="33" name="Oval 32">
                    <a:extLst>
                      <a:ext uri="{FF2B5EF4-FFF2-40B4-BE49-F238E27FC236}">
                        <a16:creationId xmlns:a16="http://schemas.microsoft.com/office/drawing/2014/main" id="{20D0AFD6-F5EA-4FA9-8D08-971FEB5E3627}"/>
                      </a:ext>
                    </a:extLst>
                  </p:cNvPr>
                  <p:cNvSpPr/>
                  <p:nvPr/>
                </p:nvSpPr>
                <p:spPr>
                  <a:xfrm>
                    <a:off x="4970613" y="1724593"/>
                    <a:ext cx="207640" cy="207640"/>
                  </a:xfrm>
                  <a:prstGeom prst="ellipse">
                    <a:avLst/>
                  </a:prstGeom>
                  <a:solidFill>
                    <a:sysClr val="window" lastClr="FFFFFF">
                      <a:lumMod val="85000"/>
                    </a:sysClr>
                  </a:solidFill>
                  <a:ln w="15875" cap="flat" cmpd="sng" algn="ctr">
                    <a:solidFill>
                      <a:sysClr val="windowText" lastClr="000000">
                        <a:lumMod val="75000"/>
                        <a:lumOff val="2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2701" b="0" i="0" u="none" strike="noStrike" kern="0" cap="none" spc="0" normalizeH="0" baseline="0" noProof="0">
                      <a:ln>
                        <a:noFill/>
                      </a:ln>
                      <a:solidFill>
                        <a:prstClr val="white"/>
                      </a:solidFill>
                      <a:effectLst/>
                      <a:uLnTx/>
                      <a:uFillTx/>
                      <a:latin typeface="Arial"/>
                      <a:cs typeface="+mn-cs"/>
                    </a:endParaRPr>
                  </a:p>
                </p:txBody>
              </p:sp>
            </p:grpSp>
            <p:sp>
              <p:nvSpPr>
                <p:cNvPr id="29" name="Chord 28">
                  <a:extLst>
                    <a:ext uri="{FF2B5EF4-FFF2-40B4-BE49-F238E27FC236}">
                      <a16:creationId xmlns:a16="http://schemas.microsoft.com/office/drawing/2014/main" id="{D710B525-42B2-4F7B-99FB-187ECA90F1C7}"/>
                    </a:ext>
                  </a:extLst>
                </p:cNvPr>
                <p:cNvSpPr/>
                <p:nvPr/>
              </p:nvSpPr>
              <p:spPr>
                <a:xfrm rot="20881907">
                  <a:off x="7167196" y="1276843"/>
                  <a:ext cx="152933" cy="152933"/>
                </a:xfrm>
                <a:prstGeom prst="chord">
                  <a:avLst>
                    <a:gd name="adj1" fmla="val 5070744"/>
                    <a:gd name="adj2" fmla="val 16200000"/>
                  </a:avLst>
                </a:prstGeom>
                <a:solidFill>
                  <a:sysClr val="window" lastClr="FFFFFF">
                    <a:lumMod val="85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2701" b="0" i="0" u="none" strike="noStrike" kern="0" cap="none" spc="0" normalizeH="0" baseline="0" noProof="0" dirty="0">
                    <a:ln>
                      <a:noFill/>
                    </a:ln>
                    <a:solidFill>
                      <a:prstClr val="white"/>
                    </a:solidFill>
                    <a:effectLst/>
                    <a:uLnTx/>
                    <a:uFillTx/>
                    <a:latin typeface="Arial"/>
                    <a:cs typeface="+mn-cs"/>
                  </a:endParaRPr>
                </a:p>
              </p:txBody>
            </p:sp>
            <p:sp>
              <p:nvSpPr>
                <p:cNvPr id="30" name="Chord 29">
                  <a:extLst>
                    <a:ext uri="{FF2B5EF4-FFF2-40B4-BE49-F238E27FC236}">
                      <a16:creationId xmlns:a16="http://schemas.microsoft.com/office/drawing/2014/main" id="{2C20D1EC-86DF-48C1-9D5B-0FB7CFBA1506}"/>
                    </a:ext>
                  </a:extLst>
                </p:cNvPr>
                <p:cNvSpPr/>
                <p:nvPr/>
              </p:nvSpPr>
              <p:spPr>
                <a:xfrm rot="20881907">
                  <a:off x="7167196" y="1276843"/>
                  <a:ext cx="152933" cy="152933"/>
                </a:xfrm>
                <a:prstGeom prst="chord">
                  <a:avLst>
                    <a:gd name="adj1" fmla="val 16204063"/>
                    <a:gd name="adj2" fmla="val 5391679"/>
                  </a:avLst>
                </a:prstGeom>
                <a:solidFill>
                  <a:sysClr val="window" lastClr="FFFFFF">
                    <a:lumMod val="75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2701" b="0" i="0" u="none" strike="noStrike" kern="0" cap="none" spc="0" normalizeH="0" baseline="0" noProof="0">
                    <a:ln>
                      <a:noFill/>
                    </a:ln>
                    <a:solidFill>
                      <a:prstClr val="white"/>
                    </a:solidFill>
                    <a:effectLst/>
                    <a:uLnTx/>
                    <a:uFillTx/>
                    <a:latin typeface="Arial"/>
                    <a:cs typeface="+mn-cs"/>
                  </a:endParaRPr>
                </a:p>
              </p:txBody>
            </p:sp>
          </p:grpSp>
        </p:grpSp>
      </p:grpSp>
      <p:sp>
        <p:nvSpPr>
          <p:cNvPr id="44" name="Text Placeholder 43">
            <a:extLst>
              <a:ext uri="{FF2B5EF4-FFF2-40B4-BE49-F238E27FC236}">
                <a16:creationId xmlns:a16="http://schemas.microsoft.com/office/drawing/2014/main" id="{9A509362-EF4D-4713-94E9-1D17266B02F1}"/>
              </a:ext>
            </a:extLst>
          </p:cNvPr>
          <p:cNvSpPr>
            <a:spLocks noGrp="1"/>
          </p:cNvSpPr>
          <p:nvPr>
            <p:ph type="body" sz="half" idx="2"/>
          </p:nvPr>
        </p:nvSpPr>
        <p:spPr>
          <a:xfrm>
            <a:off x="4607625" y="781050"/>
            <a:ext cx="6932140" cy="5913663"/>
          </a:xfrm>
        </p:spPr>
        <p:txBody>
          <a:bodyPr>
            <a:noAutofit/>
          </a:bodyPr>
          <a:lstStyle/>
          <a:p>
            <a:pPr marL="285750" indent="-285750">
              <a:buClr>
                <a:schemeClr val="accent5">
                  <a:lumMod val="50000"/>
                </a:schemeClr>
              </a:buClr>
              <a:buSzPct val="100000"/>
              <a:buFont typeface="Wingdings" panose="05000000000000000000" pitchFamily="2" charset="2"/>
              <a:buChar char="Ø"/>
            </a:pPr>
            <a:r>
              <a:rPr lang="en-US" sz="1400" b="0" i="0" dirty="0">
                <a:effectLst/>
                <a:latin typeface="Meiryo UI" panose="020B0604030504040204" pitchFamily="34" charset="-128"/>
                <a:ea typeface="Meiryo UI" panose="020B0604030504040204" pitchFamily="34" charset="-128"/>
              </a:rPr>
              <a:t>A stroke occurs when a blockage or bleed of the blood vessels either interrupts or reduces the supply of blood to the brain. When this happens, the brain does not receive enough oxygen or nutrients, and brain cells start to die.</a:t>
            </a:r>
          </a:p>
          <a:p>
            <a:pPr marL="285750" indent="-285750">
              <a:buClr>
                <a:schemeClr val="accent5">
                  <a:lumMod val="50000"/>
                </a:schemeClr>
              </a:buClr>
              <a:buSzPct val="100000"/>
              <a:buFont typeface="Wingdings" panose="05000000000000000000" pitchFamily="2" charset="2"/>
              <a:buChar char="Ø"/>
            </a:pPr>
            <a:endParaRPr lang="en-US" sz="1400" dirty="0">
              <a:latin typeface="Meiryo UI" panose="020B0604030504040204" pitchFamily="34" charset="-128"/>
              <a:ea typeface="Meiryo UI" panose="020B0604030504040204" pitchFamily="34" charset="-128"/>
            </a:endParaRPr>
          </a:p>
          <a:p>
            <a:pPr marL="285750" indent="-285750">
              <a:buClr>
                <a:schemeClr val="accent5">
                  <a:lumMod val="50000"/>
                </a:schemeClr>
              </a:buClr>
              <a:buSzPct val="100000"/>
              <a:buFont typeface="Wingdings" panose="05000000000000000000" pitchFamily="2" charset="2"/>
              <a:buChar char="Ø"/>
            </a:pPr>
            <a:r>
              <a:rPr lang="en-US" sz="1400" dirty="0">
                <a:latin typeface="Meiryo UI" panose="020B0604030504040204" pitchFamily="34" charset="-128"/>
                <a:ea typeface="Meiryo UI" panose="020B0604030504040204" pitchFamily="34" charset="-128"/>
              </a:rPr>
              <a:t>A s</a:t>
            </a:r>
            <a:r>
              <a:rPr lang="en-US" sz="1400" b="0" i="0" dirty="0">
                <a:effectLst/>
                <a:latin typeface="Meiryo UI" panose="020B0604030504040204" pitchFamily="34" charset="-128"/>
                <a:ea typeface="Meiryo UI" panose="020B0604030504040204" pitchFamily="34" charset="-128"/>
              </a:rPr>
              <a:t>troke is a cerebrovascular disease. This means that it affects the blood vessels that feed the brain oxygen. If the brain does not receive enough oxygen, damage may start to occur.</a:t>
            </a:r>
          </a:p>
          <a:p>
            <a:pPr marL="285750" indent="-285750">
              <a:buClr>
                <a:schemeClr val="accent5">
                  <a:lumMod val="50000"/>
                </a:schemeClr>
              </a:buClr>
              <a:buSzPct val="100000"/>
              <a:buFont typeface="Wingdings" panose="05000000000000000000" pitchFamily="2" charset="2"/>
              <a:buChar char="Ø"/>
            </a:pPr>
            <a:endParaRPr lang="en-US" sz="1400" dirty="0">
              <a:latin typeface="Meiryo UI" panose="020B0604030504040204" pitchFamily="34" charset="-128"/>
              <a:ea typeface="Meiryo UI" panose="020B0604030504040204" pitchFamily="34" charset="-128"/>
            </a:endParaRPr>
          </a:p>
          <a:p>
            <a:pPr marL="285750" indent="-285750">
              <a:buClr>
                <a:schemeClr val="accent5">
                  <a:lumMod val="50000"/>
                </a:schemeClr>
              </a:buClr>
              <a:buSzPct val="100000"/>
              <a:buFont typeface="Wingdings" panose="05000000000000000000" pitchFamily="2" charset="2"/>
              <a:buChar char="Ø"/>
            </a:pPr>
            <a:r>
              <a:rPr lang="en-US" sz="1400" b="0" i="0" dirty="0">
                <a:effectLst/>
                <a:latin typeface="Meiryo UI" panose="020B0604030504040204" pitchFamily="34" charset="-128"/>
                <a:ea typeface="Meiryo UI" panose="020B0604030504040204" pitchFamily="34" charset="-128"/>
              </a:rPr>
              <a:t>This is a medical emergency. Although many strokes are treatable, some can lead to disability or death.</a:t>
            </a:r>
            <a:endParaRPr lang="en-US" sz="1400" dirty="0">
              <a:latin typeface="Meiryo UI" panose="020B0604030504040204" pitchFamily="34" charset="-128"/>
              <a:ea typeface="Meiryo UI" panose="020B0604030504040204" pitchFamily="34" charset="-128"/>
            </a:endParaRPr>
          </a:p>
          <a:p>
            <a:pPr marL="285750" indent="-285750">
              <a:buClr>
                <a:schemeClr val="accent5">
                  <a:lumMod val="50000"/>
                </a:schemeClr>
              </a:buClr>
              <a:buSzPct val="100000"/>
              <a:buFont typeface="Wingdings" panose="05000000000000000000" pitchFamily="2" charset="2"/>
              <a:buChar char="Ø"/>
            </a:pPr>
            <a:endParaRPr lang="en-US" sz="1400" b="0" i="0" dirty="0">
              <a:effectLst/>
              <a:latin typeface="Meiryo UI" panose="020B0604030504040204" pitchFamily="34" charset="-128"/>
              <a:ea typeface="Meiryo UI" panose="020B0604030504040204" pitchFamily="34" charset="-128"/>
            </a:endParaRPr>
          </a:p>
          <a:p>
            <a:pPr marL="285750" indent="-285750">
              <a:buClr>
                <a:schemeClr val="accent5">
                  <a:lumMod val="50000"/>
                </a:schemeClr>
              </a:buClr>
              <a:buSzPct val="100000"/>
              <a:buFont typeface="Wingdings" panose="05000000000000000000" pitchFamily="2" charset="2"/>
              <a:buChar char="Ø"/>
            </a:pPr>
            <a:r>
              <a:rPr lang="en-US" sz="1400" b="0" i="0" dirty="0">
                <a:effectLst/>
                <a:latin typeface="Meiryo UI" panose="020B0604030504040204" pitchFamily="34" charset="-128"/>
                <a:ea typeface="Meiryo UI" panose="020B0604030504040204" pitchFamily="34" charset="-128"/>
              </a:rPr>
              <a:t>Symptoms of stroke include trouble walking, speaking and understanding, as well as paralysis or numbness of the face, arm or leg.</a:t>
            </a:r>
          </a:p>
          <a:p>
            <a:pPr>
              <a:buClr>
                <a:schemeClr val="accent5">
                  <a:lumMod val="50000"/>
                </a:schemeClr>
              </a:buClr>
              <a:buSzPct val="100000"/>
            </a:pPr>
            <a:endParaRPr lang="en-US" sz="1400" dirty="0">
              <a:latin typeface="Meiryo UI" panose="020B0604030504040204" pitchFamily="34" charset="-128"/>
              <a:ea typeface="Meiryo UI" panose="020B0604030504040204" pitchFamily="34" charset="-128"/>
            </a:endParaRPr>
          </a:p>
          <a:p>
            <a:pPr marL="285750" indent="-285750">
              <a:buClr>
                <a:schemeClr val="accent5">
                  <a:lumMod val="50000"/>
                </a:schemeClr>
              </a:buClr>
              <a:buSzPct val="100000"/>
              <a:buFont typeface="Wingdings" panose="05000000000000000000" pitchFamily="2" charset="2"/>
              <a:buChar char="Ø"/>
            </a:pPr>
            <a:r>
              <a:rPr lang="en-US" sz="1400" b="0" i="0" dirty="0">
                <a:effectLst/>
                <a:latin typeface="Meiryo UI" panose="020B0604030504040204" pitchFamily="34" charset="-128"/>
                <a:ea typeface="Meiryo UI" panose="020B0604030504040204" pitchFamily="34" charset="-128"/>
              </a:rPr>
              <a:t>According to the World Health Organization (WHO) strokes </a:t>
            </a:r>
            <a:r>
              <a:rPr lang="en-US" sz="1400" dirty="0">
                <a:latin typeface="Meiryo UI" panose="020B0604030504040204" pitchFamily="34" charset="-128"/>
                <a:ea typeface="Meiryo UI" panose="020B0604030504040204" pitchFamily="34" charset="-128"/>
              </a:rPr>
              <a:t>are</a:t>
            </a:r>
            <a:r>
              <a:rPr lang="en-US" sz="1400" b="0" i="0" dirty="0">
                <a:effectLst/>
                <a:latin typeface="Meiryo UI" panose="020B0604030504040204" pitchFamily="34" charset="-128"/>
                <a:ea typeface="Meiryo UI" panose="020B0604030504040204" pitchFamily="34" charset="-128"/>
              </a:rPr>
              <a:t> the 2nd leading cause of death globally; responsible for approximately 11% of total deaths.</a:t>
            </a:r>
          </a:p>
          <a:p>
            <a:pPr marL="285750" indent="-285750">
              <a:buClr>
                <a:schemeClr val="accent5">
                  <a:lumMod val="50000"/>
                </a:schemeClr>
              </a:buClr>
              <a:buSzPct val="100000"/>
              <a:buFont typeface="Wingdings" panose="05000000000000000000" pitchFamily="2" charset="2"/>
              <a:buChar char="Ø"/>
            </a:pPr>
            <a:endParaRPr lang="en-US" sz="1400" dirty="0">
              <a:latin typeface="Meiryo UI" panose="020B0604030504040204" pitchFamily="34" charset="-128"/>
              <a:ea typeface="Meiryo UI" panose="020B0604030504040204" pitchFamily="34" charset="-128"/>
            </a:endParaRPr>
          </a:p>
          <a:p>
            <a:pPr marL="285750" indent="-285750">
              <a:buClr>
                <a:schemeClr val="accent5">
                  <a:lumMod val="50000"/>
                </a:schemeClr>
              </a:buClr>
              <a:buSzPct val="100000"/>
              <a:buFont typeface="Wingdings" panose="05000000000000000000" pitchFamily="2" charset="2"/>
              <a:buChar char="Ø"/>
            </a:pPr>
            <a:r>
              <a:rPr lang="en-US" sz="1400" dirty="0">
                <a:latin typeface="Meiryo UI" panose="020B0604030504040204" pitchFamily="34" charset="-128"/>
                <a:ea typeface="Meiryo UI" panose="020B0604030504040204" pitchFamily="34" charset="-128"/>
              </a:rPr>
              <a:t>In this presentation, we shall look into the factors affecting the probability of getting a stroke and also find out the best model that can be used to predict this probability.</a:t>
            </a:r>
            <a:endParaRPr lang="en-US" sz="1400" b="0" i="0" dirty="0">
              <a:effectLst/>
              <a:latin typeface="Meiryo UI" panose="020B0604030504040204" pitchFamily="34" charset="-128"/>
              <a:ea typeface="Meiryo UI" panose="020B0604030504040204" pitchFamily="34" charset="-128"/>
            </a:endParaRPr>
          </a:p>
          <a:p>
            <a:pPr marL="285750" indent="-285750">
              <a:buClr>
                <a:schemeClr val="accent5">
                  <a:lumMod val="50000"/>
                </a:schemeClr>
              </a:buClr>
              <a:buSzPct val="100000"/>
              <a:buFont typeface="Wingdings" panose="05000000000000000000" pitchFamily="2" charset="2"/>
              <a:buChar char="Ø"/>
            </a:pPr>
            <a:endParaRPr lang="en-US" sz="1400" dirty="0">
              <a:latin typeface="Meiryo UI" panose="020B0604030504040204" pitchFamily="34" charset="-128"/>
              <a:ea typeface="Meiryo UI" panose="020B0604030504040204" pitchFamily="34" charset="-128"/>
            </a:endParaRPr>
          </a:p>
          <a:p>
            <a:pPr marL="285750" indent="-285750">
              <a:buClr>
                <a:schemeClr val="accent5">
                  <a:lumMod val="50000"/>
                </a:schemeClr>
              </a:buClr>
              <a:buSzPct val="100000"/>
              <a:buFont typeface="Wingdings" panose="05000000000000000000" pitchFamily="2" charset="2"/>
              <a:buChar char="Ø"/>
            </a:pPr>
            <a:endParaRPr lang="en-US" sz="1400" b="0" i="0" dirty="0">
              <a:effectLst/>
              <a:latin typeface="Meiryo UI" panose="020B0604030504040204" pitchFamily="34" charset="-128"/>
              <a:ea typeface="Meiryo UI" panose="020B0604030504040204" pitchFamily="34" charset="-128"/>
            </a:endParaRPr>
          </a:p>
          <a:p>
            <a:pPr>
              <a:buClr>
                <a:schemeClr val="accent5">
                  <a:lumMod val="50000"/>
                </a:schemeClr>
              </a:buClr>
              <a:buSzPct val="100000"/>
            </a:pPr>
            <a:endParaRPr lang="en-US" sz="1400" b="0" i="0" dirty="0">
              <a:effectLst/>
              <a:latin typeface="Meiryo UI" panose="020B0604030504040204" pitchFamily="34" charset="-128"/>
              <a:ea typeface="Meiryo UI" panose="020B0604030504040204" pitchFamily="34" charset="-128"/>
            </a:endParaRPr>
          </a:p>
          <a:p>
            <a:pPr marL="285750" indent="-285750">
              <a:buClr>
                <a:schemeClr val="accent5">
                  <a:lumMod val="50000"/>
                </a:schemeClr>
              </a:buClr>
              <a:buSzPct val="100000"/>
              <a:buFont typeface="Wingdings" panose="05000000000000000000" pitchFamily="2" charset="2"/>
              <a:buChar char="Ø"/>
            </a:pPr>
            <a:endParaRPr lang="en-US" sz="1400" dirty="0">
              <a:latin typeface="Meiryo UI" panose="020B0604030504040204" pitchFamily="34" charset="-128"/>
              <a:ea typeface="Meiryo UI" panose="020B0604030504040204" pitchFamily="34" charset="-128"/>
            </a:endParaRPr>
          </a:p>
          <a:p>
            <a:pPr>
              <a:buClr>
                <a:schemeClr val="accent5">
                  <a:lumMod val="50000"/>
                </a:schemeClr>
              </a:buClr>
              <a:buSzPct val="100000"/>
            </a:pPr>
            <a:endParaRPr lang="en-US" sz="1400" b="0" i="0" dirty="0">
              <a:effectLst/>
              <a:latin typeface="Meiryo UI" panose="020B0604030504040204" pitchFamily="34" charset="-128"/>
              <a:ea typeface="Meiryo UI" panose="020B0604030504040204" pitchFamily="34" charset="-128"/>
            </a:endParaRPr>
          </a:p>
          <a:p>
            <a:pPr marL="285750" indent="-285750">
              <a:buClr>
                <a:schemeClr val="accent5">
                  <a:lumMod val="50000"/>
                </a:schemeClr>
              </a:buClr>
              <a:buSzPct val="100000"/>
              <a:buFont typeface="Wingdings" panose="05000000000000000000" pitchFamily="2" charset="2"/>
              <a:buChar char="Ø"/>
            </a:pPr>
            <a:endParaRPr lang="en-US" sz="1400" b="0" i="0" dirty="0">
              <a:effectLst/>
              <a:latin typeface="Meiryo UI" panose="020B0604030504040204" pitchFamily="34" charset="-128"/>
              <a:ea typeface="Meiryo UI" panose="020B0604030504040204" pitchFamily="34" charset="-128"/>
            </a:endParaRPr>
          </a:p>
          <a:p>
            <a:pPr marL="285750" indent="-285750">
              <a:buClr>
                <a:schemeClr val="accent5">
                  <a:lumMod val="50000"/>
                </a:schemeClr>
              </a:buClr>
              <a:buSzPct val="100000"/>
              <a:buFont typeface="Wingdings" panose="05000000000000000000" pitchFamily="2" charset="2"/>
              <a:buChar char="Ø"/>
            </a:pPr>
            <a:endParaRPr lang="en-US" sz="1400" dirty="0">
              <a:latin typeface="Meiryo UI" panose="020B0604030504040204" pitchFamily="34" charset="-128"/>
              <a:ea typeface="Meiryo UI" panose="020B0604030504040204" pitchFamily="34" charset="-128"/>
            </a:endParaRPr>
          </a:p>
          <a:p>
            <a:pPr marL="285750" indent="-285750">
              <a:buClr>
                <a:schemeClr val="accent5">
                  <a:lumMod val="50000"/>
                </a:schemeClr>
              </a:buClr>
              <a:buSzPct val="100000"/>
              <a:buFont typeface="Wingdings" panose="05000000000000000000" pitchFamily="2" charset="2"/>
              <a:buChar char="Ø"/>
            </a:pPr>
            <a:endParaRPr lang="en-US" sz="1400" dirty="0">
              <a:latin typeface="Meiryo UI" panose="020B0604030504040204" pitchFamily="34" charset="-128"/>
              <a:ea typeface="Meiryo UI" panose="020B0604030504040204" pitchFamily="34" charset="-128"/>
            </a:endParaRPr>
          </a:p>
          <a:p>
            <a:pPr marL="285750" indent="-285750">
              <a:buClr>
                <a:schemeClr val="accent5">
                  <a:lumMod val="50000"/>
                </a:schemeClr>
              </a:buClr>
              <a:buSzPct val="100000"/>
              <a:buFont typeface="Wingdings" panose="05000000000000000000" pitchFamily="2" charset="2"/>
              <a:buChar char="Ø"/>
            </a:pPr>
            <a:endParaRPr lang="en-US" sz="1400" dirty="0">
              <a:latin typeface="Meiryo UI" panose="020B0604030504040204" pitchFamily="34" charset="-128"/>
              <a:ea typeface="Meiryo UI" panose="020B0604030504040204" pitchFamily="34" charset="-128"/>
            </a:endParaRPr>
          </a:p>
        </p:txBody>
      </p:sp>
      <p:sp>
        <p:nvSpPr>
          <p:cNvPr id="51" name="Arrow: Pentagon 50">
            <a:extLst>
              <a:ext uri="{FF2B5EF4-FFF2-40B4-BE49-F238E27FC236}">
                <a16:creationId xmlns:a16="http://schemas.microsoft.com/office/drawing/2014/main" id="{AB3124B7-1106-4CDA-9D54-61FEF502AE8C}"/>
              </a:ext>
            </a:extLst>
          </p:cNvPr>
          <p:cNvSpPr/>
          <p:nvPr/>
        </p:nvSpPr>
        <p:spPr>
          <a:xfrm>
            <a:off x="-2894" y="-2757"/>
            <a:ext cx="2573502" cy="688824"/>
          </a:xfrm>
          <a:prstGeom prst="homePlat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t>Introduction</a:t>
            </a:r>
          </a:p>
        </p:txBody>
      </p:sp>
    </p:spTree>
    <p:extLst>
      <p:ext uri="{BB962C8B-B14F-4D97-AF65-F5344CB8AC3E}">
        <p14:creationId xmlns:p14="http://schemas.microsoft.com/office/powerpoint/2010/main" val="4726422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51" name="Arrow: Pentagon 50">
            <a:extLst>
              <a:ext uri="{FF2B5EF4-FFF2-40B4-BE49-F238E27FC236}">
                <a16:creationId xmlns:a16="http://schemas.microsoft.com/office/drawing/2014/main" id="{AB3124B7-1106-4CDA-9D54-61FEF502AE8C}"/>
              </a:ext>
            </a:extLst>
          </p:cNvPr>
          <p:cNvSpPr/>
          <p:nvPr/>
        </p:nvSpPr>
        <p:spPr>
          <a:xfrm>
            <a:off x="0" y="0"/>
            <a:ext cx="2573502" cy="688824"/>
          </a:xfrm>
          <a:prstGeom prst="homePlat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t>Motivation</a:t>
            </a:r>
          </a:p>
        </p:txBody>
      </p:sp>
      <p:sp>
        <p:nvSpPr>
          <p:cNvPr id="4" name="TextBox 3">
            <a:extLst>
              <a:ext uri="{FF2B5EF4-FFF2-40B4-BE49-F238E27FC236}">
                <a16:creationId xmlns:a16="http://schemas.microsoft.com/office/drawing/2014/main" id="{6A0604FE-4E25-45CE-B1AB-DD73754C3C3D}"/>
              </a:ext>
            </a:extLst>
          </p:cNvPr>
          <p:cNvSpPr txBox="1"/>
          <p:nvPr/>
        </p:nvSpPr>
        <p:spPr>
          <a:xfrm>
            <a:off x="335279" y="1263638"/>
            <a:ext cx="11521441" cy="1815882"/>
          </a:xfrm>
          <a:prstGeom prst="rect">
            <a:avLst/>
          </a:prstGeom>
          <a:noFill/>
        </p:spPr>
        <p:txBody>
          <a:bodyPr wrap="square" rtlCol="0">
            <a:spAutoFit/>
          </a:bodyPr>
          <a:lstStyle/>
          <a:p>
            <a:pPr marL="285750" indent="-285750">
              <a:buClr>
                <a:schemeClr val="tx2"/>
              </a:buClr>
              <a:buFont typeface="Wingdings" panose="05000000000000000000" pitchFamily="2" charset="2"/>
              <a:buChar char="Ø"/>
            </a:pPr>
            <a:r>
              <a:rPr lang="en-US" sz="1400" dirty="0">
                <a:latin typeface="Meiryo UI" panose="020B0604030504040204" pitchFamily="34" charset="-128"/>
                <a:ea typeface="Meiryo UI" panose="020B0604030504040204" pitchFamily="34" charset="-128"/>
              </a:rPr>
              <a:t>Dataset used: Stroke Prediction Dataset</a:t>
            </a:r>
          </a:p>
          <a:p>
            <a:pPr marL="285750" indent="-285750">
              <a:buClr>
                <a:schemeClr val="tx2"/>
              </a:buClr>
              <a:buFont typeface="Wingdings" panose="05000000000000000000" pitchFamily="2" charset="2"/>
              <a:buChar char="Ø"/>
            </a:pPr>
            <a:endParaRPr lang="en-US" sz="1400" dirty="0">
              <a:latin typeface="Meiryo UI" panose="020B0604030504040204" pitchFamily="34" charset="-128"/>
              <a:ea typeface="Meiryo UI" panose="020B0604030504040204" pitchFamily="34" charset="-128"/>
            </a:endParaRPr>
          </a:p>
          <a:p>
            <a:pPr algn="ctr">
              <a:buClr>
                <a:schemeClr val="tx2"/>
              </a:buClr>
            </a:pPr>
            <a:r>
              <a:rPr lang="en-US" sz="1400" dirty="0">
                <a:latin typeface="Meiryo UI" panose="020B0604030504040204" pitchFamily="34" charset="-128"/>
                <a:ea typeface="Meiryo UI" panose="020B0604030504040204" pitchFamily="34" charset="-128"/>
              </a:rPr>
              <a:t>From the data:</a:t>
            </a:r>
          </a:p>
          <a:p>
            <a:pPr algn="ctr">
              <a:buClr>
                <a:schemeClr val="tx2"/>
              </a:buClr>
            </a:pPr>
            <a:endParaRPr lang="en-US" sz="1400" dirty="0">
              <a:latin typeface="Meiryo UI" panose="020B0604030504040204" pitchFamily="34" charset="-128"/>
              <a:ea typeface="Meiryo UI" panose="020B0604030504040204" pitchFamily="34" charset="-128"/>
            </a:endParaRPr>
          </a:p>
          <a:p>
            <a:pPr algn="ctr">
              <a:buClr>
                <a:schemeClr val="tx2"/>
              </a:buClr>
            </a:pPr>
            <a:r>
              <a:rPr lang="en-US" sz="1400" i="1" dirty="0">
                <a:latin typeface="Meiryo UI" panose="020B0604030504040204" pitchFamily="34" charset="-128"/>
                <a:ea typeface="Meiryo UI" panose="020B0604030504040204" pitchFamily="34" charset="-128"/>
              </a:rPr>
              <a:t>Stroke positive cases are </a:t>
            </a:r>
            <a:r>
              <a:rPr lang="en-US" sz="1400" b="1" i="1" dirty="0">
                <a:solidFill>
                  <a:srgbClr val="002060"/>
                </a:solidFill>
                <a:latin typeface="Meiryo UI" panose="020B0604030504040204" pitchFamily="34" charset="-128"/>
                <a:ea typeface="Meiryo UI" panose="020B0604030504040204" pitchFamily="34" charset="-128"/>
              </a:rPr>
              <a:t>more in older people </a:t>
            </a:r>
            <a:r>
              <a:rPr lang="en-US" sz="1400" i="1" dirty="0">
                <a:latin typeface="Meiryo UI" panose="020B0604030504040204" pitchFamily="34" charset="-128"/>
                <a:ea typeface="Meiryo UI" panose="020B0604030504040204" pitchFamily="34" charset="-128"/>
              </a:rPr>
              <a:t>than younger people</a:t>
            </a:r>
          </a:p>
          <a:p>
            <a:pPr algn="ctr">
              <a:buClr>
                <a:schemeClr val="tx2"/>
              </a:buClr>
            </a:pPr>
            <a:r>
              <a:rPr lang="en-US" sz="1400" b="1" i="1" dirty="0">
                <a:solidFill>
                  <a:srgbClr val="002060"/>
                </a:solidFill>
                <a:latin typeface="Meiryo UI" panose="020B0604030504040204" pitchFamily="34" charset="-128"/>
                <a:ea typeface="Meiryo UI" panose="020B0604030504040204" pitchFamily="34" charset="-128"/>
              </a:rPr>
              <a:t>People with a high BMI</a:t>
            </a:r>
            <a:r>
              <a:rPr lang="en-US" sz="1400" i="1" dirty="0">
                <a:solidFill>
                  <a:srgbClr val="002060"/>
                </a:solidFill>
                <a:latin typeface="Meiryo UI" panose="020B0604030504040204" pitchFamily="34" charset="-128"/>
                <a:ea typeface="Meiryo UI" panose="020B0604030504040204" pitchFamily="34" charset="-128"/>
              </a:rPr>
              <a:t> </a:t>
            </a:r>
            <a:r>
              <a:rPr lang="en-US" sz="1400" i="1" dirty="0">
                <a:latin typeface="Meiryo UI" panose="020B0604030504040204" pitchFamily="34" charset="-128"/>
                <a:ea typeface="Meiryo UI" panose="020B0604030504040204" pitchFamily="34" charset="-128"/>
              </a:rPr>
              <a:t>also account for most of the positive stroke cases.</a:t>
            </a:r>
          </a:p>
          <a:p>
            <a:pPr marL="285750" indent="-285750">
              <a:buClr>
                <a:schemeClr val="tx2"/>
              </a:buClr>
              <a:buFont typeface="Wingdings" panose="05000000000000000000" pitchFamily="2" charset="2"/>
              <a:buChar char="Ø"/>
            </a:pPr>
            <a:endParaRPr lang="en-US" sz="1400" dirty="0">
              <a:latin typeface="Meiryo UI" panose="020B0604030504040204" pitchFamily="34" charset="-128"/>
              <a:ea typeface="Meiryo UI" panose="020B0604030504040204" pitchFamily="34" charset="-128"/>
            </a:endParaRPr>
          </a:p>
          <a:p>
            <a:pPr>
              <a:buClr>
                <a:schemeClr val="tx2"/>
              </a:buClr>
            </a:pPr>
            <a:endParaRPr lang="en-US" sz="1400" dirty="0">
              <a:latin typeface="Meiryo UI" panose="020B0604030504040204" pitchFamily="34" charset="-128"/>
              <a:ea typeface="Meiryo UI" panose="020B0604030504040204" pitchFamily="34" charset="-128"/>
            </a:endParaRPr>
          </a:p>
        </p:txBody>
      </p:sp>
      <p:sp>
        <p:nvSpPr>
          <p:cNvPr id="10" name="TextBox 9">
            <a:extLst>
              <a:ext uri="{FF2B5EF4-FFF2-40B4-BE49-F238E27FC236}">
                <a16:creationId xmlns:a16="http://schemas.microsoft.com/office/drawing/2014/main" id="{D795B5BA-FD23-4EAA-B9AF-D4DDAB5F8E02}"/>
              </a:ext>
            </a:extLst>
          </p:cNvPr>
          <p:cNvSpPr txBox="1"/>
          <p:nvPr/>
        </p:nvSpPr>
        <p:spPr>
          <a:xfrm>
            <a:off x="1491914" y="4181784"/>
            <a:ext cx="9471259" cy="523220"/>
          </a:xfrm>
          <a:prstGeom prst="rect">
            <a:avLst/>
          </a:prstGeom>
          <a:noFill/>
          <a:ln>
            <a:solidFill>
              <a:srgbClr val="7030A0"/>
            </a:solidFill>
            <a:prstDash val="lgDashDot"/>
          </a:ln>
        </p:spPr>
        <p:txBody>
          <a:bodyPr wrap="square" rtlCol="0">
            <a:spAutoFit/>
          </a:bodyPr>
          <a:lstStyle/>
          <a:p>
            <a:pPr algn="ctr"/>
            <a:r>
              <a:rPr lang="en-US" sz="1400" dirty="0">
                <a:latin typeface="Meiryo UI" panose="020B0604030504040204" pitchFamily="34" charset="-128"/>
                <a:ea typeface="Meiryo UI" panose="020B0604030504040204" pitchFamily="34" charset="-128"/>
              </a:rPr>
              <a:t>We shall look into the factors given in this dataset and how they affect the likelihood of a stroke, and use these factors to predict the likelihood of getting a stroke.</a:t>
            </a:r>
          </a:p>
        </p:txBody>
      </p:sp>
    </p:spTree>
    <p:extLst>
      <p:ext uri="{BB962C8B-B14F-4D97-AF65-F5344CB8AC3E}">
        <p14:creationId xmlns:p14="http://schemas.microsoft.com/office/powerpoint/2010/main" val="5569450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51" name="Arrow: Pentagon 50">
            <a:extLst>
              <a:ext uri="{FF2B5EF4-FFF2-40B4-BE49-F238E27FC236}">
                <a16:creationId xmlns:a16="http://schemas.microsoft.com/office/drawing/2014/main" id="{AB3124B7-1106-4CDA-9D54-61FEF502AE8C}"/>
              </a:ext>
            </a:extLst>
          </p:cNvPr>
          <p:cNvSpPr/>
          <p:nvPr/>
        </p:nvSpPr>
        <p:spPr>
          <a:xfrm>
            <a:off x="0" y="0"/>
            <a:ext cx="2573502" cy="688824"/>
          </a:xfrm>
          <a:prstGeom prst="homePlat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t>Descriptive Statistics</a:t>
            </a:r>
          </a:p>
        </p:txBody>
      </p:sp>
      <p:sp>
        <p:nvSpPr>
          <p:cNvPr id="2" name="TextBox 1">
            <a:extLst>
              <a:ext uri="{FF2B5EF4-FFF2-40B4-BE49-F238E27FC236}">
                <a16:creationId xmlns:a16="http://schemas.microsoft.com/office/drawing/2014/main" id="{C9426CF8-7DDF-4E5D-AC5E-422A2DE4274C}"/>
              </a:ext>
            </a:extLst>
          </p:cNvPr>
          <p:cNvSpPr txBox="1"/>
          <p:nvPr/>
        </p:nvSpPr>
        <p:spPr>
          <a:xfrm>
            <a:off x="240632" y="713561"/>
            <a:ext cx="11710736" cy="3754874"/>
          </a:xfrm>
          <a:prstGeom prst="rect">
            <a:avLst/>
          </a:prstGeom>
          <a:noFill/>
        </p:spPr>
        <p:txBody>
          <a:bodyPr wrap="square" rtlCol="0">
            <a:spAutoFit/>
          </a:bodyPr>
          <a:lstStyle/>
          <a:p>
            <a:pPr marL="285750" indent="-285750">
              <a:buClr>
                <a:schemeClr val="tx2"/>
              </a:buClr>
              <a:buFont typeface="Wingdings" panose="05000000000000000000" pitchFamily="2" charset="2"/>
              <a:buChar char="Ø"/>
            </a:pPr>
            <a:r>
              <a:rPr lang="en-US" sz="1400" dirty="0">
                <a:latin typeface="Meiryo UI" panose="020B0604030504040204" pitchFamily="34" charset="-128"/>
                <a:ea typeface="Meiryo UI" panose="020B0604030504040204" pitchFamily="34" charset="-128"/>
              </a:rPr>
              <a:t>The dataset consists of 1 csv of 5109 records with 12 features made up of numerical and binary features as follows :</a:t>
            </a:r>
          </a:p>
          <a:p>
            <a:pPr marL="800100" lvl="1" indent="-342900">
              <a:buClr>
                <a:schemeClr val="tx2"/>
              </a:buClr>
              <a:buFont typeface="+mj-lt"/>
              <a:buAutoNum type="arabicPeriod"/>
            </a:pPr>
            <a:r>
              <a:rPr lang="en-US" sz="1400" dirty="0">
                <a:latin typeface="Meiryo UI" panose="020B0604030504040204" pitchFamily="34" charset="-128"/>
                <a:ea typeface="Meiryo UI" panose="020B0604030504040204" pitchFamily="34" charset="-128"/>
              </a:rPr>
              <a:t>Numerical features: id – index value, age – age of the person , BMI – Body mass index, avg_glucose_levels – blood sugar levels.</a:t>
            </a:r>
          </a:p>
          <a:p>
            <a:pPr marL="800100" lvl="1" indent="-342900">
              <a:buClr>
                <a:schemeClr val="tx2"/>
              </a:buClr>
              <a:buFont typeface="+mj-lt"/>
              <a:buAutoNum type="arabicPeriod"/>
            </a:pPr>
            <a:r>
              <a:rPr lang="en-US" sz="1400" dirty="0">
                <a:latin typeface="Meiryo UI" panose="020B0604030504040204" pitchFamily="34" charset="-128"/>
                <a:ea typeface="Meiryo UI" panose="020B0604030504040204" pitchFamily="34" charset="-128"/>
              </a:rPr>
              <a:t>Binary features:</a:t>
            </a:r>
          </a:p>
          <a:p>
            <a:pPr marL="1657350" lvl="3" indent="-285750">
              <a:buClr>
                <a:schemeClr val="tx2"/>
              </a:buClr>
              <a:buFont typeface="Arial" panose="020B0604020202020204" pitchFamily="34" charset="0"/>
              <a:buChar char="•"/>
            </a:pPr>
            <a:r>
              <a:rPr lang="en-US" sz="1400" dirty="0">
                <a:latin typeface="Meiryo UI" panose="020B0604030504040204" pitchFamily="34" charset="-128"/>
                <a:ea typeface="Meiryo UI" panose="020B0604030504040204" pitchFamily="34" charset="-128"/>
              </a:rPr>
              <a:t>Gender – gender of the person (Male, Female, Other)</a:t>
            </a:r>
          </a:p>
          <a:p>
            <a:pPr marL="1657350" lvl="3" indent="-285750">
              <a:buClr>
                <a:schemeClr val="tx2"/>
              </a:buClr>
              <a:buFont typeface="Arial" panose="020B0604020202020204" pitchFamily="34" charset="0"/>
              <a:buChar char="•"/>
            </a:pPr>
            <a:r>
              <a:rPr lang="en-US" sz="1400" dirty="0">
                <a:latin typeface="Meiryo UI" panose="020B0604030504040204" pitchFamily="34" charset="-128"/>
                <a:ea typeface="Meiryo UI" panose="020B0604030504040204" pitchFamily="34" charset="-128"/>
              </a:rPr>
              <a:t>Hypertension – if the person has hypertension (0 – no, 1 - yes)</a:t>
            </a:r>
          </a:p>
          <a:p>
            <a:pPr marL="1657350" lvl="3" indent="-285750">
              <a:buClr>
                <a:schemeClr val="tx2"/>
              </a:buClr>
              <a:buFont typeface="Arial" panose="020B0604020202020204" pitchFamily="34" charset="0"/>
              <a:buChar char="•"/>
            </a:pPr>
            <a:r>
              <a:rPr lang="en-US" sz="1400" dirty="0">
                <a:latin typeface="Meiryo UI" panose="020B0604030504040204" pitchFamily="34" charset="-128"/>
                <a:ea typeface="Meiryo UI" panose="020B0604030504040204" pitchFamily="34" charset="-128"/>
              </a:rPr>
              <a:t>Heart Disease – if the person has a heart disease (0 – no, 1 – yes)</a:t>
            </a:r>
          </a:p>
          <a:p>
            <a:pPr marL="1657350" lvl="3" indent="-285750">
              <a:buClr>
                <a:schemeClr val="tx2"/>
              </a:buClr>
              <a:buFont typeface="Arial" panose="020B0604020202020204" pitchFamily="34" charset="0"/>
              <a:buChar char="•"/>
            </a:pPr>
            <a:r>
              <a:rPr lang="en-US" sz="1400" dirty="0">
                <a:latin typeface="Meiryo UI" panose="020B0604030504040204" pitchFamily="34" charset="-128"/>
                <a:ea typeface="Meiryo UI" panose="020B0604030504040204" pitchFamily="34" charset="-128"/>
              </a:rPr>
              <a:t>Ever_married – if the person has ever married (Yes, No)</a:t>
            </a:r>
          </a:p>
          <a:p>
            <a:pPr marL="1657350" lvl="3" indent="-285750">
              <a:buClr>
                <a:schemeClr val="tx2"/>
              </a:buClr>
              <a:buFont typeface="Arial" panose="020B0604020202020204" pitchFamily="34" charset="0"/>
              <a:buChar char="•"/>
            </a:pPr>
            <a:r>
              <a:rPr lang="en-US" sz="1400" dirty="0">
                <a:latin typeface="Meiryo UI" panose="020B0604030504040204" pitchFamily="34" charset="-128"/>
                <a:ea typeface="Meiryo UI" panose="020B0604030504040204" pitchFamily="34" charset="-128"/>
              </a:rPr>
              <a:t>Work Type – the nature of the person’s work type (Private, Self-employed, Children, Govt_job, Never_worked)</a:t>
            </a:r>
          </a:p>
          <a:p>
            <a:pPr marL="1657350" lvl="3" indent="-285750">
              <a:buClr>
                <a:schemeClr val="tx2"/>
              </a:buClr>
              <a:buFont typeface="Arial" panose="020B0604020202020204" pitchFamily="34" charset="0"/>
              <a:buChar char="•"/>
            </a:pPr>
            <a:r>
              <a:rPr lang="en-US" sz="1400" dirty="0">
                <a:latin typeface="Meiryo UI" panose="020B0604030504040204" pitchFamily="34" charset="-128"/>
                <a:ea typeface="Meiryo UI" panose="020B0604030504040204" pitchFamily="34" charset="-128"/>
              </a:rPr>
              <a:t>Residence type – nature of person’s residence (Urban, Rural)</a:t>
            </a:r>
          </a:p>
          <a:p>
            <a:pPr marL="1657350" lvl="3" indent="-285750">
              <a:buClr>
                <a:schemeClr val="tx2"/>
              </a:buClr>
              <a:buFont typeface="Arial" panose="020B0604020202020204" pitchFamily="34" charset="0"/>
              <a:buChar char="•"/>
            </a:pPr>
            <a:r>
              <a:rPr lang="en-US" sz="1400" dirty="0">
                <a:latin typeface="Meiryo UI" panose="020B0604030504040204" pitchFamily="34" charset="-128"/>
                <a:ea typeface="Meiryo UI" panose="020B0604030504040204" pitchFamily="34" charset="-128"/>
              </a:rPr>
              <a:t>Smoking status – the smoking status of the person (Never smoked, Formerly smoked, Unknown, Smokes)</a:t>
            </a:r>
          </a:p>
          <a:p>
            <a:pPr marL="1657350" lvl="3" indent="-285750">
              <a:buClr>
                <a:schemeClr val="tx2"/>
              </a:buClr>
              <a:buFont typeface="Arial" panose="020B0604020202020204" pitchFamily="34" charset="0"/>
              <a:buChar char="•"/>
            </a:pPr>
            <a:r>
              <a:rPr lang="en-US" sz="1400" dirty="0">
                <a:latin typeface="Meiryo UI" panose="020B0604030504040204" pitchFamily="34" charset="-128"/>
                <a:ea typeface="Meiryo UI" panose="020B0604030504040204" pitchFamily="34" charset="-128"/>
              </a:rPr>
              <a:t>Stroke – if the person got a stroke or not ( 0 – no, 1 – yes)</a:t>
            </a:r>
          </a:p>
          <a:p>
            <a:pPr marL="285750" indent="-285750">
              <a:buClr>
                <a:schemeClr val="tx2"/>
              </a:buClr>
              <a:buFont typeface="Wingdings" panose="05000000000000000000" pitchFamily="2" charset="2"/>
              <a:buChar char="Ø"/>
            </a:pPr>
            <a:r>
              <a:rPr lang="en-US" sz="1400" dirty="0">
                <a:latin typeface="Meiryo UI" panose="020B0604030504040204" pitchFamily="34" charset="-128"/>
                <a:ea typeface="Meiryo UI" panose="020B0604030504040204" pitchFamily="34" charset="-128"/>
              </a:rPr>
              <a:t>The dataset had 201 missing values for the BMI that were inputted by the mean BMI of the sample which was </a:t>
            </a:r>
            <a:r>
              <a:rPr lang="en-US" sz="1400" b="1" dirty="0">
                <a:latin typeface="Meiryo UI" panose="020B0604030504040204" pitchFamily="34" charset="-128"/>
                <a:ea typeface="Meiryo UI" panose="020B0604030504040204" pitchFamily="34" charset="-128"/>
              </a:rPr>
              <a:t>28.9. </a:t>
            </a:r>
            <a:r>
              <a:rPr lang="en-US" sz="1400" dirty="0">
                <a:latin typeface="Meiryo UI" panose="020B0604030504040204" pitchFamily="34" charset="-128"/>
                <a:ea typeface="Meiryo UI" panose="020B0604030504040204" pitchFamily="34" charset="-128"/>
              </a:rPr>
              <a:t>It had only one ‘Other’ value of gender which was dropped along with the id column which was not relevant for our study. Below is a sample of the dataset after imputation: </a:t>
            </a:r>
          </a:p>
          <a:p>
            <a:pPr lvl="3">
              <a:buClr>
                <a:schemeClr val="tx2"/>
              </a:buClr>
            </a:pPr>
            <a:endParaRPr lang="en-US" sz="1400" dirty="0">
              <a:latin typeface="Meiryo UI" panose="020B0604030504040204" pitchFamily="34" charset="-128"/>
              <a:ea typeface="Meiryo UI" panose="020B0604030504040204" pitchFamily="34" charset="-128"/>
            </a:endParaRPr>
          </a:p>
          <a:p>
            <a:pPr lvl="4">
              <a:buClr>
                <a:schemeClr val="tx2"/>
              </a:buClr>
            </a:pPr>
            <a:endParaRPr lang="en-US" sz="1400" dirty="0">
              <a:latin typeface="Meiryo UI" panose="020B0604030504040204" pitchFamily="34" charset="-128"/>
              <a:ea typeface="Meiryo UI" panose="020B0604030504040204" pitchFamily="34" charset="-128"/>
            </a:endParaRPr>
          </a:p>
        </p:txBody>
      </p:sp>
      <p:graphicFrame>
        <p:nvGraphicFramePr>
          <p:cNvPr id="3" name="Table 3">
            <a:extLst>
              <a:ext uri="{FF2B5EF4-FFF2-40B4-BE49-F238E27FC236}">
                <a16:creationId xmlns:a16="http://schemas.microsoft.com/office/drawing/2014/main" id="{F60C8EBA-E4EB-4BB9-9AF2-F937F77D4097}"/>
              </a:ext>
            </a:extLst>
          </p:cNvPr>
          <p:cNvGraphicFramePr>
            <a:graphicFrameLocks noGrp="1"/>
          </p:cNvGraphicFramePr>
          <p:nvPr>
            <p:extLst>
              <p:ext uri="{D42A27DB-BD31-4B8C-83A1-F6EECF244321}">
                <p14:modId xmlns:p14="http://schemas.microsoft.com/office/powerpoint/2010/main" val="239990939"/>
              </p:ext>
            </p:extLst>
          </p:nvPr>
        </p:nvGraphicFramePr>
        <p:xfrm>
          <a:off x="240631" y="4552750"/>
          <a:ext cx="11710736" cy="1858329"/>
        </p:xfrm>
        <a:graphic>
          <a:graphicData uri="http://schemas.openxmlformats.org/drawingml/2006/table">
            <a:tbl>
              <a:tblPr firstRow="1" bandRow="1">
                <a:tableStyleId>{5C22544A-7EE6-4342-B048-85BDC9FD1C3A}</a:tableStyleId>
              </a:tblPr>
              <a:tblGrid>
                <a:gridCol w="811602">
                  <a:extLst>
                    <a:ext uri="{9D8B030D-6E8A-4147-A177-3AD203B41FA5}">
                      <a16:colId xmlns:a16="http://schemas.microsoft.com/office/drawing/2014/main" val="2501898116"/>
                    </a:ext>
                  </a:extLst>
                </a:gridCol>
                <a:gridCol w="591230">
                  <a:extLst>
                    <a:ext uri="{9D8B030D-6E8A-4147-A177-3AD203B41FA5}">
                      <a16:colId xmlns:a16="http://schemas.microsoft.com/office/drawing/2014/main" val="604084416"/>
                    </a:ext>
                  </a:extLst>
                </a:gridCol>
                <a:gridCol w="1227481">
                  <a:extLst>
                    <a:ext uri="{9D8B030D-6E8A-4147-A177-3AD203B41FA5}">
                      <a16:colId xmlns:a16="http://schemas.microsoft.com/office/drawing/2014/main" val="2573723143"/>
                    </a:ext>
                  </a:extLst>
                </a:gridCol>
                <a:gridCol w="1239550">
                  <a:extLst>
                    <a:ext uri="{9D8B030D-6E8A-4147-A177-3AD203B41FA5}">
                      <a16:colId xmlns:a16="http://schemas.microsoft.com/office/drawing/2014/main" val="1984272493"/>
                    </a:ext>
                  </a:extLst>
                </a:gridCol>
                <a:gridCol w="1172287">
                  <a:extLst>
                    <a:ext uri="{9D8B030D-6E8A-4147-A177-3AD203B41FA5}">
                      <a16:colId xmlns:a16="http://schemas.microsoft.com/office/drawing/2014/main" val="35486022"/>
                    </a:ext>
                  </a:extLst>
                </a:gridCol>
                <a:gridCol w="1037763">
                  <a:extLst>
                    <a:ext uri="{9D8B030D-6E8A-4147-A177-3AD203B41FA5}">
                      <a16:colId xmlns:a16="http://schemas.microsoft.com/office/drawing/2014/main" val="3281635788"/>
                    </a:ext>
                  </a:extLst>
                </a:gridCol>
                <a:gridCol w="1373561">
                  <a:extLst>
                    <a:ext uri="{9D8B030D-6E8A-4147-A177-3AD203B41FA5}">
                      <a16:colId xmlns:a16="http://schemas.microsoft.com/office/drawing/2014/main" val="2212508072"/>
                    </a:ext>
                  </a:extLst>
                </a:gridCol>
                <a:gridCol w="1586679">
                  <a:extLst>
                    <a:ext uri="{9D8B030D-6E8A-4147-A177-3AD203B41FA5}">
                      <a16:colId xmlns:a16="http://schemas.microsoft.com/office/drawing/2014/main" val="950364917"/>
                    </a:ext>
                  </a:extLst>
                </a:gridCol>
                <a:gridCol w="568066">
                  <a:extLst>
                    <a:ext uri="{9D8B030D-6E8A-4147-A177-3AD203B41FA5}">
                      <a16:colId xmlns:a16="http://schemas.microsoft.com/office/drawing/2014/main" val="3560715440"/>
                    </a:ext>
                  </a:extLst>
                </a:gridCol>
                <a:gridCol w="1371600">
                  <a:extLst>
                    <a:ext uri="{9D8B030D-6E8A-4147-A177-3AD203B41FA5}">
                      <a16:colId xmlns:a16="http://schemas.microsoft.com/office/drawing/2014/main" val="3943326212"/>
                    </a:ext>
                  </a:extLst>
                </a:gridCol>
                <a:gridCol w="730917">
                  <a:extLst>
                    <a:ext uri="{9D8B030D-6E8A-4147-A177-3AD203B41FA5}">
                      <a16:colId xmlns:a16="http://schemas.microsoft.com/office/drawing/2014/main" val="743373294"/>
                    </a:ext>
                  </a:extLst>
                </a:gridCol>
              </a:tblGrid>
              <a:tr h="596766">
                <a:tc>
                  <a:txBody>
                    <a:bodyPr/>
                    <a:lstStyle/>
                    <a:p>
                      <a:pPr algn="ctr"/>
                      <a:r>
                        <a:rPr lang="en-US" sz="1100" dirty="0">
                          <a:latin typeface="Montserrat" panose="00000500000000000000" pitchFamily="2" charset="0"/>
                        </a:rPr>
                        <a:t>Gender</a:t>
                      </a:r>
                    </a:p>
                  </a:txBody>
                  <a:tcPr/>
                </a:tc>
                <a:tc>
                  <a:txBody>
                    <a:bodyPr/>
                    <a:lstStyle/>
                    <a:p>
                      <a:pPr algn="ctr"/>
                      <a:r>
                        <a:rPr lang="en-US" sz="1100" dirty="0">
                          <a:latin typeface="Montserrat" panose="00000500000000000000" pitchFamily="2" charset="0"/>
                        </a:rPr>
                        <a:t>Age</a:t>
                      </a:r>
                    </a:p>
                  </a:txBody>
                  <a:tcPr/>
                </a:tc>
                <a:tc>
                  <a:txBody>
                    <a:bodyPr/>
                    <a:lstStyle/>
                    <a:p>
                      <a:pPr algn="ctr"/>
                      <a:r>
                        <a:rPr lang="en-US" sz="1100" dirty="0">
                          <a:latin typeface="Montserrat" panose="00000500000000000000" pitchFamily="2" charset="0"/>
                        </a:rPr>
                        <a:t>Hypertension</a:t>
                      </a:r>
                    </a:p>
                  </a:txBody>
                  <a:tcPr/>
                </a:tc>
                <a:tc>
                  <a:txBody>
                    <a:bodyPr/>
                    <a:lstStyle/>
                    <a:p>
                      <a:pPr algn="ctr"/>
                      <a:r>
                        <a:rPr lang="en-US" sz="1100" dirty="0">
                          <a:latin typeface="Montserrat" panose="00000500000000000000" pitchFamily="2" charset="0"/>
                        </a:rPr>
                        <a:t>Heart_disease</a:t>
                      </a:r>
                    </a:p>
                  </a:txBody>
                  <a:tcPr/>
                </a:tc>
                <a:tc>
                  <a:txBody>
                    <a:bodyPr/>
                    <a:lstStyle/>
                    <a:p>
                      <a:pPr algn="ctr"/>
                      <a:r>
                        <a:rPr lang="en-US" sz="1100" dirty="0">
                          <a:latin typeface="Montserrat" panose="00000500000000000000" pitchFamily="2" charset="0"/>
                        </a:rPr>
                        <a:t>Ever_married</a:t>
                      </a:r>
                    </a:p>
                  </a:txBody>
                  <a:tcPr/>
                </a:tc>
                <a:tc>
                  <a:txBody>
                    <a:bodyPr/>
                    <a:lstStyle/>
                    <a:p>
                      <a:pPr algn="ctr"/>
                      <a:r>
                        <a:rPr lang="en-US" sz="1100" dirty="0">
                          <a:latin typeface="Montserrat" panose="00000500000000000000" pitchFamily="2" charset="0"/>
                        </a:rPr>
                        <a:t>Work_type</a:t>
                      </a:r>
                    </a:p>
                  </a:txBody>
                  <a:tcPr/>
                </a:tc>
                <a:tc>
                  <a:txBody>
                    <a:bodyPr/>
                    <a:lstStyle/>
                    <a:p>
                      <a:pPr algn="ctr"/>
                      <a:r>
                        <a:rPr lang="en-US" sz="1100" dirty="0">
                          <a:latin typeface="Montserrat" panose="00000500000000000000" pitchFamily="2" charset="0"/>
                        </a:rPr>
                        <a:t>Residence_type</a:t>
                      </a:r>
                    </a:p>
                  </a:txBody>
                  <a:tcPr/>
                </a:tc>
                <a:tc>
                  <a:txBody>
                    <a:bodyPr/>
                    <a:lstStyle/>
                    <a:p>
                      <a:pPr algn="ctr"/>
                      <a:r>
                        <a:rPr lang="en-US" sz="1100" dirty="0">
                          <a:latin typeface="Montserrat" panose="00000500000000000000" pitchFamily="2" charset="0"/>
                        </a:rPr>
                        <a:t>Avg_glucose_level</a:t>
                      </a:r>
                    </a:p>
                  </a:txBody>
                  <a:tcPr/>
                </a:tc>
                <a:tc>
                  <a:txBody>
                    <a:bodyPr/>
                    <a:lstStyle/>
                    <a:p>
                      <a:pPr algn="ctr"/>
                      <a:r>
                        <a:rPr lang="en-US" sz="1100" dirty="0">
                          <a:latin typeface="Montserrat" panose="00000500000000000000" pitchFamily="2" charset="0"/>
                        </a:rPr>
                        <a:t>BMI</a:t>
                      </a:r>
                    </a:p>
                  </a:txBody>
                  <a:tcPr/>
                </a:tc>
                <a:tc>
                  <a:txBody>
                    <a:bodyPr/>
                    <a:lstStyle/>
                    <a:p>
                      <a:pPr algn="ctr"/>
                      <a:r>
                        <a:rPr lang="en-US" sz="1100" dirty="0">
                          <a:latin typeface="Montserrat" panose="00000500000000000000" pitchFamily="2" charset="0"/>
                        </a:rPr>
                        <a:t>Smoking_status</a:t>
                      </a:r>
                    </a:p>
                  </a:txBody>
                  <a:tcPr/>
                </a:tc>
                <a:tc>
                  <a:txBody>
                    <a:bodyPr/>
                    <a:lstStyle/>
                    <a:p>
                      <a:pPr algn="ctr"/>
                      <a:r>
                        <a:rPr lang="en-US" sz="1100" dirty="0">
                          <a:latin typeface="Montserrat" panose="00000500000000000000" pitchFamily="2" charset="0"/>
                        </a:rPr>
                        <a:t>Stroke</a:t>
                      </a:r>
                    </a:p>
                  </a:txBody>
                  <a:tcPr/>
                </a:tc>
                <a:extLst>
                  <a:ext uri="{0D108BD9-81ED-4DB2-BD59-A6C34878D82A}">
                    <a16:rowId xmlns:a16="http://schemas.microsoft.com/office/drawing/2014/main" val="243823925"/>
                  </a:ext>
                </a:extLst>
              </a:tr>
              <a:tr h="408123">
                <a:tc>
                  <a:txBody>
                    <a:bodyPr/>
                    <a:lstStyle/>
                    <a:p>
                      <a:pPr algn="ctr"/>
                      <a:r>
                        <a:rPr lang="en-US" sz="1100" dirty="0">
                          <a:latin typeface="Montserrat" panose="00000500000000000000" pitchFamily="2" charset="0"/>
                          <a:ea typeface="Meiryo UI" panose="020B0604030504040204" pitchFamily="34" charset="-128"/>
                        </a:rPr>
                        <a:t>Male</a:t>
                      </a:r>
                    </a:p>
                  </a:txBody>
                  <a:tcPr/>
                </a:tc>
                <a:tc>
                  <a:txBody>
                    <a:bodyPr/>
                    <a:lstStyle/>
                    <a:p>
                      <a:pPr algn="ctr"/>
                      <a:r>
                        <a:rPr lang="en-US" sz="1100" dirty="0">
                          <a:latin typeface="Montserrat" panose="00000500000000000000" pitchFamily="2" charset="0"/>
                          <a:ea typeface="Meiryo UI" panose="020B0604030504040204" pitchFamily="34" charset="-128"/>
                        </a:rPr>
                        <a:t>67.0</a:t>
                      </a:r>
                    </a:p>
                  </a:txBody>
                  <a:tcPr/>
                </a:tc>
                <a:tc>
                  <a:txBody>
                    <a:bodyPr/>
                    <a:lstStyle/>
                    <a:p>
                      <a:pPr algn="ctr"/>
                      <a:r>
                        <a:rPr lang="en-US" sz="1100" dirty="0">
                          <a:latin typeface="Montserrat" panose="00000500000000000000" pitchFamily="2" charset="0"/>
                          <a:ea typeface="Meiryo UI" panose="020B0604030504040204" pitchFamily="34" charset="-128"/>
                        </a:rPr>
                        <a:t>0</a:t>
                      </a:r>
                    </a:p>
                  </a:txBody>
                  <a:tcPr/>
                </a:tc>
                <a:tc>
                  <a:txBody>
                    <a:bodyPr/>
                    <a:lstStyle/>
                    <a:p>
                      <a:pPr algn="ctr"/>
                      <a:r>
                        <a:rPr lang="en-US" sz="1100" dirty="0">
                          <a:latin typeface="Montserrat" panose="00000500000000000000" pitchFamily="2" charset="0"/>
                          <a:ea typeface="Meiryo UI" panose="020B0604030504040204" pitchFamily="34" charset="-128"/>
                        </a:rPr>
                        <a:t>1</a:t>
                      </a:r>
                    </a:p>
                  </a:txBody>
                  <a:tcPr/>
                </a:tc>
                <a:tc>
                  <a:txBody>
                    <a:bodyPr/>
                    <a:lstStyle/>
                    <a:p>
                      <a:pPr algn="ctr"/>
                      <a:r>
                        <a:rPr lang="en-US" sz="1100" dirty="0">
                          <a:latin typeface="Montserrat" panose="00000500000000000000" pitchFamily="2" charset="0"/>
                          <a:ea typeface="Meiryo UI" panose="020B0604030504040204" pitchFamily="34" charset="-128"/>
                        </a:rPr>
                        <a:t>Yes</a:t>
                      </a:r>
                    </a:p>
                  </a:txBody>
                  <a:tcPr/>
                </a:tc>
                <a:tc>
                  <a:txBody>
                    <a:bodyPr/>
                    <a:lstStyle/>
                    <a:p>
                      <a:pPr algn="ctr"/>
                      <a:r>
                        <a:rPr lang="en-US" sz="1100" dirty="0">
                          <a:latin typeface="Montserrat" panose="00000500000000000000" pitchFamily="2" charset="0"/>
                          <a:ea typeface="Meiryo UI" panose="020B0604030504040204" pitchFamily="34" charset="-128"/>
                        </a:rPr>
                        <a:t>Private</a:t>
                      </a:r>
                    </a:p>
                  </a:txBody>
                  <a:tcPr/>
                </a:tc>
                <a:tc>
                  <a:txBody>
                    <a:bodyPr/>
                    <a:lstStyle/>
                    <a:p>
                      <a:pPr algn="ctr"/>
                      <a:r>
                        <a:rPr lang="en-US" sz="1100" dirty="0">
                          <a:latin typeface="Montserrat" panose="00000500000000000000" pitchFamily="2" charset="0"/>
                          <a:ea typeface="Meiryo UI" panose="020B0604030504040204" pitchFamily="34" charset="-128"/>
                        </a:rPr>
                        <a:t>Urban</a:t>
                      </a:r>
                    </a:p>
                  </a:txBody>
                  <a:tcPr/>
                </a:tc>
                <a:tc>
                  <a:txBody>
                    <a:bodyPr/>
                    <a:lstStyle/>
                    <a:p>
                      <a:pPr algn="ctr"/>
                      <a:r>
                        <a:rPr lang="en-US" sz="1100" dirty="0">
                          <a:latin typeface="Montserrat" panose="00000500000000000000" pitchFamily="2" charset="0"/>
                          <a:ea typeface="Meiryo UI" panose="020B0604030504040204" pitchFamily="34" charset="-128"/>
                        </a:rPr>
                        <a:t>228.69</a:t>
                      </a:r>
                    </a:p>
                  </a:txBody>
                  <a:tcPr/>
                </a:tc>
                <a:tc>
                  <a:txBody>
                    <a:bodyPr/>
                    <a:lstStyle/>
                    <a:p>
                      <a:pPr algn="ctr"/>
                      <a:r>
                        <a:rPr lang="en-US" sz="1100" dirty="0">
                          <a:latin typeface="Montserrat" panose="00000500000000000000" pitchFamily="2" charset="0"/>
                          <a:ea typeface="Meiryo UI" panose="020B0604030504040204" pitchFamily="34" charset="-128"/>
                        </a:rPr>
                        <a:t>36.6</a:t>
                      </a:r>
                    </a:p>
                  </a:txBody>
                  <a:tcPr/>
                </a:tc>
                <a:tc>
                  <a:txBody>
                    <a:bodyPr/>
                    <a:lstStyle/>
                    <a:p>
                      <a:pPr algn="ctr"/>
                      <a:r>
                        <a:rPr lang="en-US" sz="1100" dirty="0">
                          <a:latin typeface="Montserrat" panose="00000500000000000000" pitchFamily="2" charset="0"/>
                          <a:ea typeface="Meiryo UI" panose="020B0604030504040204" pitchFamily="34" charset="-128"/>
                        </a:rPr>
                        <a:t>Formerly smoked</a:t>
                      </a:r>
                    </a:p>
                  </a:txBody>
                  <a:tcPr/>
                </a:tc>
                <a:tc>
                  <a:txBody>
                    <a:bodyPr/>
                    <a:lstStyle/>
                    <a:p>
                      <a:pPr algn="ctr"/>
                      <a:r>
                        <a:rPr lang="en-US" sz="1100" dirty="0">
                          <a:latin typeface="Montserrat" panose="00000500000000000000" pitchFamily="2" charset="0"/>
                          <a:ea typeface="Meiryo UI" panose="020B0604030504040204" pitchFamily="34" charset="-128"/>
                        </a:rPr>
                        <a:t>1</a:t>
                      </a:r>
                    </a:p>
                  </a:txBody>
                  <a:tcPr/>
                </a:tc>
                <a:extLst>
                  <a:ext uri="{0D108BD9-81ED-4DB2-BD59-A6C34878D82A}">
                    <a16:rowId xmlns:a16="http://schemas.microsoft.com/office/drawing/2014/main" val="2387885591"/>
                  </a:ext>
                </a:extLst>
              </a:tr>
              <a:tr h="408123">
                <a:tc>
                  <a:txBody>
                    <a:bodyPr/>
                    <a:lstStyle/>
                    <a:p>
                      <a:pPr algn="ctr"/>
                      <a:r>
                        <a:rPr lang="en-US" sz="1100" dirty="0">
                          <a:latin typeface="Montserrat" panose="00000500000000000000" pitchFamily="2" charset="0"/>
                          <a:ea typeface="Meiryo UI" panose="020B0604030504040204" pitchFamily="34" charset="-128"/>
                        </a:rPr>
                        <a:t>Female</a:t>
                      </a:r>
                    </a:p>
                  </a:txBody>
                  <a:tcPr/>
                </a:tc>
                <a:tc>
                  <a:txBody>
                    <a:bodyPr/>
                    <a:lstStyle/>
                    <a:p>
                      <a:pPr algn="ctr"/>
                      <a:r>
                        <a:rPr lang="en-US" sz="1100" dirty="0">
                          <a:latin typeface="Montserrat" panose="00000500000000000000" pitchFamily="2" charset="0"/>
                          <a:ea typeface="Meiryo UI" panose="020B0604030504040204" pitchFamily="34" charset="-128"/>
                        </a:rPr>
                        <a:t>61.0</a:t>
                      </a:r>
                    </a:p>
                  </a:txBody>
                  <a:tcPr/>
                </a:tc>
                <a:tc>
                  <a:txBody>
                    <a:bodyPr/>
                    <a:lstStyle/>
                    <a:p>
                      <a:pPr algn="ctr"/>
                      <a:r>
                        <a:rPr lang="en-US" sz="1100" dirty="0">
                          <a:latin typeface="Montserrat" panose="00000500000000000000" pitchFamily="2" charset="0"/>
                          <a:ea typeface="Meiryo UI" panose="020B0604030504040204" pitchFamily="34" charset="-128"/>
                        </a:rPr>
                        <a:t>0</a:t>
                      </a:r>
                    </a:p>
                  </a:txBody>
                  <a:tcPr/>
                </a:tc>
                <a:tc>
                  <a:txBody>
                    <a:bodyPr/>
                    <a:lstStyle/>
                    <a:p>
                      <a:pPr algn="ctr"/>
                      <a:r>
                        <a:rPr lang="en-US" sz="1100" dirty="0">
                          <a:latin typeface="Montserrat" panose="00000500000000000000" pitchFamily="2" charset="0"/>
                          <a:ea typeface="Meiryo UI" panose="020B0604030504040204" pitchFamily="34" charset="-128"/>
                        </a:rPr>
                        <a:t>0</a:t>
                      </a:r>
                    </a:p>
                  </a:txBody>
                  <a:tcPr/>
                </a:tc>
                <a:tc>
                  <a:txBody>
                    <a:bodyPr/>
                    <a:lstStyle/>
                    <a:p>
                      <a:pPr algn="ctr"/>
                      <a:r>
                        <a:rPr lang="en-US" sz="1100" dirty="0">
                          <a:latin typeface="Montserrat" panose="00000500000000000000" pitchFamily="2" charset="0"/>
                          <a:ea typeface="Meiryo UI" panose="020B0604030504040204" pitchFamily="34" charset="-128"/>
                        </a:rPr>
                        <a:t>Yes</a:t>
                      </a:r>
                    </a:p>
                  </a:txBody>
                  <a:tcPr/>
                </a:tc>
                <a:tc>
                  <a:txBody>
                    <a:bodyPr/>
                    <a:lstStyle/>
                    <a:p>
                      <a:pPr algn="ctr"/>
                      <a:r>
                        <a:rPr lang="en-US" sz="1100" dirty="0">
                          <a:latin typeface="Montserrat" panose="00000500000000000000" pitchFamily="2" charset="0"/>
                          <a:ea typeface="Meiryo UI" panose="020B0604030504040204" pitchFamily="34" charset="-128"/>
                        </a:rPr>
                        <a:t>Self-employed</a:t>
                      </a:r>
                    </a:p>
                  </a:txBody>
                  <a:tcPr/>
                </a:tc>
                <a:tc>
                  <a:txBody>
                    <a:bodyPr/>
                    <a:lstStyle/>
                    <a:p>
                      <a:pPr algn="ctr"/>
                      <a:r>
                        <a:rPr lang="en-US" sz="1100" dirty="0">
                          <a:latin typeface="Montserrat" panose="00000500000000000000" pitchFamily="2" charset="0"/>
                          <a:ea typeface="Meiryo UI" panose="020B0604030504040204" pitchFamily="34" charset="-128"/>
                        </a:rPr>
                        <a:t>Rural</a:t>
                      </a:r>
                    </a:p>
                  </a:txBody>
                  <a:tcPr/>
                </a:tc>
                <a:tc>
                  <a:txBody>
                    <a:bodyPr/>
                    <a:lstStyle/>
                    <a:p>
                      <a:pPr algn="ctr"/>
                      <a:r>
                        <a:rPr lang="en-US" sz="1100" dirty="0">
                          <a:latin typeface="Montserrat" panose="00000500000000000000" pitchFamily="2" charset="0"/>
                          <a:ea typeface="Meiryo UI" panose="020B0604030504040204" pitchFamily="34" charset="-128"/>
                        </a:rPr>
                        <a:t>202.21</a:t>
                      </a:r>
                    </a:p>
                  </a:txBody>
                  <a:tcPr/>
                </a:tc>
                <a:tc>
                  <a:txBody>
                    <a:bodyPr/>
                    <a:lstStyle/>
                    <a:p>
                      <a:pPr algn="ctr"/>
                      <a:r>
                        <a:rPr lang="en-US" sz="1100" dirty="0">
                          <a:latin typeface="Montserrat" panose="00000500000000000000" pitchFamily="2" charset="0"/>
                          <a:ea typeface="Meiryo UI" panose="020B0604030504040204" pitchFamily="34" charset="-128"/>
                        </a:rPr>
                        <a:t>28.9</a:t>
                      </a:r>
                    </a:p>
                  </a:txBody>
                  <a:tcPr/>
                </a:tc>
                <a:tc>
                  <a:txBody>
                    <a:bodyPr/>
                    <a:lstStyle/>
                    <a:p>
                      <a:pPr algn="ctr"/>
                      <a:r>
                        <a:rPr lang="en-US" sz="1100" dirty="0">
                          <a:latin typeface="Montserrat" panose="00000500000000000000" pitchFamily="2" charset="0"/>
                          <a:ea typeface="Meiryo UI" panose="020B0604030504040204" pitchFamily="34" charset="-128"/>
                        </a:rPr>
                        <a:t>Never smoked</a:t>
                      </a:r>
                    </a:p>
                  </a:txBody>
                  <a:tcPr/>
                </a:tc>
                <a:tc>
                  <a:txBody>
                    <a:bodyPr/>
                    <a:lstStyle/>
                    <a:p>
                      <a:pPr algn="ctr"/>
                      <a:r>
                        <a:rPr lang="en-US" sz="1100" dirty="0">
                          <a:latin typeface="Montserrat" panose="00000500000000000000" pitchFamily="2" charset="0"/>
                          <a:ea typeface="Meiryo UI" panose="020B0604030504040204" pitchFamily="34" charset="-128"/>
                        </a:rPr>
                        <a:t>1</a:t>
                      </a:r>
                    </a:p>
                  </a:txBody>
                  <a:tcPr/>
                </a:tc>
                <a:extLst>
                  <a:ext uri="{0D108BD9-81ED-4DB2-BD59-A6C34878D82A}">
                    <a16:rowId xmlns:a16="http://schemas.microsoft.com/office/drawing/2014/main" val="1210336440"/>
                  </a:ext>
                </a:extLst>
              </a:tr>
              <a:tr h="408123">
                <a:tc>
                  <a:txBody>
                    <a:bodyPr/>
                    <a:lstStyle/>
                    <a:p>
                      <a:pPr algn="ctr"/>
                      <a:r>
                        <a:rPr lang="en-US" sz="1100" dirty="0">
                          <a:latin typeface="Montserrat" panose="00000500000000000000" pitchFamily="2" charset="0"/>
                          <a:ea typeface="Meiryo UI" panose="020B0604030504040204" pitchFamily="34" charset="-128"/>
                        </a:rPr>
                        <a:t>Male</a:t>
                      </a:r>
                    </a:p>
                  </a:txBody>
                  <a:tcPr/>
                </a:tc>
                <a:tc>
                  <a:txBody>
                    <a:bodyPr/>
                    <a:lstStyle/>
                    <a:p>
                      <a:pPr algn="ctr"/>
                      <a:r>
                        <a:rPr lang="en-US" sz="1100" dirty="0">
                          <a:latin typeface="Montserrat" panose="00000500000000000000" pitchFamily="2" charset="0"/>
                          <a:ea typeface="Meiryo UI" panose="020B0604030504040204" pitchFamily="34" charset="-128"/>
                        </a:rPr>
                        <a:t>80.0</a:t>
                      </a:r>
                    </a:p>
                  </a:txBody>
                  <a:tcPr/>
                </a:tc>
                <a:tc>
                  <a:txBody>
                    <a:bodyPr/>
                    <a:lstStyle/>
                    <a:p>
                      <a:pPr algn="ctr"/>
                      <a:r>
                        <a:rPr lang="en-US" sz="1100" dirty="0">
                          <a:latin typeface="Montserrat" panose="00000500000000000000" pitchFamily="2" charset="0"/>
                          <a:ea typeface="Meiryo UI" panose="020B0604030504040204" pitchFamily="34" charset="-128"/>
                        </a:rPr>
                        <a:t>0</a:t>
                      </a:r>
                    </a:p>
                  </a:txBody>
                  <a:tcPr/>
                </a:tc>
                <a:tc>
                  <a:txBody>
                    <a:bodyPr/>
                    <a:lstStyle/>
                    <a:p>
                      <a:pPr algn="ctr"/>
                      <a:r>
                        <a:rPr lang="en-US" sz="1100" dirty="0">
                          <a:latin typeface="Montserrat" panose="00000500000000000000" pitchFamily="2" charset="0"/>
                          <a:ea typeface="Meiryo UI" panose="020B0604030504040204" pitchFamily="34" charset="-128"/>
                        </a:rPr>
                        <a:t>1</a:t>
                      </a:r>
                    </a:p>
                  </a:txBody>
                  <a:tcPr/>
                </a:tc>
                <a:tc>
                  <a:txBody>
                    <a:bodyPr/>
                    <a:lstStyle/>
                    <a:p>
                      <a:pPr algn="ctr"/>
                      <a:r>
                        <a:rPr lang="en-US" sz="1100" dirty="0">
                          <a:latin typeface="Montserrat" panose="00000500000000000000" pitchFamily="2" charset="0"/>
                          <a:ea typeface="Meiryo UI" panose="020B0604030504040204" pitchFamily="34" charset="-128"/>
                        </a:rPr>
                        <a:t>Yes</a:t>
                      </a:r>
                    </a:p>
                  </a:txBody>
                  <a:tcPr/>
                </a:tc>
                <a:tc>
                  <a:txBody>
                    <a:bodyPr/>
                    <a:lstStyle/>
                    <a:p>
                      <a:pPr algn="ctr"/>
                      <a:r>
                        <a:rPr lang="en-US" sz="1100" dirty="0">
                          <a:latin typeface="Montserrat" panose="00000500000000000000" pitchFamily="2" charset="0"/>
                          <a:ea typeface="Meiryo UI" panose="020B0604030504040204" pitchFamily="34" charset="-128"/>
                        </a:rPr>
                        <a:t>Private</a:t>
                      </a:r>
                    </a:p>
                  </a:txBody>
                  <a:tcPr/>
                </a:tc>
                <a:tc>
                  <a:txBody>
                    <a:bodyPr/>
                    <a:lstStyle/>
                    <a:p>
                      <a:pPr algn="ctr"/>
                      <a:r>
                        <a:rPr lang="en-US" sz="1100" dirty="0">
                          <a:latin typeface="Montserrat" panose="00000500000000000000" pitchFamily="2" charset="0"/>
                          <a:ea typeface="Meiryo UI" panose="020B0604030504040204" pitchFamily="34" charset="-128"/>
                        </a:rPr>
                        <a:t>Rural</a:t>
                      </a:r>
                    </a:p>
                  </a:txBody>
                  <a:tcPr/>
                </a:tc>
                <a:tc>
                  <a:txBody>
                    <a:bodyPr/>
                    <a:lstStyle/>
                    <a:p>
                      <a:pPr algn="ctr"/>
                      <a:r>
                        <a:rPr lang="en-US" sz="1100" dirty="0">
                          <a:latin typeface="Montserrat" panose="00000500000000000000" pitchFamily="2" charset="0"/>
                          <a:ea typeface="Meiryo UI" panose="020B0604030504040204" pitchFamily="34" charset="-128"/>
                        </a:rPr>
                        <a:t>105.92</a:t>
                      </a:r>
                    </a:p>
                  </a:txBody>
                  <a:tcPr/>
                </a:tc>
                <a:tc>
                  <a:txBody>
                    <a:bodyPr/>
                    <a:lstStyle/>
                    <a:p>
                      <a:pPr algn="ctr"/>
                      <a:r>
                        <a:rPr lang="en-US" sz="1100" dirty="0">
                          <a:latin typeface="Montserrat" panose="00000500000000000000" pitchFamily="2" charset="0"/>
                          <a:ea typeface="Meiryo UI" panose="020B0604030504040204" pitchFamily="34" charset="-128"/>
                        </a:rPr>
                        <a:t>32.5</a:t>
                      </a:r>
                    </a:p>
                  </a:txBody>
                  <a:tcPr/>
                </a:tc>
                <a:tc>
                  <a:txBody>
                    <a:bodyPr/>
                    <a:lstStyle/>
                    <a:p>
                      <a:pPr algn="ctr"/>
                      <a:r>
                        <a:rPr lang="en-US" sz="1100" dirty="0">
                          <a:latin typeface="Montserrat" panose="00000500000000000000" pitchFamily="2" charset="0"/>
                          <a:ea typeface="Meiryo UI" panose="020B0604030504040204" pitchFamily="34" charset="-128"/>
                        </a:rPr>
                        <a:t>Never smoked</a:t>
                      </a:r>
                    </a:p>
                  </a:txBody>
                  <a:tcPr/>
                </a:tc>
                <a:tc>
                  <a:txBody>
                    <a:bodyPr/>
                    <a:lstStyle/>
                    <a:p>
                      <a:pPr algn="ctr"/>
                      <a:r>
                        <a:rPr lang="en-US" sz="1100" dirty="0">
                          <a:latin typeface="Montserrat" panose="00000500000000000000" pitchFamily="2" charset="0"/>
                          <a:ea typeface="Meiryo UI" panose="020B0604030504040204" pitchFamily="34" charset="-128"/>
                        </a:rPr>
                        <a:t>1</a:t>
                      </a:r>
                    </a:p>
                  </a:txBody>
                  <a:tcPr/>
                </a:tc>
                <a:extLst>
                  <a:ext uri="{0D108BD9-81ED-4DB2-BD59-A6C34878D82A}">
                    <a16:rowId xmlns:a16="http://schemas.microsoft.com/office/drawing/2014/main" val="4084225808"/>
                  </a:ext>
                </a:extLst>
              </a:tr>
            </a:tbl>
          </a:graphicData>
        </a:graphic>
      </p:graphicFrame>
    </p:spTree>
    <p:extLst>
      <p:ext uri="{BB962C8B-B14F-4D97-AF65-F5344CB8AC3E}">
        <p14:creationId xmlns:p14="http://schemas.microsoft.com/office/powerpoint/2010/main" val="22363469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51" name="Arrow: Pentagon 50">
            <a:extLst>
              <a:ext uri="{FF2B5EF4-FFF2-40B4-BE49-F238E27FC236}">
                <a16:creationId xmlns:a16="http://schemas.microsoft.com/office/drawing/2014/main" id="{AB3124B7-1106-4CDA-9D54-61FEF502AE8C}"/>
              </a:ext>
            </a:extLst>
          </p:cNvPr>
          <p:cNvSpPr/>
          <p:nvPr/>
        </p:nvSpPr>
        <p:spPr>
          <a:xfrm>
            <a:off x="0" y="0"/>
            <a:ext cx="2573502" cy="688824"/>
          </a:xfrm>
          <a:prstGeom prst="homePlat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t>Age Analysis</a:t>
            </a:r>
          </a:p>
        </p:txBody>
      </p:sp>
      <p:pic>
        <p:nvPicPr>
          <p:cNvPr id="2049" name="Picture 1" descr="Histogram of the ages of positive stroke cases">
            <a:extLst>
              <a:ext uri="{FF2B5EF4-FFF2-40B4-BE49-F238E27FC236}">
                <a16:creationId xmlns:a16="http://schemas.microsoft.com/office/drawing/2014/main" id="{88C50306-1C3E-401F-8C2D-52541566BB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5153" y="797519"/>
            <a:ext cx="5020846" cy="371673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80F549B9-C7B0-4A30-8B7D-21388F9C89DD}"/>
              </a:ext>
            </a:extLst>
          </p:cNvPr>
          <p:cNvSpPr txBox="1"/>
          <p:nvPr/>
        </p:nvSpPr>
        <p:spPr>
          <a:xfrm>
            <a:off x="165153" y="4725286"/>
            <a:ext cx="5020846" cy="738664"/>
          </a:xfrm>
          <a:prstGeom prst="rect">
            <a:avLst/>
          </a:prstGeom>
          <a:noFill/>
          <a:ln>
            <a:solidFill>
              <a:schemeClr val="accent1"/>
            </a:solidFill>
            <a:prstDash val="dash"/>
          </a:ln>
        </p:spPr>
        <p:txBody>
          <a:bodyPr wrap="square">
            <a:spAutoFit/>
          </a:bodyPr>
          <a:lstStyle/>
          <a:p>
            <a:pPr algn="ctr"/>
            <a:r>
              <a:rPr lang="en-US" sz="1400" dirty="0">
                <a:latin typeface="Meiryo UI" panose="020B0604030504040204" pitchFamily="34" charset="-128"/>
                <a:ea typeface="Meiryo UI" panose="020B0604030504040204" pitchFamily="34" charset="-128"/>
              </a:rPr>
              <a:t>The histogram above shows that 2 records are not within the distribution, we can drop them to have a more harmonious distribution</a:t>
            </a:r>
          </a:p>
        </p:txBody>
      </p:sp>
      <p:pic>
        <p:nvPicPr>
          <p:cNvPr id="5121" name="Picture 1" descr="Funnel to show distribution of ages in positive cases">
            <a:extLst>
              <a:ext uri="{FF2B5EF4-FFF2-40B4-BE49-F238E27FC236}">
                <a16:creationId xmlns:a16="http://schemas.microsoft.com/office/drawing/2014/main" id="{316F1F57-AF8B-4539-8505-C058729C62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54000" y="496247"/>
            <a:ext cx="4226568" cy="2826860"/>
          </a:xfrm>
          <a:prstGeom prst="rect">
            <a:avLst/>
          </a:prstGeom>
          <a:noFill/>
          <a:extLst>
            <a:ext uri="{909E8E84-426E-40DD-AFC4-6F175D3DCCD1}">
              <a14:hiddenFill xmlns:a14="http://schemas.microsoft.com/office/drawing/2010/main">
                <a:solidFill>
                  <a:srgbClr val="FFFFFF"/>
                </a:solidFill>
              </a14:hiddenFill>
            </a:ext>
          </a:extLst>
        </p:spPr>
      </p:pic>
      <p:pic>
        <p:nvPicPr>
          <p:cNvPr id="6145" name="Picture 1" descr="Funnel to show distribution of ages in negative stroke cases">
            <a:extLst>
              <a:ext uri="{FF2B5EF4-FFF2-40B4-BE49-F238E27FC236}">
                <a16:creationId xmlns:a16="http://schemas.microsoft.com/office/drawing/2014/main" id="{31A7B414-7851-4576-B86B-448A858F5E2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54000" y="3548312"/>
            <a:ext cx="4226568" cy="3092611"/>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556413C3-087D-45B5-9DD1-3F0E1D017AA3}"/>
              </a:ext>
            </a:extLst>
          </p:cNvPr>
          <p:cNvSpPr txBox="1"/>
          <p:nvPr/>
        </p:nvSpPr>
        <p:spPr>
          <a:xfrm>
            <a:off x="10279780" y="2628781"/>
            <a:ext cx="1655545" cy="1600438"/>
          </a:xfrm>
          <a:prstGeom prst="rect">
            <a:avLst/>
          </a:prstGeom>
          <a:noFill/>
          <a:ln>
            <a:solidFill>
              <a:srgbClr val="0070C0"/>
            </a:solidFill>
            <a:prstDash val="dash"/>
          </a:ln>
        </p:spPr>
        <p:txBody>
          <a:bodyPr wrap="square" rtlCol="0">
            <a:spAutoFit/>
          </a:bodyPr>
          <a:lstStyle/>
          <a:p>
            <a:pPr algn="ctr"/>
            <a:r>
              <a:rPr lang="en-US" sz="1400" dirty="0">
                <a:latin typeface="Meiryo UI" panose="020B0604030504040204" pitchFamily="34" charset="-128"/>
                <a:ea typeface="Meiryo UI" panose="020B0604030504040204" pitchFamily="34" charset="-128"/>
              </a:rPr>
              <a:t>The first funnel chart here shows that the senior age group accounts for the most positive cases</a:t>
            </a:r>
          </a:p>
        </p:txBody>
      </p:sp>
      <p:sp>
        <p:nvSpPr>
          <p:cNvPr id="9" name="TextBox 8">
            <a:extLst>
              <a:ext uri="{FF2B5EF4-FFF2-40B4-BE49-F238E27FC236}">
                <a16:creationId xmlns:a16="http://schemas.microsoft.com/office/drawing/2014/main" id="{BE586702-D18A-4FBA-8DF4-C41A8E3A1A09}"/>
              </a:ext>
            </a:extLst>
          </p:cNvPr>
          <p:cNvSpPr txBox="1"/>
          <p:nvPr/>
        </p:nvSpPr>
        <p:spPr>
          <a:xfrm>
            <a:off x="10279780" y="4663731"/>
            <a:ext cx="1655545" cy="1600438"/>
          </a:xfrm>
          <a:prstGeom prst="rect">
            <a:avLst/>
          </a:prstGeom>
          <a:noFill/>
          <a:ln>
            <a:solidFill>
              <a:srgbClr val="0070C0"/>
            </a:solidFill>
            <a:prstDash val="dash"/>
          </a:ln>
        </p:spPr>
        <p:txBody>
          <a:bodyPr wrap="square" rtlCol="0">
            <a:spAutoFit/>
          </a:bodyPr>
          <a:lstStyle/>
          <a:p>
            <a:pPr algn="ctr"/>
            <a:r>
              <a:rPr lang="en-US" sz="1400" dirty="0">
                <a:latin typeface="Meiryo UI" panose="020B0604030504040204" pitchFamily="34" charset="-128"/>
                <a:ea typeface="Meiryo UI" panose="020B0604030504040204" pitchFamily="34" charset="-128"/>
              </a:rPr>
              <a:t>The second funnel chart here shows a more equally distributed age for the negative cases</a:t>
            </a:r>
          </a:p>
        </p:txBody>
      </p:sp>
      <p:graphicFrame>
        <p:nvGraphicFramePr>
          <p:cNvPr id="5" name="Table 5">
            <a:extLst>
              <a:ext uri="{FF2B5EF4-FFF2-40B4-BE49-F238E27FC236}">
                <a16:creationId xmlns:a16="http://schemas.microsoft.com/office/drawing/2014/main" id="{E577030E-F155-453C-BE50-01E39F6CFBCE}"/>
              </a:ext>
            </a:extLst>
          </p:cNvPr>
          <p:cNvGraphicFramePr>
            <a:graphicFrameLocks noGrp="1"/>
          </p:cNvGraphicFramePr>
          <p:nvPr>
            <p:extLst>
              <p:ext uri="{D42A27DB-BD31-4B8C-83A1-F6EECF244321}">
                <p14:modId xmlns:p14="http://schemas.microsoft.com/office/powerpoint/2010/main" val="3899641652"/>
              </p:ext>
            </p:extLst>
          </p:nvPr>
        </p:nvGraphicFramePr>
        <p:xfrm>
          <a:off x="9870787" y="134523"/>
          <a:ext cx="2156060" cy="1963784"/>
        </p:xfrm>
        <a:graphic>
          <a:graphicData uri="http://schemas.openxmlformats.org/drawingml/2006/table">
            <a:tbl>
              <a:tblPr firstRow="1" bandRow="1">
                <a:tableStyleId>{5C22544A-7EE6-4342-B048-85BDC9FD1C3A}</a:tableStyleId>
              </a:tblPr>
              <a:tblGrid>
                <a:gridCol w="1374244">
                  <a:extLst>
                    <a:ext uri="{9D8B030D-6E8A-4147-A177-3AD203B41FA5}">
                      <a16:colId xmlns:a16="http://schemas.microsoft.com/office/drawing/2014/main" val="4301983"/>
                    </a:ext>
                  </a:extLst>
                </a:gridCol>
                <a:gridCol w="781816">
                  <a:extLst>
                    <a:ext uri="{9D8B030D-6E8A-4147-A177-3AD203B41FA5}">
                      <a16:colId xmlns:a16="http://schemas.microsoft.com/office/drawing/2014/main" val="1935945582"/>
                    </a:ext>
                  </a:extLst>
                </a:gridCol>
              </a:tblGrid>
              <a:tr h="308002">
                <a:tc>
                  <a:txBody>
                    <a:bodyPr/>
                    <a:lstStyle/>
                    <a:p>
                      <a:r>
                        <a:rPr lang="en-US" sz="1200" dirty="0">
                          <a:latin typeface="Montserrat" panose="00000500000000000000" pitchFamily="2" charset="0"/>
                          <a:ea typeface="Meiryo UI" panose="020B0604030504040204" pitchFamily="34" charset="-128"/>
                        </a:rPr>
                        <a:t>Age group</a:t>
                      </a:r>
                    </a:p>
                  </a:txBody>
                  <a:tcPr/>
                </a:tc>
                <a:tc>
                  <a:txBody>
                    <a:bodyPr/>
                    <a:lstStyle/>
                    <a:p>
                      <a:r>
                        <a:rPr lang="en-US" sz="1200" dirty="0">
                          <a:latin typeface="Montserrat" panose="00000500000000000000" pitchFamily="2" charset="0"/>
                          <a:ea typeface="Meiryo UI" panose="020B0604030504040204" pitchFamily="34" charset="-128"/>
                        </a:rPr>
                        <a:t>Ranges</a:t>
                      </a:r>
                    </a:p>
                  </a:txBody>
                  <a:tcPr/>
                </a:tc>
                <a:extLst>
                  <a:ext uri="{0D108BD9-81ED-4DB2-BD59-A6C34878D82A}">
                    <a16:rowId xmlns:a16="http://schemas.microsoft.com/office/drawing/2014/main" val="2843093711"/>
                  </a:ext>
                </a:extLst>
              </a:tr>
              <a:tr h="253242">
                <a:tc>
                  <a:txBody>
                    <a:bodyPr/>
                    <a:lstStyle/>
                    <a:p>
                      <a:r>
                        <a:rPr lang="en-US" sz="1200" dirty="0">
                          <a:latin typeface="Montserrat" panose="00000500000000000000" pitchFamily="2" charset="0"/>
                          <a:ea typeface="Meiryo UI" panose="020B0604030504040204" pitchFamily="34" charset="-128"/>
                        </a:rPr>
                        <a:t>Child</a:t>
                      </a:r>
                    </a:p>
                  </a:txBody>
                  <a:tcPr/>
                </a:tc>
                <a:tc>
                  <a:txBody>
                    <a:bodyPr/>
                    <a:lstStyle/>
                    <a:p>
                      <a:r>
                        <a:rPr lang="en-US" sz="1200" dirty="0">
                          <a:latin typeface="Montserrat" panose="00000500000000000000" pitchFamily="2" charset="0"/>
                          <a:ea typeface="Meiryo UI" panose="020B0604030504040204" pitchFamily="34" charset="-128"/>
                        </a:rPr>
                        <a:t>0-16</a:t>
                      </a:r>
                    </a:p>
                  </a:txBody>
                  <a:tcPr/>
                </a:tc>
                <a:extLst>
                  <a:ext uri="{0D108BD9-81ED-4DB2-BD59-A6C34878D82A}">
                    <a16:rowId xmlns:a16="http://schemas.microsoft.com/office/drawing/2014/main" val="1550422691"/>
                  </a:ext>
                </a:extLst>
              </a:tr>
              <a:tr h="253242">
                <a:tc>
                  <a:txBody>
                    <a:bodyPr/>
                    <a:lstStyle/>
                    <a:p>
                      <a:r>
                        <a:rPr lang="en-US" sz="1200" dirty="0">
                          <a:latin typeface="Montserrat" panose="00000500000000000000" pitchFamily="2" charset="0"/>
                          <a:ea typeface="Meiryo UI" panose="020B0604030504040204" pitchFamily="34" charset="-128"/>
                        </a:rPr>
                        <a:t>Young</a:t>
                      </a:r>
                    </a:p>
                  </a:txBody>
                  <a:tcPr/>
                </a:tc>
                <a:tc>
                  <a:txBody>
                    <a:bodyPr/>
                    <a:lstStyle/>
                    <a:p>
                      <a:r>
                        <a:rPr lang="en-US" sz="1200" dirty="0">
                          <a:latin typeface="Montserrat" panose="00000500000000000000" pitchFamily="2" charset="0"/>
                          <a:ea typeface="Meiryo UI" panose="020B0604030504040204" pitchFamily="34" charset="-128"/>
                        </a:rPr>
                        <a:t>17-30</a:t>
                      </a:r>
                    </a:p>
                  </a:txBody>
                  <a:tcPr/>
                </a:tc>
                <a:extLst>
                  <a:ext uri="{0D108BD9-81ED-4DB2-BD59-A6C34878D82A}">
                    <a16:rowId xmlns:a16="http://schemas.microsoft.com/office/drawing/2014/main" val="4125280416"/>
                  </a:ext>
                </a:extLst>
              </a:tr>
              <a:tr h="253242">
                <a:tc>
                  <a:txBody>
                    <a:bodyPr/>
                    <a:lstStyle/>
                    <a:p>
                      <a:r>
                        <a:rPr lang="en-US" sz="1200" dirty="0">
                          <a:latin typeface="Montserrat" panose="00000500000000000000" pitchFamily="2" charset="0"/>
                          <a:ea typeface="Meiryo UI" panose="020B0604030504040204" pitchFamily="34" charset="-128"/>
                        </a:rPr>
                        <a:t>Adult</a:t>
                      </a:r>
                    </a:p>
                  </a:txBody>
                  <a:tcPr/>
                </a:tc>
                <a:tc>
                  <a:txBody>
                    <a:bodyPr/>
                    <a:lstStyle/>
                    <a:p>
                      <a:r>
                        <a:rPr lang="en-US" sz="1200" dirty="0">
                          <a:latin typeface="Montserrat" panose="00000500000000000000" pitchFamily="2" charset="0"/>
                          <a:ea typeface="Meiryo UI" panose="020B0604030504040204" pitchFamily="34" charset="-128"/>
                        </a:rPr>
                        <a:t>31-40</a:t>
                      </a:r>
                    </a:p>
                  </a:txBody>
                  <a:tcPr/>
                </a:tc>
                <a:extLst>
                  <a:ext uri="{0D108BD9-81ED-4DB2-BD59-A6C34878D82A}">
                    <a16:rowId xmlns:a16="http://schemas.microsoft.com/office/drawing/2014/main" val="3266357895"/>
                  </a:ext>
                </a:extLst>
              </a:tr>
              <a:tr h="272439">
                <a:tc>
                  <a:txBody>
                    <a:bodyPr/>
                    <a:lstStyle/>
                    <a:p>
                      <a:r>
                        <a:rPr lang="en-US" sz="1200" dirty="0">
                          <a:latin typeface="Montserrat" panose="00000500000000000000" pitchFamily="2" charset="0"/>
                          <a:ea typeface="Meiryo UI" panose="020B0604030504040204" pitchFamily="34" charset="-128"/>
                        </a:rPr>
                        <a:t>Middle-age</a:t>
                      </a:r>
                    </a:p>
                  </a:txBody>
                  <a:tcPr/>
                </a:tc>
                <a:tc>
                  <a:txBody>
                    <a:bodyPr/>
                    <a:lstStyle/>
                    <a:p>
                      <a:r>
                        <a:rPr lang="en-US" sz="1200" dirty="0">
                          <a:latin typeface="Montserrat" panose="00000500000000000000" pitchFamily="2" charset="0"/>
                          <a:ea typeface="Meiryo UI" panose="020B0604030504040204" pitchFamily="34" charset="-128"/>
                        </a:rPr>
                        <a:t>41-50</a:t>
                      </a:r>
                    </a:p>
                  </a:txBody>
                  <a:tcPr/>
                </a:tc>
                <a:extLst>
                  <a:ext uri="{0D108BD9-81ED-4DB2-BD59-A6C34878D82A}">
                    <a16:rowId xmlns:a16="http://schemas.microsoft.com/office/drawing/2014/main" val="214810129"/>
                  </a:ext>
                </a:extLst>
              </a:tr>
              <a:tr h="271724">
                <a:tc>
                  <a:txBody>
                    <a:bodyPr/>
                    <a:lstStyle/>
                    <a:p>
                      <a:r>
                        <a:rPr lang="en-US" sz="1200" dirty="0">
                          <a:latin typeface="Montserrat" panose="00000500000000000000" pitchFamily="2" charset="0"/>
                          <a:ea typeface="Meiryo UI" panose="020B0604030504040204" pitchFamily="34" charset="-128"/>
                        </a:rPr>
                        <a:t>Mature</a:t>
                      </a:r>
                    </a:p>
                  </a:txBody>
                  <a:tcPr/>
                </a:tc>
                <a:tc>
                  <a:txBody>
                    <a:bodyPr/>
                    <a:lstStyle/>
                    <a:p>
                      <a:r>
                        <a:rPr lang="en-US" sz="1200" dirty="0">
                          <a:latin typeface="Montserrat" panose="00000500000000000000" pitchFamily="2" charset="0"/>
                          <a:ea typeface="Meiryo UI" panose="020B0604030504040204" pitchFamily="34" charset="-128"/>
                        </a:rPr>
                        <a:t>51-60</a:t>
                      </a:r>
                    </a:p>
                  </a:txBody>
                  <a:tcPr/>
                </a:tc>
                <a:extLst>
                  <a:ext uri="{0D108BD9-81ED-4DB2-BD59-A6C34878D82A}">
                    <a16:rowId xmlns:a16="http://schemas.microsoft.com/office/drawing/2014/main" val="167792462"/>
                  </a:ext>
                </a:extLst>
              </a:tr>
              <a:tr h="284182">
                <a:tc>
                  <a:txBody>
                    <a:bodyPr/>
                    <a:lstStyle/>
                    <a:p>
                      <a:r>
                        <a:rPr lang="en-US" sz="1200" dirty="0">
                          <a:latin typeface="Montserrat" panose="00000500000000000000" pitchFamily="2" charset="0"/>
                          <a:ea typeface="Meiryo UI" panose="020B0604030504040204" pitchFamily="34" charset="-128"/>
                        </a:rPr>
                        <a:t>Senior</a:t>
                      </a:r>
                    </a:p>
                  </a:txBody>
                  <a:tcPr/>
                </a:tc>
                <a:tc>
                  <a:txBody>
                    <a:bodyPr/>
                    <a:lstStyle/>
                    <a:p>
                      <a:r>
                        <a:rPr lang="en-US" sz="1200" dirty="0">
                          <a:latin typeface="Montserrat" panose="00000500000000000000" pitchFamily="2" charset="0"/>
                          <a:ea typeface="Meiryo UI" panose="020B0604030504040204" pitchFamily="34" charset="-128"/>
                        </a:rPr>
                        <a:t>60 +</a:t>
                      </a:r>
                    </a:p>
                  </a:txBody>
                  <a:tcPr/>
                </a:tc>
                <a:extLst>
                  <a:ext uri="{0D108BD9-81ED-4DB2-BD59-A6C34878D82A}">
                    <a16:rowId xmlns:a16="http://schemas.microsoft.com/office/drawing/2014/main" val="116407776"/>
                  </a:ext>
                </a:extLst>
              </a:tr>
            </a:tbl>
          </a:graphicData>
        </a:graphic>
      </p:graphicFrame>
    </p:spTree>
    <p:extLst>
      <p:ext uri="{BB962C8B-B14F-4D97-AF65-F5344CB8AC3E}">
        <p14:creationId xmlns:p14="http://schemas.microsoft.com/office/powerpoint/2010/main" val="2112367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51" name="Arrow: Pentagon 50">
            <a:extLst>
              <a:ext uri="{FF2B5EF4-FFF2-40B4-BE49-F238E27FC236}">
                <a16:creationId xmlns:a16="http://schemas.microsoft.com/office/drawing/2014/main" id="{AB3124B7-1106-4CDA-9D54-61FEF502AE8C}"/>
              </a:ext>
            </a:extLst>
          </p:cNvPr>
          <p:cNvSpPr/>
          <p:nvPr/>
        </p:nvSpPr>
        <p:spPr>
          <a:xfrm>
            <a:off x="0" y="0"/>
            <a:ext cx="2573502" cy="688824"/>
          </a:xfrm>
          <a:prstGeom prst="homePlat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t>Gender and Marital Status Analysis</a:t>
            </a:r>
          </a:p>
        </p:txBody>
      </p:sp>
      <p:pic>
        <p:nvPicPr>
          <p:cNvPr id="9217" name="Picture 1" descr="Bar graph to show variations between gender in the sample">
            <a:extLst>
              <a:ext uri="{FF2B5EF4-FFF2-40B4-BE49-F238E27FC236}">
                <a16:creationId xmlns:a16="http://schemas.microsoft.com/office/drawing/2014/main" id="{A776483F-7366-4F92-833F-B64AC64609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12158" y="857532"/>
            <a:ext cx="3367684" cy="3157876"/>
          </a:xfrm>
          <a:prstGeom prst="rect">
            <a:avLst/>
          </a:prstGeom>
          <a:noFill/>
          <a:extLst>
            <a:ext uri="{909E8E84-426E-40DD-AFC4-6F175D3DCCD1}">
              <a14:hiddenFill xmlns:a14="http://schemas.microsoft.com/office/drawing/2010/main">
                <a:solidFill>
                  <a:srgbClr val="FFFFFF"/>
                </a:solidFill>
              </a14:hiddenFill>
            </a:ext>
          </a:extLst>
        </p:spPr>
      </p:pic>
      <p:pic>
        <p:nvPicPr>
          <p:cNvPr id="10241" name="Picture 1" descr="Bar graph to show variations between gender among positive stroke">
            <a:extLst>
              <a:ext uri="{FF2B5EF4-FFF2-40B4-BE49-F238E27FC236}">
                <a16:creationId xmlns:a16="http://schemas.microsoft.com/office/drawing/2014/main" id="{FE0435F4-E0B8-4650-BCA0-F68D80996B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681" y="862569"/>
            <a:ext cx="3367684" cy="315284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BBEAC29A-7F8A-4423-A0D0-5BDFF3FEA0D1}"/>
              </a:ext>
            </a:extLst>
          </p:cNvPr>
          <p:cNvSpPr txBox="1"/>
          <p:nvPr/>
        </p:nvSpPr>
        <p:spPr>
          <a:xfrm>
            <a:off x="2099144" y="4723075"/>
            <a:ext cx="3713259" cy="954107"/>
          </a:xfrm>
          <a:prstGeom prst="rect">
            <a:avLst/>
          </a:prstGeom>
          <a:noFill/>
          <a:ln>
            <a:solidFill>
              <a:srgbClr val="0070C0"/>
            </a:solidFill>
            <a:prstDash val="dash"/>
          </a:ln>
        </p:spPr>
        <p:txBody>
          <a:bodyPr wrap="square" rtlCol="0">
            <a:spAutoFit/>
          </a:bodyPr>
          <a:lstStyle/>
          <a:p>
            <a:pPr algn="ctr"/>
            <a:r>
              <a:rPr lang="en-US" sz="1400" dirty="0">
                <a:latin typeface="Meiryo UI" panose="020B0604030504040204" pitchFamily="34" charset="-128"/>
                <a:ea typeface="Meiryo UI" panose="020B0604030504040204" pitchFamily="34" charset="-128"/>
              </a:rPr>
              <a:t>The bar graphs above show that the dataset has generally more women than men and also shows how heavily imbalanced the dataset is.</a:t>
            </a:r>
          </a:p>
        </p:txBody>
      </p:sp>
      <p:cxnSp>
        <p:nvCxnSpPr>
          <p:cNvPr id="5" name="Straight Connector 4">
            <a:extLst>
              <a:ext uri="{FF2B5EF4-FFF2-40B4-BE49-F238E27FC236}">
                <a16:creationId xmlns:a16="http://schemas.microsoft.com/office/drawing/2014/main" id="{418F926C-4557-412A-8FCA-FEC56191B693}"/>
              </a:ext>
            </a:extLst>
          </p:cNvPr>
          <p:cNvCxnSpPr/>
          <p:nvPr/>
        </p:nvCxnSpPr>
        <p:spPr>
          <a:xfrm>
            <a:off x="8165990" y="190831"/>
            <a:ext cx="0" cy="6448508"/>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0C296BFE-A3BB-403A-937E-76092DD220FE}"/>
              </a:ext>
            </a:extLst>
          </p:cNvPr>
          <p:cNvSpPr txBox="1"/>
          <p:nvPr/>
        </p:nvSpPr>
        <p:spPr>
          <a:xfrm>
            <a:off x="8326341" y="4723074"/>
            <a:ext cx="3713259" cy="954107"/>
          </a:xfrm>
          <a:prstGeom prst="rect">
            <a:avLst/>
          </a:prstGeom>
          <a:noFill/>
          <a:ln>
            <a:solidFill>
              <a:srgbClr val="0070C0"/>
            </a:solidFill>
            <a:prstDash val="dash"/>
          </a:ln>
        </p:spPr>
        <p:txBody>
          <a:bodyPr wrap="square" rtlCol="0">
            <a:spAutoFit/>
          </a:bodyPr>
          <a:lstStyle/>
          <a:p>
            <a:pPr algn="ctr"/>
            <a:r>
              <a:rPr lang="en-US" sz="1400" dirty="0">
                <a:latin typeface="Meiryo UI" panose="020B0604030504040204" pitchFamily="34" charset="-128"/>
                <a:ea typeface="Meiryo UI" panose="020B0604030504040204" pitchFamily="34" charset="-128"/>
              </a:rPr>
              <a:t>The tornado chart above shows that for both negative and positive stroke cases, most of the people had ever been married.</a:t>
            </a:r>
          </a:p>
        </p:txBody>
      </p:sp>
      <p:pic>
        <p:nvPicPr>
          <p:cNvPr id="26625" name="Picture 1" descr="Marital Status within population">
            <a:extLst>
              <a:ext uri="{FF2B5EF4-FFF2-40B4-BE49-F238E27FC236}">
                <a16:creationId xmlns:a16="http://schemas.microsoft.com/office/drawing/2014/main" id="{608E025D-67F9-47B6-A016-59290BED0ED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86359" y="344411"/>
            <a:ext cx="3294140" cy="39074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31981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51" name="Arrow: Pentagon 50">
            <a:extLst>
              <a:ext uri="{FF2B5EF4-FFF2-40B4-BE49-F238E27FC236}">
                <a16:creationId xmlns:a16="http://schemas.microsoft.com/office/drawing/2014/main" id="{AB3124B7-1106-4CDA-9D54-61FEF502AE8C}"/>
              </a:ext>
            </a:extLst>
          </p:cNvPr>
          <p:cNvSpPr/>
          <p:nvPr/>
        </p:nvSpPr>
        <p:spPr>
          <a:xfrm>
            <a:off x="-2894" y="-24035"/>
            <a:ext cx="2573502" cy="922532"/>
          </a:xfrm>
          <a:prstGeom prst="homePlat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t>Work type and Residence type Analysis</a:t>
            </a:r>
          </a:p>
        </p:txBody>
      </p:sp>
      <p:pic>
        <p:nvPicPr>
          <p:cNvPr id="12289" name="Picture 1" descr="Horizontal Bar graph to show variations in Residence Type in the">
            <a:extLst>
              <a:ext uri="{FF2B5EF4-FFF2-40B4-BE49-F238E27FC236}">
                <a16:creationId xmlns:a16="http://schemas.microsoft.com/office/drawing/2014/main" id="{F242018A-12F2-4A4B-AC8C-0921C6D73E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74434" y="214602"/>
            <a:ext cx="3474720" cy="3558073"/>
          </a:xfrm>
          <a:prstGeom prst="rect">
            <a:avLst/>
          </a:prstGeom>
          <a:noFill/>
          <a:extLst>
            <a:ext uri="{909E8E84-426E-40DD-AFC4-6F175D3DCCD1}">
              <a14:hiddenFill xmlns:a14="http://schemas.microsoft.com/office/drawing/2010/main">
                <a:solidFill>
                  <a:srgbClr val="FFFFFF"/>
                </a:solidFill>
              </a14:hiddenFill>
            </a:ext>
          </a:extLst>
        </p:spPr>
      </p:pic>
      <p:cxnSp>
        <p:nvCxnSpPr>
          <p:cNvPr id="4" name="Straight Connector 3">
            <a:extLst>
              <a:ext uri="{FF2B5EF4-FFF2-40B4-BE49-F238E27FC236}">
                <a16:creationId xmlns:a16="http://schemas.microsoft.com/office/drawing/2014/main" id="{8AFCA6ED-5C7A-4806-AB33-32DDF8F740F2}"/>
              </a:ext>
            </a:extLst>
          </p:cNvPr>
          <p:cNvCxnSpPr>
            <a:cxnSpLocks/>
          </p:cNvCxnSpPr>
          <p:nvPr/>
        </p:nvCxnSpPr>
        <p:spPr>
          <a:xfrm>
            <a:off x="8165990" y="190748"/>
            <a:ext cx="0" cy="6488348"/>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pic>
        <p:nvPicPr>
          <p:cNvPr id="15361" name="Picture 1" descr="Donut Chart to show variations in work type among positive">
            <a:extLst>
              <a:ext uri="{FF2B5EF4-FFF2-40B4-BE49-F238E27FC236}">
                <a16:creationId xmlns:a16="http://schemas.microsoft.com/office/drawing/2014/main" id="{0A4B42C7-63BF-44AB-8272-D4F539B3C5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2846" y="1237462"/>
            <a:ext cx="3311382" cy="3028974"/>
          </a:xfrm>
          <a:prstGeom prst="rect">
            <a:avLst/>
          </a:prstGeom>
          <a:noFill/>
          <a:extLst>
            <a:ext uri="{909E8E84-426E-40DD-AFC4-6F175D3DCCD1}">
              <a14:hiddenFill xmlns:a14="http://schemas.microsoft.com/office/drawing/2010/main">
                <a:solidFill>
                  <a:srgbClr val="FFFFFF"/>
                </a:solidFill>
              </a14:hiddenFill>
            </a:ext>
          </a:extLst>
        </p:spPr>
      </p:pic>
      <p:pic>
        <p:nvPicPr>
          <p:cNvPr id="19457" name="Picture 1" descr="Donut Chart to show variations in work type among negative">
            <a:extLst>
              <a:ext uri="{FF2B5EF4-FFF2-40B4-BE49-F238E27FC236}">
                <a16:creationId xmlns:a16="http://schemas.microsoft.com/office/drawing/2014/main" id="{3A6B01C5-A11D-4FAC-9A48-3DC0025FD0D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68076" y="1237461"/>
            <a:ext cx="3311380" cy="3028971"/>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4BA163A3-D941-488D-883B-6D4205680127}"/>
              </a:ext>
            </a:extLst>
          </p:cNvPr>
          <p:cNvSpPr txBox="1"/>
          <p:nvPr/>
        </p:nvSpPr>
        <p:spPr>
          <a:xfrm>
            <a:off x="1923708" y="4866687"/>
            <a:ext cx="4204606" cy="1384995"/>
          </a:xfrm>
          <a:prstGeom prst="rect">
            <a:avLst/>
          </a:prstGeom>
          <a:noFill/>
          <a:ln>
            <a:solidFill>
              <a:srgbClr val="0070C0"/>
            </a:solidFill>
            <a:prstDash val="dashDot"/>
          </a:ln>
        </p:spPr>
        <p:txBody>
          <a:bodyPr wrap="square" rtlCol="0">
            <a:spAutoFit/>
          </a:bodyPr>
          <a:lstStyle/>
          <a:p>
            <a:pPr algn="ctr"/>
            <a:r>
              <a:rPr lang="en-US" sz="1400" dirty="0">
                <a:latin typeface="Meiryo UI" panose="020B0604030504040204" pitchFamily="34" charset="-128"/>
                <a:ea typeface="Meiryo UI" panose="020B0604030504040204" pitchFamily="34" charset="-128"/>
              </a:rPr>
              <a:t>The donut charts above show that most people have a </a:t>
            </a:r>
            <a:r>
              <a:rPr lang="en-US" sz="1400" b="1" dirty="0">
                <a:latin typeface="Meiryo UI" panose="020B0604030504040204" pitchFamily="34" charset="-128"/>
                <a:ea typeface="Meiryo UI" panose="020B0604030504040204" pitchFamily="34" charset="-128"/>
              </a:rPr>
              <a:t>Private</a:t>
            </a:r>
            <a:r>
              <a:rPr lang="en-US" sz="1400" dirty="0">
                <a:latin typeface="Meiryo UI" panose="020B0604030504040204" pitchFamily="34" charset="-128"/>
                <a:ea typeface="Meiryo UI" panose="020B0604030504040204" pitchFamily="34" charset="-128"/>
              </a:rPr>
              <a:t> work type but it’s worth noting that for the negative cases the category for ‘children’ exists and occupies 13.5% of the population unlike in the positive cases</a:t>
            </a:r>
          </a:p>
        </p:txBody>
      </p:sp>
      <p:sp>
        <p:nvSpPr>
          <p:cNvPr id="9" name="TextBox 8">
            <a:extLst>
              <a:ext uri="{FF2B5EF4-FFF2-40B4-BE49-F238E27FC236}">
                <a16:creationId xmlns:a16="http://schemas.microsoft.com/office/drawing/2014/main" id="{54195998-D2BD-43E5-BB04-0946EB99165C}"/>
              </a:ext>
            </a:extLst>
          </p:cNvPr>
          <p:cNvSpPr txBox="1"/>
          <p:nvPr/>
        </p:nvSpPr>
        <p:spPr>
          <a:xfrm>
            <a:off x="8527230" y="4707267"/>
            <a:ext cx="3369128" cy="954107"/>
          </a:xfrm>
          <a:prstGeom prst="rect">
            <a:avLst/>
          </a:prstGeom>
          <a:noFill/>
          <a:ln>
            <a:solidFill>
              <a:srgbClr val="0070C0"/>
            </a:solidFill>
            <a:prstDash val="dashDot"/>
          </a:ln>
        </p:spPr>
        <p:txBody>
          <a:bodyPr wrap="square" rtlCol="0">
            <a:spAutoFit/>
          </a:bodyPr>
          <a:lstStyle/>
          <a:p>
            <a:pPr algn="ctr"/>
            <a:r>
              <a:rPr lang="en-US" sz="1400" dirty="0">
                <a:latin typeface="Meiryo UI" panose="020B0604030504040204" pitchFamily="34" charset="-128"/>
                <a:ea typeface="Meiryo UI" panose="020B0604030504040204" pitchFamily="34" charset="-128"/>
              </a:rPr>
              <a:t>The above Horizontal bar graph of Residence type shows that for both populations, most of the residence type is </a:t>
            </a:r>
            <a:r>
              <a:rPr lang="en-US" sz="1400" b="1" dirty="0">
                <a:latin typeface="Meiryo UI" panose="020B0604030504040204" pitchFamily="34" charset="-128"/>
                <a:ea typeface="Meiryo UI" panose="020B0604030504040204" pitchFamily="34" charset="-128"/>
              </a:rPr>
              <a:t>Urban</a:t>
            </a:r>
            <a:r>
              <a:rPr lang="en-US" sz="1400" dirty="0">
                <a:latin typeface="Meiryo UI" panose="020B0604030504040204" pitchFamily="34" charset="-128"/>
                <a:ea typeface="Meiryo UI" panose="020B0604030504040204" pitchFamily="34" charset="-128"/>
              </a:rPr>
              <a:t>.</a:t>
            </a:r>
          </a:p>
        </p:txBody>
      </p:sp>
    </p:spTree>
    <p:extLst>
      <p:ext uri="{BB962C8B-B14F-4D97-AF65-F5344CB8AC3E}">
        <p14:creationId xmlns:p14="http://schemas.microsoft.com/office/powerpoint/2010/main" val="5524455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51" name="Arrow: Pentagon 50">
            <a:extLst>
              <a:ext uri="{FF2B5EF4-FFF2-40B4-BE49-F238E27FC236}">
                <a16:creationId xmlns:a16="http://schemas.microsoft.com/office/drawing/2014/main" id="{AB3124B7-1106-4CDA-9D54-61FEF502AE8C}"/>
              </a:ext>
            </a:extLst>
          </p:cNvPr>
          <p:cNvSpPr/>
          <p:nvPr/>
        </p:nvSpPr>
        <p:spPr>
          <a:xfrm>
            <a:off x="-2894" y="-24035"/>
            <a:ext cx="2573502" cy="688824"/>
          </a:xfrm>
          <a:prstGeom prst="homePlat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t>Average Glucose Level Analysis</a:t>
            </a:r>
          </a:p>
        </p:txBody>
      </p:sp>
      <p:pic>
        <p:nvPicPr>
          <p:cNvPr id="20481" name="Picture 1" descr="Scatter plot to show the effect of age on glucose levels">
            <a:extLst>
              <a:ext uri="{FF2B5EF4-FFF2-40B4-BE49-F238E27FC236}">
                <a16:creationId xmlns:a16="http://schemas.microsoft.com/office/drawing/2014/main" id="{88525CB6-EFCD-4FEB-A433-A36CEEF8A10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257" y="892173"/>
            <a:ext cx="5140727" cy="4265263"/>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19FBA71B-F2D5-4AF7-9F7D-0AA1E3D467E4}"/>
              </a:ext>
            </a:extLst>
          </p:cNvPr>
          <p:cNvSpPr txBox="1"/>
          <p:nvPr/>
        </p:nvSpPr>
        <p:spPr>
          <a:xfrm>
            <a:off x="8797489" y="1807211"/>
            <a:ext cx="3144253" cy="954107"/>
          </a:xfrm>
          <a:prstGeom prst="rect">
            <a:avLst/>
          </a:prstGeom>
          <a:noFill/>
          <a:ln>
            <a:solidFill>
              <a:srgbClr val="0070C0"/>
            </a:solidFill>
            <a:prstDash val="dashDot"/>
          </a:ln>
        </p:spPr>
        <p:txBody>
          <a:bodyPr wrap="square" rtlCol="0">
            <a:spAutoFit/>
          </a:bodyPr>
          <a:lstStyle/>
          <a:p>
            <a:pPr algn="ctr"/>
            <a:r>
              <a:rPr lang="en-US" sz="1400" dirty="0">
                <a:latin typeface="Meiryo UI" panose="020B0604030504040204" pitchFamily="34" charset="-128"/>
                <a:ea typeface="Meiryo UI" panose="020B0604030504040204" pitchFamily="34" charset="-128"/>
              </a:rPr>
              <a:t>The tree map on the left shows most stroke positive victims had normal blood sugar levels but a substantial portion had diabetes.</a:t>
            </a:r>
          </a:p>
        </p:txBody>
      </p:sp>
      <p:sp>
        <p:nvSpPr>
          <p:cNvPr id="10" name="TextBox 9">
            <a:extLst>
              <a:ext uri="{FF2B5EF4-FFF2-40B4-BE49-F238E27FC236}">
                <a16:creationId xmlns:a16="http://schemas.microsoft.com/office/drawing/2014/main" id="{8E1CA00F-B704-43F1-A6CB-A528D1D296BD}"/>
              </a:ext>
            </a:extLst>
          </p:cNvPr>
          <p:cNvSpPr txBox="1"/>
          <p:nvPr/>
        </p:nvSpPr>
        <p:spPr>
          <a:xfrm>
            <a:off x="8797489" y="4602695"/>
            <a:ext cx="3144253" cy="1169551"/>
          </a:xfrm>
          <a:prstGeom prst="rect">
            <a:avLst/>
          </a:prstGeom>
          <a:noFill/>
          <a:ln>
            <a:solidFill>
              <a:srgbClr val="0070C0"/>
            </a:solidFill>
            <a:prstDash val="dashDot"/>
          </a:ln>
        </p:spPr>
        <p:txBody>
          <a:bodyPr wrap="square" rtlCol="0">
            <a:spAutoFit/>
          </a:bodyPr>
          <a:lstStyle/>
          <a:p>
            <a:pPr algn="ctr"/>
            <a:r>
              <a:rPr lang="en-US" sz="1400" dirty="0">
                <a:latin typeface="Meiryo UI" panose="020B0604030504040204" pitchFamily="34" charset="-128"/>
                <a:ea typeface="Meiryo UI" panose="020B0604030504040204" pitchFamily="34" charset="-128"/>
              </a:rPr>
              <a:t>The tree map on the left shows most stroke negative cases had normal blood sugar with pre-diabetes and diabetes occupying a lower portion (almost equally.)</a:t>
            </a:r>
          </a:p>
        </p:txBody>
      </p:sp>
      <p:graphicFrame>
        <p:nvGraphicFramePr>
          <p:cNvPr id="2" name="Table 4">
            <a:extLst>
              <a:ext uri="{FF2B5EF4-FFF2-40B4-BE49-F238E27FC236}">
                <a16:creationId xmlns:a16="http://schemas.microsoft.com/office/drawing/2014/main" id="{82F76966-4270-431E-B6DC-B25B4A87C8D4}"/>
              </a:ext>
            </a:extLst>
          </p:cNvPr>
          <p:cNvGraphicFramePr>
            <a:graphicFrameLocks noGrp="1"/>
          </p:cNvGraphicFramePr>
          <p:nvPr>
            <p:extLst>
              <p:ext uri="{D42A27DB-BD31-4B8C-83A1-F6EECF244321}">
                <p14:modId xmlns:p14="http://schemas.microsoft.com/office/powerpoint/2010/main" val="3083486877"/>
              </p:ext>
            </p:extLst>
          </p:nvPr>
        </p:nvGraphicFramePr>
        <p:xfrm>
          <a:off x="9098009" y="338489"/>
          <a:ext cx="2543211" cy="1513804"/>
        </p:xfrm>
        <a:graphic>
          <a:graphicData uri="http://schemas.openxmlformats.org/drawingml/2006/table">
            <a:tbl>
              <a:tblPr firstRow="1" bandRow="1">
                <a:tableStyleId>{5C22544A-7EE6-4342-B048-85BDC9FD1C3A}</a:tableStyleId>
              </a:tblPr>
              <a:tblGrid>
                <a:gridCol w="1474807">
                  <a:extLst>
                    <a:ext uri="{9D8B030D-6E8A-4147-A177-3AD203B41FA5}">
                      <a16:colId xmlns:a16="http://schemas.microsoft.com/office/drawing/2014/main" val="3899715463"/>
                    </a:ext>
                  </a:extLst>
                </a:gridCol>
                <a:gridCol w="1068404">
                  <a:extLst>
                    <a:ext uri="{9D8B030D-6E8A-4147-A177-3AD203B41FA5}">
                      <a16:colId xmlns:a16="http://schemas.microsoft.com/office/drawing/2014/main" val="1473464572"/>
                    </a:ext>
                  </a:extLst>
                </a:gridCol>
              </a:tblGrid>
              <a:tr h="288946">
                <a:tc>
                  <a:txBody>
                    <a:bodyPr/>
                    <a:lstStyle/>
                    <a:p>
                      <a:r>
                        <a:rPr lang="en-US" sz="1400" dirty="0">
                          <a:latin typeface="Montserrat" panose="00000500000000000000" pitchFamily="2" charset="0"/>
                        </a:rPr>
                        <a:t>Category</a:t>
                      </a:r>
                    </a:p>
                  </a:txBody>
                  <a:tcPr/>
                </a:tc>
                <a:tc>
                  <a:txBody>
                    <a:bodyPr/>
                    <a:lstStyle/>
                    <a:p>
                      <a:r>
                        <a:rPr lang="en-US" sz="1400" dirty="0">
                          <a:latin typeface="Montserrat" panose="00000500000000000000" pitchFamily="2" charset="0"/>
                        </a:rPr>
                        <a:t>Range</a:t>
                      </a:r>
                    </a:p>
                  </a:txBody>
                  <a:tcPr/>
                </a:tc>
                <a:extLst>
                  <a:ext uri="{0D108BD9-81ED-4DB2-BD59-A6C34878D82A}">
                    <a16:rowId xmlns:a16="http://schemas.microsoft.com/office/drawing/2014/main" val="1910770894"/>
                  </a:ext>
                </a:extLst>
              </a:tr>
              <a:tr h="288946">
                <a:tc>
                  <a:txBody>
                    <a:bodyPr/>
                    <a:lstStyle/>
                    <a:p>
                      <a:r>
                        <a:rPr lang="en-US" sz="1400" dirty="0">
                          <a:latin typeface="Montserrat" panose="00000500000000000000" pitchFamily="2" charset="0"/>
                        </a:rPr>
                        <a:t>Normal</a:t>
                      </a:r>
                    </a:p>
                  </a:txBody>
                  <a:tcPr/>
                </a:tc>
                <a:tc>
                  <a:txBody>
                    <a:bodyPr/>
                    <a:lstStyle/>
                    <a:p>
                      <a:r>
                        <a:rPr lang="en-US" sz="1400" dirty="0">
                          <a:latin typeface="Montserrat" panose="00000500000000000000" pitchFamily="2" charset="0"/>
                        </a:rPr>
                        <a:t>50 - 140</a:t>
                      </a:r>
                    </a:p>
                  </a:txBody>
                  <a:tcPr/>
                </a:tc>
                <a:extLst>
                  <a:ext uri="{0D108BD9-81ED-4DB2-BD59-A6C34878D82A}">
                    <a16:rowId xmlns:a16="http://schemas.microsoft.com/office/drawing/2014/main" val="1302415711"/>
                  </a:ext>
                </a:extLst>
              </a:tr>
              <a:tr h="315868">
                <a:tc>
                  <a:txBody>
                    <a:bodyPr/>
                    <a:lstStyle/>
                    <a:p>
                      <a:r>
                        <a:rPr lang="en-US" sz="1400" dirty="0">
                          <a:latin typeface="Montserrat" panose="00000500000000000000" pitchFamily="2" charset="0"/>
                        </a:rPr>
                        <a:t>Pre-diabetes</a:t>
                      </a:r>
                    </a:p>
                  </a:txBody>
                  <a:tcPr/>
                </a:tc>
                <a:tc>
                  <a:txBody>
                    <a:bodyPr/>
                    <a:lstStyle/>
                    <a:p>
                      <a:r>
                        <a:rPr lang="en-US" sz="1400" dirty="0">
                          <a:latin typeface="Montserrat" panose="00000500000000000000" pitchFamily="2" charset="0"/>
                        </a:rPr>
                        <a:t>141 - 200</a:t>
                      </a:r>
                    </a:p>
                  </a:txBody>
                  <a:tcPr/>
                </a:tc>
                <a:extLst>
                  <a:ext uri="{0D108BD9-81ED-4DB2-BD59-A6C34878D82A}">
                    <a16:rowId xmlns:a16="http://schemas.microsoft.com/office/drawing/2014/main" val="2409410571"/>
                  </a:ext>
                </a:extLst>
              </a:tr>
              <a:tr h="386044">
                <a:tc>
                  <a:txBody>
                    <a:bodyPr/>
                    <a:lstStyle/>
                    <a:p>
                      <a:r>
                        <a:rPr lang="en-US" sz="1400" dirty="0">
                          <a:latin typeface="Montserrat" panose="00000500000000000000" pitchFamily="2" charset="0"/>
                        </a:rPr>
                        <a:t>Diabetes</a:t>
                      </a:r>
                    </a:p>
                  </a:txBody>
                  <a:tcPr/>
                </a:tc>
                <a:tc>
                  <a:txBody>
                    <a:bodyPr/>
                    <a:lstStyle/>
                    <a:p>
                      <a:r>
                        <a:rPr lang="en-US" sz="1400" dirty="0">
                          <a:latin typeface="Montserrat" panose="00000500000000000000" pitchFamily="2" charset="0"/>
                        </a:rPr>
                        <a:t>200 + </a:t>
                      </a:r>
                    </a:p>
                  </a:txBody>
                  <a:tcPr/>
                </a:tc>
                <a:extLst>
                  <a:ext uri="{0D108BD9-81ED-4DB2-BD59-A6C34878D82A}">
                    <a16:rowId xmlns:a16="http://schemas.microsoft.com/office/drawing/2014/main" val="3518044708"/>
                  </a:ext>
                </a:extLst>
              </a:tr>
            </a:tbl>
          </a:graphicData>
        </a:graphic>
      </p:graphicFrame>
      <p:pic>
        <p:nvPicPr>
          <p:cNvPr id="24577" name="Picture 1" descr="Stroke Positives">
            <a:extLst>
              <a:ext uri="{FF2B5EF4-FFF2-40B4-BE49-F238E27FC236}">
                <a16:creationId xmlns:a16="http://schemas.microsoft.com/office/drawing/2014/main" id="{076DA435-5E77-454B-8893-E92CF34D0F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11305" y="320377"/>
            <a:ext cx="2333625" cy="3019425"/>
          </a:xfrm>
          <a:prstGeom prst="rect">
            <a:avLst/>
          </a:prstGeom>
          <a:noFill/>
          <a:extLst>
            <a:ext uri="{909E8E84-426E-40DD-AFC4-6F175D3DCCD1}">
              <a14:hiddenFill xmlns:a14="http://schemas.microsoft.com/office/drawing/2010/main">
                <a:solidFill>
                  <a:srgbClr val="FFFFFF"/>
                </a:solidFill>
              </a14:hiddenFill>
            </a:ext>
          </a:extLst>
        </p:spPr>
      </p:pic>
      <p:pic>
        <p:nvPicPr>
          <p:cNvPr id="25601" name="Picture 1" descr="Stroke Negatives">
            <a:extLst>
              <a:ext uri="{FF2B5EF4-FFF2-40B4-BE49-F238E27FC236}">
                <a16:creationId xmlns:a16="http://schemas.microsoft.com/office/drawing/2014/main" id="{9999ECA5-EE25-42D7-9872-6AC3640B3A8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22280" y="3708698"/>
            <a:ext cx="2333625" cy="282892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7DDD585D-884C-4700-8986-B49B4A3AF32F}"/>
              </a:ext>
            </a:extLst>
          </p:cNvPr>
          <p:cNvSpPr txBox="1"/>
          <p:nvPr/>
        </p:nvSpPr>
        <p:spPr>
          <a:xfrm>
            <a:off x="357809" y="5534108"/>
            <a:ext cx="4818490" cy="523220"/>
          </a:xfrm>
          <a:prstGeom prst="rect">
            <a:avLst/>
          </a:prstGeom>
          <a:noFill/>
          <a:ln>
            <a:solidFill>
              <a:srgbClr val="0070C0"/>
            </a:solidFill>
            <a:prstDash val="dashDot"/>
          </a:ln>
        </p:spPr>
        <p:txBody>
          <a:bodyPr wrap="square" rtlCol="0">
            <a:spAutoFit/>
          </a:bodyPr>
          <a:lstStyle/>
          <a:p>
            <a:pPr algn="ctr"/>
            <a:r>
              <a:rPr lang="en-US" sz="1400" dirty="0">
                <a:latin typeface="Meiryo UI" panose="020B0604030504040204" pitchFamily="34" charset="-128"/>
                <a:ea typeface="Meiryo UI" panose="020B0604030504040204" pitchFamily="34" charset="-128"/>
              </a:rPr>
              <a:t>The scatter plot above shows that as age increases, so does the glucose levels.</a:t>
            </a:r>
          </a:p>
        </p:txBody>
      </p:sp>
    </p:spTree>
    <p:extLst>
      <p:ext uri="{BB962C8B-B14F-4D97-AF65-F5344CB8AC3E}">
        <p14:creationId xmlns:p14="http://schemas.microsoft.com/office/powerpoint/2010/main" val="42242315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51" name="Arrow: Pentagon 50">
            <a:extLst>
              <a:ext uri="{FF2B5EF4-FFF2-40B4-BE49-F238E27FC236}">
                <a16:creationId xmlns:a16="http://schemas.microsoft.com/office/drawing/2014/main" id="{AB3124B7-1106-4CDA-9D54-61FEF502AE8C}"/>
              </a:ext>
            </a:extLst>
          </p:cNvPr>
          <p:cNvSpPr/>
          <p:nvPr/>
        </p:nvSpPr>
        <p:spPr>
          <a:xfrm>
            <a:off x="0" y="0"/>
            <a:ext cx="2573502" cy="688824"/>
          </a:xfrm>
          <a:prstGeom prst="homePlat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t>BMI and Heart Disease Analysis</a:t>
            </a:r>
          </a:p>
        </p:txBody>
      </p:sp>
      <p:pic>
        <p:nvPicPr>
          <p:cNvPr id="30721" name="Picture 1" descr="BMI pie chart of positive cases">
            <a:extLst>
              <a:ext uri="{FF2B5EF4-FFF2-40B4-BE49-F238E27FC236}">
                <a16:creationId xmlns:a16="http://schemas.microsoft.com/office/drawing/2014/main" id="{CE67D0D1-E325-46CF-820F-137504B772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0513" y="1795754"/>
            <a:ext cx="3696385" cy="3105224"/>
          </a:xfrm>
          <a:prstGeom prst="rect">
            <a:avLst/>
          </a:prstGeom>
          <a:noFill/>
          <a:extLst>
            <a:ext uri="{909E8E84-426E-40DD-AFC4-6F175D3DCCD1}">
              <a14:hiddenFill xmlns:a14="http://schemas.microsoft.com/office/drawing/2010/main">
                <a:solidFill>
                  <a:srgbClr val="FFFFFF"/>
                </a:solidFill>
              </a14:hiddenFill>
            </a:ext>
          </a:extLst>
        </p:spPr>
      </p:pic>
      <p:pic>
        <p:nvPicPr>
          <p:cNvPr id="31745" name="Picture 1" descr="BMI chart of Negative cases">
            <a:extLst>
              <a:ext uri="{FF2B5EF4-FFF2-40B4-BE49-F238E27FC236}">
                <a16:creationId xmlns:a16="http://schemas.microsoft.com/office/drawing/2014/main" id="{18E8A287-3339-4A3C-8647-11AFD629BC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12332" y="1795754"/>
            <a:ext cx="3810314" cy="3105224"/>
          </a:xfrm>
          <a:prstGeom prst="rect">
            <a:avLst/>
          </a:prstGeom>
          <a:noFill/>
          <a:extLst>
            <a:ext uri="{909E8E84-426E-40DD-AFC4-6F175D3DCCD1}">
              <a14:hiddenFill xmlns:a14="http://schemas.microsoft.com/office/drawing/2010/main">
                <a:solidFill>
                  <a:srgbClr val="FFFFFF"/>
                </a:solidFill>
              </a14:hiddenFill>
            </a:ext>
          </a:extLst>
        </p:spPr>
      </p:pic>
      <p:cxnSp>
        <p:nvCxnSpPr>
          <p:cNvPr id="4" name="Straight Connector 3">
            <a:extLst>
              <a:ext uri="{FF2B5EF4-FFF2-40B4-BE49-F238E27FC236}">
                <a16:creationId xmlns:a16="http://schemas.microsoft.com/office/drawing/2014/main" id="{7117661E-B53F-4F21-B342-B3D30E5231F0}"/>
              </a:ext>
            </a:extLst>
          </p:cNvPr>
          <p:cNvCxnSpPr/>
          <p:nvPr/>
        </p:nvCxnSpPr>
        <p:spPr>
          <a:xfrm>
            <a:off x="8778240" y="320377"/>
            <a:ext cx="0" cy="6263303"/>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pic>
        <p:nvPicPr>
          <p:cNvPr id="32769" name="Picture 1" descr="Heart Disease Cases within Population">
            <a:extLst>
              <a:ext uri="{FF2B5EF4-FFF2-40B4-BE49-F238E27FC236}">
                <a16:creationId xmlns:a16="http://schemas.microsoft.com/office/drawing/2014/main" id="{FEDB92FF-AD2C-46BB-8143-896D19E587A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39572" y="320376"/>
            <a:ext cx="3072042" cy="3414225"/>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3A6334B6-375B-40D3-9C8E-2F640E3204CC}"/>
              </a:ext>
            </a:extLst>
          </p:cNvPr>
          <p:cNvSpPr txBox="1"/>
          <p:nvPr/>
        </p:nvSpPr>
        <p:spPr>
          <a:xfrm>
            <a:off x="2410029" y="5290198"/>
            <a:ext cx="4204606" cy="1169551"/>
          </a:xfrm>
          <a:prstGeom prst="rect">
            <a:avLst/>
          </a:prstGeom>
          <a:noFill/>
          <a:ln>
            <a:solidFill>
              <a:srgbClr val="0070C0"/>
            </a:solidFill>
            <a:prstDash val="dashDot"/>
          </a:ln>
        </p:spPr>
        <p:txBody>
          <a:bodyPr wrap="square" rtlCol="0">
            <a:spAutoFit/>
          </a:bodyPr>
          <a:lstStyle/>
          <a:p>
            <a:pPr algn="ctr"/>
            <a:r>
              <a:rPr lang="en-US" sz="1400" dirty="0">
                <a:latin typeface="Meiryo UI" panose="020B0604030504040204" pitchFamily="34" charset="-128"/>
                <a:ea typeface="Meiryo UI" panose="020B0604030504040204" pitchFamily="34" charset="-128"/>
              </a:rPr>
              <a:t>The above pie charts show that most people in both samples are overweight/obese but you will note that in the negative cases, the proportions of normal and underweight are more compared to in the positive cases.</a:t>
            </a:r>
          </a:p>
        </p:txBody>
      </p:sp>
      <p:sp>
        <p:nvSpPr>
          <p:cNvPr id="9" name="TextBox 8">
            <a:extLst>
              <a:ext uri="{FF2B5EF4-FFF2-40B4-BE49-F238E27FC236}">
                <a16:creationId xmlns:a16="http://schemas.microsoft.com/office/drawing/2014/main" id="{C6D13BC5-6C8A-460E-85BA-9F8255BD3B24}"/>
              </a:ext>
            </a:extLst>
          </p:cNvPr>
          <p:cNvSpPr txBox="1"/>
          <p:nvPr/>
        </p:nvSpPr>
        <p:spPr>
          <a:xfrm>
            <a:off x="9133407" y="4423925"/>
            <a:ext cx="2884371" cy="954107"/>
          </a:xfrm>
          <a:prstGeom prst="rect">
            <a:avLst/>
          </a:prstGeom>
          <a:noFill/>
          <a:ln>
            <a:solidFill>
              <a:srgbClr val="0070C0"/>
            </a:solidFill>
            <a:prstDash val="dashDot"/>
          </a:ln>
        </p:spPr>
        <p:txBody>
          <a:bodyPr wrap="square" rtlCol="0">
            <a:spAutoFit/>
          </a:bodyPr>
          <a:lstStyle/>
          <a:p>
            <a:pPr algn="ctr"/>
            <a:r>
              <a:rPr lang="en-US" sz="1400" dirty="0">
                <a:latin typeface="Meiryo UI" panose="020B0604030504040204" pitchFamily="34" charset="-128"/>
                <a:ea typeface="Meiryo UI" panose="020B0604030504040204" pitchFamily="34" charset="-128"/>
              </a:rPr>
              <a:t>The tornado chart above shows that for both samples, most people did not have a heart disease</a:t>
            </a:r>
          </a:p>
        </p:txBody>
      </p:sp>
      <p:graphicFrame>
        <p:nvGraphicFramePr>
          <p:cNvPr id="10" name="Table 4">
            <a:extLst>
              <a:ext uri="{FF2B5EF4-FFF2-40B4-BE49-F238E27FC236}">
                <a16:creationId xmlns:a16="http://schemas.microsoft.com/office/drawing/2014/main" id="{F843F5DF-2AF7-4D5C-B366-7D1BF67279E3}"/>
              </a:ext>
            </a:extLst>
          </p:cNvPr>
          <p:cNvGraphicFramePr>
            <a:graphicFrameLocks noGrp="1"/>
          </p:cNvGraphicFramePr>
          <p:nvPr>
            <p:extLst>
              <p:ext uri="{D42A27DB-BD31-4B8C-83A1-F6EECF244321}">
                <p14:modId xmlns:p14="http://schemas.microsoft.com/office/powerpoint/2010/main" val="759674966"/>
              </p:ext>
            </p:extLst>
          </p:nvPr>
        </p:nvGraphicFramePr>
        <p:xfrm>
          <a:off x="5779435" y="169987"/>
          <a:ext cx="2543211" cy="1859280"/>
        </p:xfrm>
        <a:graphic>
          <a:graphicData uri="http://schemas.openxmlformats.org/drawingml/2006/table">
            <a:tbl>
              <a:tblPr firstRow="1" bandRow="1">
                <a:tableStyleId>{5C22544A-7EE6-4342-B048-85BDC9FD1C3A}</a:tableStyleId>
              </a:tblPr>
              <a:tblGrid>
                <a:gridCol w="1728270">
                  <a:extLst>
                    <a:ext uri="{9D8B030D-6E8A-4147-A177-3AD203B41FA5}">
                      <a16:colId xmlns:a16="http://schemas.microsoft.com/office/drawing/2014/main" val="3899715463"/>
                    </a:ext>
                  </a:extLst>
                </a:gridCol>
                <a:gridCol w="814941">
                  <a:extLst>
                    <a:ext uri="{9D8B030D-6E8A-4147-A177-3AD203B41FA5}">
                      <a16:colId xmlns:a16="http://schemas.microsoft.com/office/drawing/2014/main" val="1473464572"/>
                    </a:ext>
                  </a:extLst>
                </a:gridCol>
              </a:tblGrid>
              <a:tr h="288946">
                <a:tc>
                  <a:txBody>
                    <a:bodyPr/>
                    <a:lstStyle/>
                    <a:p>
                      <a:r>
                        <a:rPr lang="en-US" sz="1400" dirty="0">
                          <a:latin typeface="Montserrat" panose="00000500000000000000" pitchFamily="2" charset="0"/>
                        </a:rPr>
                        <a:t>Category</a:t>
                      </a:r>
                    </a:p>
                  </a:txBody>
                  <a:tcPr/>
                </a:tc>
                <a:tc>
                  <a:txBody>
                    <a:bodyPr/>
                    <a:lstStyle/>
                    <a:p>
                      <a:r>
                        <a:rPr lang="en-US" sz="1400" dirty="0">
                          <a:latin typeface="Montserrat" panose="00000500000000000000" pitchFamily="2" charset="0"/>
                        </a:rPr>
                        <a:t>Range</a:t>
                      </a:r>
                    </a:p>
                  </a:txBody>
                  <a:tcPr/>
                </a:tc>
                <a:extLst>
                  <a:ext uri="{0D108BD9-81ED-4DB2-BD59-A6C34878D82A}">
                    <a16:rowId xmlns:a16="http://schemas.microsoft.com/office/drawing/2014/main" val="1910770894"/>
                  </a:ext>
                </a:extLst>
              </a:tr>
              <a:tr h="288946">
                <a:tc>
                  <a:txBody>
                    <a:bodyPr/>
                    <a:lstStyle/>
                    <a:p>
                      <a:r>
                        <a:rPr lang="en-US" sz="1400" dirty="0">
                          <a:latin typeface="Montserrat" panose="00000500000000000000" pitchFamily="2" charset="0"/>
                        </a:rPr>
                        <a:t>Underweight</a:t>
                      </a:r>
                    </a:p>
                  </a:txBody>
                  <a:tcPr/>
                </a:tc>
                <a:tc>
                  <a:txBody>
                    <a:bodyPr/>
                    <a:lstStyle/>
                    <a:p>
                      <a:r>
                        <a:rPr lang="en-US" sz="1400" dirty="0">
                          <a:latin typeface="Montserrat" panose="00000500000000000000" pitchFamily="2" charset="0"/>
                        </a:rPr>
                        <a:t>10 - 18</a:t>
                      </a:r>
                    </a:p>
                  </a:txBody>
                  <a:tcPr/>
                </a:tc>
                <a:extLst>
                  <a:ext uri="{0D108BD9-81ED-4DB2-BD59-A6C34878D82A}">
                    <a16:rowId xmlns:a16="http://schemas.microsoft.com/office/drawing/2014/main" val="1302415711"/>
                  </a:ext>
                </a:extLst>
              </a:tr>
              <a:tr h="315868">
                <a:tc>
                  <a:txBody>
                    <a:bodyPr/>
                    <a:lstStyle/>
                    <a:p>
                      <a:r>
                        <a:rPr lang="en-US" sz="1400" dirty="0">
                          <a:latin typeface="Montserrat" panose="00000500000000000000" pitchFamily="2" charset="0"/>
                        </a:rPr>
                        <a:t>Normal</a:t>
                      </a:r>
                    </a:p>
                  </a:txBody>
                  <a:tcPr/>
                </a:tc>
                <a:tc>
                  <a:txBody>
                    <a:bodyPr/>
                    <a:lstStyle/>
                    <a:p>
                      <a:r>
                        <a:rPr lang="en-US" sz="1400" dirty="0">
                          <a:latin typeface="Montserrat" panose="00000500000000000000" pitchFamily="2" charset="0"/>
                        </a:rPr>
                        <a:t>19 - 24</a:t>
                      </a:r>
                    </a:p>
                  </a:txBody>
                  <a:tcPr/>
                </a:tc>
                <a:extLst>
                  <a:ext uri="{0D108BD9-81ED-4DB2-BD59-A6C34878D82A}">
                    <a16:rowId xmlns:a16="http://schemas.microsoft.com/office/drawing/2014/main" val="2409410571"/>
                  </a:ext>
                </a:extLst>
              </a:tr>
              <a:tr h="386044">
                <a:tc>
                  <a:txBody>
                    <a:bodyPr/>
                    <a:lstStyle/>
                    <a:p>
                      <a:r>
                        <a:rPr lang="en-US" sz="1400" dirty="0">
                          <a:latin typeface="Montserrat" panose="00000500000000000000" pitchFamily="2" charset="0"/>
                        </a:rPr>
                        <a:t>Overweight &amp; Obese</a:t>
                      </a:r>
                    </a:p>
                  </a:txBody>
                  <a:tcPr/>
                </a:tc>
                <a:tc>
                  <a:txBody>
                    <a:bodyPr/>
                    <a:lstStyle/>
                    <a:p>
                      <a:r>
                        <a:rPr lang="en-US" sz="1400" dirty="0">
                          <a:latin typeface="Montserrat" panose="00000500000000000000" pitchFamily="2" charset="0"/>
                        </a:rPr>
                        <a:t>24 +</a:t>
                      </a:r>
                    </a:p>
                  </a:txBody>
                  <a:tcPr/>
                </a:tc>
                <a:extLst>
                  <a:ext uri="{0D108BD9-81ED-4DB2-BD59-A6C34878D82A}">
                    <a16:rowId xmlns:a16="http://schemas.microsoft.com/office/drawing/2014/main" val="3518044708"/>
                  </a:ext>
                </a:extLst>
              </a:tr>
            </a:tbl>
          </a:graphicData>
        </a:graphic>
      </p:graphicFrame>
    </p:spTree>
    <p:extLst>
      <p:ext uri="{BB962C8B-B14F-4D97-AF65-F5344CB8AC3E}">
        <p14:creationId xmlns:p14="http://schemas.microsoft.com/office/powerpoint/2010/main" val="4779724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51" name="Arrow: Pentagon 50">
            <a:extLst>
              <a:ext uri="{FF2B5EF4-FFF2-40B4-BE49-F238E27FC236}">
                <a16:creationId xmlns:a16="http://schemas.microsoft.com/office/drawing/2014/main" id="{AB3124B7-1106-4CDA-9D54-61FEF502AE8C}"/>
              </a:ext>
            </a:extLst>
          </p:cNvPr>
          <p:cNvSpPr/>
          <p:nvPr/>
        </p:nvSpPr>
        <p:spPr>
          <a:xfrm>
            <a:off x="-2894" y="-24036"/>
            <a:ext cx="2573502" cy="938435"/>
          </a:xfrm>
          <a:prstGeom prst="homePlat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t>Hypertension and Smoking Status</a:t>
            </a:r>
          </a:p>
          <a:p>
            <a:pPr algn="ctr"/>
            <a:r>
              <a:rPr lang="en-US" sz="2000" b="1" dirty="0"/>
              <a:t>Analysis</a:t>
            </a:r>
          </a:p>
        </p:txBody>
      </p:sp>
      <p:cxnSp>
        <p:nvCxnSpPr>
          <p:cNvPr id="4" name="Straight Connector 3">
            <a:extLst>
              <a:ext uri="{FF2B5EF4-FFF2-40B4-BE49-F238E27FC236}">
                <a16:creationId xmlns:a16="http://schemas.microsoft.com/office/drawing/2014/main" id="{A5EDFBBC-15AF-46EC-B309-A2F49E157206}"/>
              </a:ext>
            </a:extLst>
          </p:cNvPr>
          <p:cNvCxnSpPr/>
          <p:nvPr/>
        </p:nvCxnSpPr>
        <p:spPr>
          <a:xfrm>
            <a:off x="8239225" y="336884"/>
            <a:ext cx="0" cy="6343049"/>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69CD100F-4F40-44B6-A94C-4AAE8B09499B}"/>
              </a:ext>
            </a:extLst>
          </p:cNvPr>
          <p:cNvSpPr txBox="1"/>
          <p:nvPr/>
        </p:nvSpPr>
        <p:spPr>
          <a:xfrm>
            <a:off x="721894" y="5688531"/>
            <a:ext cx="6266047" cy="523220"/>
          </a:xfrm>
          <a:prstGeom prst="rect">
            <a:avLst/>
          </a:prstGeom>
          <a:noFill/>
          <a:ln>
            <a:solidFill>
              <a:srgbClr val="0070C0"/>
            </a:solidFill>
            <a:prstDash val="dashDot"/>
          </a:ln>
        </p:spPr>
        <p:txBody>
          <a:bodyPr wrap="square" rtlCol="0">
            <a:spAutoFit/>
          </a:bodyPr>
          <a:lstStyle/>
          <a:p>
            <a:pPr algn="ctr"/>
            <a:r>
              <a:rPr lang="en-US" sz="1400" dirty="0">
                <a:latin typeface="Meiryo UI" panose="020B0604030504040204" pitchFamily="34" charset="-128"/>
                <a:ea typeface="Meiryo UI" panose="020B0604030504040204" pitchFamily="34" charset="-128"/>
              </a:rPr>
              <a:t>This shows that generally most people from positive and negative cases are not smokers.</a:t>
            </a:r>
          </a:p>
        </p:txBody>
      </p:sp>
      <p:pic>
        <p:nvPicPr>
          <p:cNvPr id="35841" name="Picture 1" descr="Hypertension Cases within Population">
            <a:extLst>
              <a:ext uri="{FF2B5EF4-FFF2-40B4-BE49-F238E27FC236}">
                <a16:creationId xmlns:a16="http://schemas.microsoft.com/office/drawing/2014/main" id="{756255B4-E09E-4538-AF02-A098156A4E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56751" y="336884"/>
            <a:ext cx="3429803" cy="4186377"/>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140AEABE-6CAA-4669-929E-1F96BEDE70F4}"/>
              </a:ext>
            </a:extLst>
          </p:cNvPr>
          <p:cNvSpPr txBox="1"/>
          <p:nvPr/>
        </p:nvSpPr>
        <p:spPr>
          <a:xfrm>
            <a:off x="8710728" y="5084559"/>
            <a:ext cx="3121847" cy="954107"/>
          </a:xfrm>
          <a:prstGeom prst="rect">
            <a:avLst/>
          </a:prstGeom>
          <a:noFill/>
          <a:ln>
            <a:solidFill>
              <a:srgbClr val="0070C0"/>
            </a:solidFill>
            <a:prstDash val="dashDot"/>
          </a:ln>
        </p:spPr>
        <p:txBody>
          <a:bodyPr wrap="square" rtlCol="0">
            <a:spAutoFit/>
          </a:bodyPr>
          <a:lstStyle/>
          <a:p>
            <a:pPr algn="ctr"/>
            <a:r>
              <a:rPr lang="en-US" sz="1400" dirty="0">
                <a:latin typeface="Meiryo UI" panose="020B0604030504040204" pitchFamily="34" charset="-128"/>
                <a:ea typeface="Meiryo UI" panose="020B0604030504040204" pitchFamily="34" charset="-128"/>
              </a:rPr>
              <a:t>The above chart shows that for both positive and negative cases, most of the people did not have hypertension</a:t>
            </a:r>
          </a:p>
        </p:txBody>
      </p:sp>
      <p:pic>
        <p:nvPicPr>
          <p:cNvPr id="3073" name="Picture 1" descr="Bar Graph to show Smoking Status in the population">
            <a:extLst>
              <a:ext uri="{FF2B5EF4-FFF2-40B4-BE49-F238E27FC236}">
                <a16:creationId xmlns:a16="http://schemas.microsoft.com/office/drawing/2014/main" id="{DEEBCC95-534C-46F8-929F-914A9C3944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8168" y="1060990"/>
            <a:ext cx="3509904" cy="4392899"/>
          </a:xfrm>
          <a:prstGeom prst="rect">
            <a:avLst/>
          </a:prstGeom>
          <a:noFill/>
          <a:extLst>
            <a:ext uri="{909E8E84-426E-40DD-AFC4-6F175D3DCCD1}">
              <a14:hiddenFill xmlns:a14="http://schemas.microsoft.com/office/drawing/2010/main">
                <a:solidFill>
                  <a:srgbClr val="FFFFFF"/>
                </a:solidFill>
              </a14:hiddenFill>
            </a:ext>
          </a:extLst>
        </p:spPr>
      </p:pic>
      <p:pic>
        <p:nvPicPr>
          <p:cNvPr id="4097" name="Picture 1" descr="Bar graph to show Smoking status by population">
            <a:extLst>
              <a:ext uri="{FF2B5EF4-FFF2-40B4-BE49-F238E27FC236}">
                <a16:creationId xmlns:a16="http://schemas.microsoft.com/office/drawing/2014/main" id="{49F2F093-9D9A-4049-B171-A1615D9CF50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39574" y="1060990"/>
            <a:ext cx="3494608" cy="43928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821939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51" name="Arrow: Pentagon 50">
            <a:extLst>
              <a:ext uri="{FF2B5EF4-FFF2-40B4-BE49-F238E27FC236}">
                <a16:creationId xmlns:a16="http://schemas.microsoft.com/office/drawing/2014/main" id="{AB3124B7-1106-4CDA-9D54-61FEF502AE8C}"/>
              </a:ext>
            </a:extLst>
          </p:cNvPr>
          <p:cNvSpPr/>
          <p:nvPr/>
        </p:nvSpPr>
        <p:spPr>
          <a:xfrm>
            <a:off x="-2894" y="-24035"/>
            <a:ext cx="2573502" cy="688824"/>
          </a:xfrm>
          <a:prstGeom prst="homePlat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t>Research Question</a:t>
            </a:r>
          </a:p>
        </p:txBody>
      </p:sp>
      <p:sp>
        <p:nvSpPr>
          <p:cNvPr id="2" name="TextBox 1">
            <a:extLst>
              <a:ext uri="{FF2B5EF4-FFF2-40B4-BE49-F238E27FC236}">
                <a16:creationId xmlns:a16="http://schemas.microsoft.com/office/drawing/2014/main" id="{D3E706D9-A9CD-4C99-9FA1-A51035A488E1}"/>
              </a:ext>
            </a:extLst>
          </p:cNvPr>
          <p:cNvSpPr txBox="1"/>
          <p:nvPr/>
        </p:nvSpPr>
        <p:spPr>
          <a:xfrm>
            <a:off x="178025" y="922492"/>
            <a:ext cx="11636347" cy="1169551"/>
          </a:xfrm>
          <a:prstGeom prst="rect">
            <a:avLst/>
          </a:prstGeom>
          <a:noFill/>
          <a:ln>
            <a:noFill/>
            <a:prstDash val="dashDot"/>
          </a:ln>
        </p:spPr>
        <p:txBody>
          <a:bodyPr wrap="square" rtlCol="0">
            <a:spAutoFit/>
          </a:bodyPr>
          <a:lstStyle/>
          <a:p>
            <a:pPr marL="285750" indent="-285750">
              <a:buClr>
                <a:srgbClr val="0070C0"/>
              </a:buClr>
              <a:buFont typeface="Wingdings" panose="05000000000000000000" pitchFamily="2" charset="2"/>
              <a:buChar char="Ø"/>
            </a:pPr>
            <a:r>
              <a:rPr lang="en-US" sz="1400" dirty="0">
                <a:latin typeface="Meiryo UI" panose="020B0604030504040204" pitchFamily="34" charset="-128"/>
                <a:ea typeface="Meiryo UI" panose="020B0604030504040204" pitchFamily="34" charset="-128"/>
              </a:rPr>
              <a:t>From our data we notice:</a:t>
            </a:r>
          </a:p>
          <a:p>
            <a:pPr marL="742950" lvl="1" indent="-285750">
              <a:buClr>
                <a:srgbClr val="0070C0"/>
              </a:buClr>
              <a:buFont typeface="Arial" panose="020B0604020202020204" pitchFamily="34" charset="0"/>
              <a:buChar char="•"/>
            </a:pPr>
            <a:r>
              <a:rPr lang="en-US" sz="1400" dirty="0">
                <a:latin typeface="Meiryo UI" panose="020B0604030504040204" pitchFamily="34" charset="-128"/>
                <a:ea typeface="Meiryo UI" panose="020B0604030504040204" pitchFamily="34" charset="-128"/>
              </a:rPr>
              <a:t>People of an older age have the most stroke positive cases.</a:t>
            </a:r>
          </a:p>
          <a:p>
            <a:pPr marL="742950" lvl="1" indent="-285750">
              <a:buClr>
                <a:srgbClr val="0070C0"/>
              </a:buClr>
              <a:buFont typeface="Arial" panose="020B0604020202020204" pitchFamily="34" charset="0"/>
              <a:buChar char="•"/>
            </a:pPr>
            <a:r>
              <a:rPr lang="en-US" sz="1400" b="0" i="0" dirty="0">
                <a:solidFill>
                  <a:srgbClr val="000000"/>
                </a:solidFill>
                <a:effectLst/>
                <a:latin typeface="Meiryo UI" panose="020B0604030504040204" pitchFamily="34" charset="-128"/>
                <a:ea typeface="Meiryo UI" panose="020B0604030504040204" pitchFamily="34" charset="-128"/>
              </a:rPr>
              <a:t>People w</a:t>
            </a:r>
            <a:r>
              <a:rPr lang="en-US" sz="1400" dirty="0">
                <a:solidFill>
                  <a:srgbClr val="000000"/>
                </a:solidFill>
                <a:latin typeface="Meiryo UI" panose="020B0604030504040204" pitchFamily="34" charset="-128"/>
                <a:ea typeface="Meiryo UI" panose="020B0604030504040204" pitchFamily="34" charset="-128"/>
              </a:rPr>
              <a:t>ith high BMI levels have the most stroke positive cases.</a:t>
            </a:r>
          </a:p>
          <a:p>
            <a:pPr marL="742950" lvl="1" indent="-285750">
              <a:buClr>
                <a:srgbClr val="0070C0"/>
              </a:buClr>
              <a:buFont typeface="Arial" panose="020B0604020202020204" pitchFamily="34" charset="0"/>
              <a:buChar char="•"/>
            </a:pPr>
            <a:r>
              <a:rPr lang="en-US" sz="1400" b="0" i="0" dirty="0">
                <a:solidFill>
                  <a:srgbClr val="000000"/>
                </a:solidFill>
                <a:effectLst/>
                <a:latin typeface="Meiryo UI" panose="020B0604030504040204" pitchFamily="34" charset="-128"/>
                <a:ea typeface="Meiryo UI" panose="020B0604030504040204" pitchFamily="34" charset="-128"/>
              </a:rPr>
              <a:t>The data</a:t>
            </a:r>
            <a:r>
              <a:rPr lang="en-US" sz="1400" dirty="0">
                <a:solidFill>
                  <a:srgbClr val="000000"/>
                </a:solidFill>
                <a:latin typeface="Meiryo UI" panose="020B0604030504040204" pitchFamily="34" charset="-128"/>
                <a:ea typeface="Meiryo UI" panose="020B0604030504040204" pitchFamily="34" charset="-128"/>
              </a:rPr>
              <a:t>set is a binary type of dataset therefore for modelling we shall use classification algorithms to find the best model that can be used for prediction.</a:t>
            </a:r>
            <a:endParaRPr lang="en-US" sz="1400" b="0" i="0" dirty="0">
              <a:solidFill>
                <a:srgbClr val="000000"/>
              </a:solidFill>
              <a:effectLst/>
              <a:latin typeface="Meiryo UI" panose="020B0604030504040204" pitchFamily="34" charset="-128"/>
              <a:ea typeface="Meiryo UI" panose="020B0604030504040204" pitchFamily="34" charset="-128"/>
            </a:endParaRPr>
          </a:p>
        </p:txBody>
      </p:sp>
      <p:sp>
        <p:nvSpPr>
          <p:cNvPr id="4" name="TextBox 3">
            <a:extLst>
              <a:ext uri="{FF2B5EF4-FFF2-40B4-BE49-F238E27FC236}">
                <a16:creationId xmlns:a16="http://schemas.microsoft.com/office/drawing/2014/main" id="{2834B181-AAF1-477F-9785-70229FD9A90E}"/>
              </a:ext>
            </a:extLst>
          </p:cNvPr>
          <p:cNvSpPr txBox="1"/>
          <p:nvPr/>
        </p:nvSpPr>
        <p:spPr>
          <a:xfrm>
            <a:off x="178024" y="2620471"/>
            <a:ext cx="11636347" cy="954107"/>
          </a:xfrm>
          <a:prstGeom prst="rect">
            <a:avLst/>
          </a:prstGeom>
          <a:noFill/>
          <a:ln>
            <a:noFill/>
            <a:prstDash val="dashDot"/>
          </a:ln>
        </p:spPr>
        <p:txBody>
          <a:bodyPr wrap="square" rtlCol="0">
            <a:spAutoFit/>
          </a:bodyPr>
          <a:lstStyle/>
          <a:p>
            <a:pPr marL="285750" indent="-285750">
              <a:buClr>
                <a:srgbClr val="0070C0"/>
              </a:buClr>
              <a:buFont typeface="Wingdings" panose="05000000000000000000" pitchFamily="2" charset="2"/>
              <a:buChar char="Ø"/>
            </a:pPr>
            <a:r>
              <a:rPr lang="en-US" sz="1400" b="0" i="0" dirty="0">
                <a:solidFill>
                  <a:srgbClr val="000000"/>
                </a:solidFill>
                <a:effectLst/>
                <a:latin typeface="Meiryo UI" panose="020B0604030504040204" pitchFamily="34" charset="-128"/>
                <a:ea typeface="Meiryo UI" panose="020B0604030504040204" pitchFamily="34" charset="-128"/>
              </a:rPr>
              <a:t>Therefore, our research questions are:</a:t>
            </a:r>
          </a:p>
          <a:p>
            <a:pPr marL="742950" lvl="1" indent="-285750">
              <a:buClr>
                <a:srgbClr val="0070C0"/>
              </a:buClr>
              <a:buFont typeface="Arial" panose="020B0604020202020204" pitchFamily="34" charset="0"/>
              <a:buChar char="•"/>
            </a:pPr>
            <a:r>
              <a:rPr lang="en-US" sz="1400" dirty="0">
                <a:solidFill>
                  <a:srgbClr val="000000"/>
                </a:solidFill>
                <a:latin typeface="Meiryo UI" panose="020B0604030504040204" pitchFamily="34" charset="-128"/>
                <a:ea typeface="Meiryo UI" panose="020B0604030504040204" pitchFamily="34" charset="-128"/>
              </a:rPr>
              <a:t>Is there a significant difference between older men and older women who got a stroke?</a:t>
            </a:r>
          </a:p>
          <a:p>
            <a:pPr marL="742950" lvl="1" indent="-285750">
              <a:buClr>
                <a:srgbClr val="0070C0"/>
              </a:buClr>
              <a:buFont typeface="Arial" panose="020B0604020202020204" pitchFamily="34" charset="0"/>
              <a:buChar char="•"/>
            </a:pPr>
            <a:r>
              <a:rPr lang="en-US" sz="1400" b="0" i="0" dirty="0">
                <a:solidFill>
                  <a:srgbClr val="000000"/>
                </a:solidFill>
                <a:effectLst/>
                <a:latin typeface="Meiryo UI" panose="020B0604030504040204" pitchFamily="34" charset="-128"/>
                <a:ea typeface="Meiryo UI" panose="020B0604030504040204" pitchFamily="34" charset="-128"/>
              </a:rPr>
              <a:t>Is there a significant difference between overweight/obese men and overweight/obese women who got a stroke?</a:t>
            </a:r>
          </a:p>
          <a:p>
            <a:pPr marL="742950" lvl="1" indent="-285750">
              <a:buClr>
                <a:srgbClr val="0070C0"/>
              </a:buClr>
              <a:buFont typeface="Arial" panose="020B0604020202020204" pitchFamily="34" charset="0"/>
              <a:buChar char="•"/>
            </a:pPr>
            <a:r>
              <a:rPr lang="en-US" sz="1400" dirty="0">
                <a:solidFill>
                  <a:srgbClr val="000000"/>
                </a:solidFill>
                <a:latin typeface="Meiryo UI" panose="020B0604030504040204" pitchFamily="34" charset="-128"/>
                <a:ea typeface="Meiryo UI" panose="020B0604030504040204" pitchFamily="34" charset="-128"/>
              </a:rPr>
              <a:t>What is the best model that can be used for stroke prediction? </a:t>
            </a:r>
            <a:endParaRPr lang="en-US" sz="1400" b="0" i="0" dirty="0">
              <a:solidFill>
                <a:srgbClr val="000000"/>
              </a:solidFill>
              <a:effectLst/>
              <a:latin typeface="Meiryo UI" panose="020B0604030504040204" pitchFamily="34" charset="-128"/>
              <a:ea typeface="Meiryo UI" panose="020B0604030504040204" pitchFamily="34" charset="-128"/>
            </a:endParaRPr>
          </a:p>
        </p:txBody>
      </p:sp>
      <p:sp>
        <p:nvSpPr>
          <p:cNvPr id="6" name="TextBox 5">
            <a:extLst>
              <a:ext uri="{FF2B5EF4-FFF2-40B4-BE49-F238E27FC236}">
                <a16:creationId xmlns:a16="http://schemas.microsoft.com/office/drawing/2014/main" id="{B3DBBE33-A4BD-4C42-8ED7-E48F651CD9D2}"/>
              </a:ext>
            </a:extLst>
          </p:cNvPr>
          <p:cNvSpPr txBox="1"/>
          <p:nvPr/>
        </p:nvSpPr>
        <p:spPr>
          <a:xfrm>
            <a:off x="793020" y="4047725"/>
            <a:ext cx="9928926" cy="954107"/>
          </a:xfrm>
          <a:prstGeom prst="rect">
            <a:avLst/>
          </a:prstGeom>
          <a:noFill/>
          <a:ln>
            <a:solidFill>
              <a:srgbClr val="0070C0"/>
            </a:solidFill>
            <a:prstDash val="dashDot"/>
          </a:ln>
        </p:spPr>
        <p:txBody>
          <a:bodyPr wrap="square" rtlCol="0">
            <a:spAutoFit/>
          </a:bodyPr>
          <a:lstStyle/>
          <a:p>
            <a:pPr algn="ctr">
              <a:buClr>
                <a:srgbClr val="0070C0"/>
              </a:buClr>
            </a:pPr>
            <a:r>
              <a:rPr lang="en-US" sz="1400" b="1" i="0" dirty="0">
                <a:solidFill>
                  <a:srgbClr val="000000"/>
                </a:solidFill>
                <a:effectLst/>
                <a:latin typeface="Meiryo UI" panose="020B0604030504040204" pitchFamily="34" charset="-128"/>
                <a:ea typeface="Meiryo UI" panose="020B0604030504040204" pitchFamily="34" charset="-128"/>
              </a:rPr>
              <a:t>Research </a:t>
            </a:r>
            <a:r>
              <a:rPr lang="en-US" sz="1400" b="1" dirty="0">
                <a:solidFill>
                  <a:srgbClr val="000000"/>
                </a:solidFill>
                <a:latin typeface="Meiryo UI" panose="020B0604030504040204" pitchFamily="34" charset="-128"/>
                <a:ea typeface="Meiryo UI" panose="020B0604030504040204" pitchFamily="34" charset="-128"/>
              </a:rPr>
              <a:t>m</a:t>
            </a:r>
            <a:r>
              <a:rPr lang="en-US" sz="1400" b="1" i="0" dirty="0">
                <a:solidFill>
                  <a:srgbClr val="000000"/>
                </a:solidFill>
                <a:effectLst/>
                <a:latin typeface="Meiryo UI" panose="020B0604030504040204" pitchFamily="34" charset="-128"/>
                <a:ea typeface="Meiryo UI" panose="020B0604030504040204" pitchFamily="34" charset="-128"/>
              </a:rPr>
              <a:t>ethodology </a:t>
            </a:r>
          </a:p>
          <a:p>
            <a:pPr algn="ctr">
              <a:buClr>
                <a:srgbClr val="0070C0"/>
              </a:buClr>
            </a:pPr>
            <a:r>
              <a:rPr lang="en-US" sz="1400" dirty="0">
                <a:solidFill>
                  <a:srgbClr val="000000"/>
                </a:solidFill>
                <a:latin typeface="Meiryo UI" panose="020B0604030504040204" pitchFamily="34" charset="-128"/>
                <a:ea typeface="Meiryo UI" panose="020B0604030504040204" pitchFamily="34" charset="-128"/>
              </a:rPr>
              <a:t>To answer our questions we shall use hypothesis testing and for modelling we will try out the following classification methods: </a:t>
            </a:r>
            <a:r>
              <a:rPr lang="en-US" sz="1400" b="0" i="0" dirty="0">
                <a:solidFill>
                  <a:srgbClr val="000000"/>
                </a:solidFill>
                <a:effectLst/>
                <a:latin typeface="Meiryo UI" panose="020B0604030504040204" pitchFamily="34" charset="-128"/>
                <a:ea typeface="Meiryo UI" panose="020B0604030504040204" pitchFamily="34" charset="-128"/>
              </a:rPr>
              <a:t>Logistic Regression,</a:t>
            </a:r>
            <a:r>
              <a:rPr lang="en-US" sz="1400" dirty="0">
                <a:solidFill>
                  <a:srgbClr val="000000"/>
                </a:solidFill>
                <a:latin typeface="Meiryo UI" panose="020B0604030504040204" pitchFamily="34" charset="-128"/>
                <a:ea typeface="Meiryo UI" panose="020B0604030504040204" pitchFamily="34" charset="-128"/>
              </a:rPr>
              <a:t> Random Forest, Naïve Bayes, </a:t>
            </a:r>
            <a:r>
              <a:rPr lang="en-US" sz="1400" b="0" i="0" dirty="0">
                <a:solidFill>
                  <a:srgbClr val="000000"/>
                </a:solidFill>
                <a:effectLst/>
                <a:latin typeface="Meiryo UI" panose="020B0604030504040204" pitchFamily="34" charset="-128"/>
                <a:ea typeface="Meiryo UI" panose="020B0604030504040204" pitchFamily="34" charset="-128"/>
              </a:rPr>
              <a:t>KNN</a:t>
            </a:r>
            <a:r>
              <a:rPr lang="en-US" sz="1400" dirty="0">
                <a:solidFill>
                  <a:srgbClr val="000000"/>
                </a:solidFill>
                <a:latin typeface="Meiryo UI" panose="020B0604030504040204" pitchFamily="34" charset="-128"/>
                <a:ea typeface="Meiryo UI" panose="020B0604030504040204" pitchFamily="34" charset="-128"/>
              </a:rPr>
              <a:t> and Support Vector Classifier.</a:t>
            </a:r>
            <a:endParaRPr lang="en-US" sz="1400" i="1" dirty="0">
              <a:solidFill>
                <a:srgbClr val="000000"/>
              </a:solidFill>
              <a:latin typeface="Meiryo UI" panose="020B0604030504040204" pitchFamily="34" charset="-128"/>
              <a:ea typeface="Meiryo UI" panose="020B0604030504040204" pitchFamily="34" charset="-128"/>
            </a:endParaRPr>
          </a:p>
          <a:p>
            <a:pPr algn="ctr">
              <a:buClr>
                <a:srgbClr val="0070C0"/>
              </a:buClr>
            </a:pPr>
            <a:r>
              <a:rPr lang="en-US" sz="1400" b="1" i="1" dirty="0">
                <a:solidFill>
                  <a:srgbClr val="000000"/>
                </a:solidFill>
                <a:effectLst/>
                <a:latin typeface="Meiryo UI" panose="020B0604030504040204" pitchFamily="34" charset="-128"/>
                <a:ea typeface="Meiryo UI" panose="020B0604030504040204" pitchFamily="34" charset="-128"/>
              </a:rPr>
              <a:t>Details </a:t>
            </a:r>
            <a:r>
              <a:rPr lang="en-US" sz="1400" b="1" i="1" dirty="0">
                <a:solidFill>
                  <a:srgbClr val="000000"/>
                </a:solidFill>
                <a:latin typeface="Meiryo UI" panose="020B0604030504040204" pitchFamily="34" charset="-128"/>
                <a:ea typeface="Meiryo UI" panose="020B0604030504040204" pitchFamily="34" charset="-128"/>
              </a:rPr>
              <a:t>of the tests and modelling can be found in the attached notebook.</a:t>
            </a:r>
            <a:endParaRPr lang="en-US" sz="1400" b="1" i="1" dirty="0">
              <a:solidFill>
                <a:srgbClr val="000000"/>
              </a:solidFill>
              <a:effectLst/>
              <a:latin typeface="Meiryo UI" panose="020B0604030504040204" pitchFamily="34" charset="-128"/>
              <a:ea typeface="Meiryo UI" panose="020B0604030504040204" pitchFamily="34" charset="-128"/>
            </a:endParaRPr>
          </a:p>
        </p:txBody>
      </p:sp>
    </p:spTree>
    <p:extLst>
      <p:ext uri="{BB962C8B-B14F-4D97-AF65-F5344CB8AC3E}">
        <p14:creationId xmlns:p14="http://schemas.microsoft.com/office/powerpoint/2010/main" val="40391092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51" name="Arrow: Pentagon 50">
            <a:extLst>
              <a:ext uri="{FF2B5EF4-FFF2-40B4-BE49-F238E27FC236}">
                <a16:creationId xmlns:a16="http://schemas.microsoft.com/office/drawing/2014/main" id="{AB3124B7-1106-4CDA-9D54-61FEF502AE8C}"/>
              </a:ext>
            </a:extLst>
          </p:cNvPr>
          <p:cNvSpPr/>
          <p:nvPr/>
        </p:nvSpPr>
        <p:spPr>
          <a:xfrm>
            <a:off x="-2894" y="-24035"/>
            <a:ext cx="2573502" cy="688824"/>
          </a:xfrm>
          <a:prstGeom prst="homePlat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t>Hypothesis Testing</a:t>
            </a:r>
          </a:p>
        </p:txBody>
      </p:sp>
      <p:pic>
        <p:nvPicPr>
          <p:cNvPr id="37889" name="Picture 1" descr="Overweight/Obese portions for positive cases">
            <a:extLst>
              <a:ext uri="{FF2B5EF4-FFF2-40B4-BE49-F238E27FC236}">
                <a16:creationId xmlns:a16="http://schemas.microsoft.com/office/drawing/2014/main" id="{5289184A-4463-4B9B-9092-8C9967BD772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46" y="886881"/>
            <a:ext cx="3177217" cy="2732281"/>
          </a:xfrm>
          <a:prstGeom prst="rect">
            <a:avLst/>
          </a:prstGeom>
          <a:noFill/>
          <a:extLst>
            <a:ext uri="{909E8E84-426E-40DD-AFC4-6F175D3DCCD1}">
              <a14:hiddenFill xmlns:a14="http://schemas.microsoft.com/office/drawing/2010/main">
                <a:solidFill>
                  <a:srgbClr val="FFFFFF"/>
                </a:solidFill>
              </a14:hiddenFill>
            </a:ext>
          </a:extLst>
        </p:spPr>
      </p:pic>
      <p:cxnSp>
        <p:nvCxnSpPr>
          <p:cNvPr id="4" name="Straight Connector 3">
            <a:extLst>
              <a:ext uri="{FF2B5EF4-FFF2-40B4-BE49-F238E27FC236}">
                <a16:creationId xmlns:a16="http://schemas.microsoft.com/office/drawing/2014/main" id="{FB26A5CB-39A3-4C9A-A5C9-0F0CA660ADDF}"/>
              </a:ext>
            </a:extLst>
          </p:cNvPr>
          <p:cNvCxnSpPr>
            <a:cxnSpLocks/>
          </p:cNvCxnSpPr>
          <p:nvPr/>
        </p:nvCxnSpPr>
        <p:spPr>
          <a:xfrm>
            <a:off x="6020474" y="145657"/>
            <a:ext cx="0" cy="6465536"/>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80200EF1-A1C7-4977-9CAF-F0BE31F31B54}"/>
              </a:ext>
            </a:extLst>
          </p:cNvPr>
          <p:cNvSpPr txBox="1"/>
          <p:nvPr/>
        </p:nvSpPr>
        <p:spPr>
          <a:xfrm>
            <a:off x="3520035" y="886881"/>
            <a:ext cx="2346690" cy="1231106"/>
          </a:xfrm>
          <a:prstGeom prst="rect">
            <a:avLst/>
          </a:prstGeom>
          <a:noFill/>
          <a:ln>
            <a:solidFill>
              <a:srgbClr val="0070C0"/>
            </a:solidFill>
            <a:prstDash val="dash"/>
          </a:ln>
        </p:spPr>
        <p:txBody>
          <a:bodyPr wrap="square" rtlCol="0">
            <a:spAutoFit/>
          </a:bodyPr>
          <a:lstStyle/>
          <a:p>
            <a:r>
              <a:rPr lang="en-US" dirty="0"/>
              <a:t>H</a:t>
            </a:r>
            <a:r>
              <a:rPr lang="en-US" baseline="-25000" dirty="0"/>
              <a:t>0</a:t>
            </a:r>
            <a:r>
              <a:rPr lang="en-US" dirty="0"/>
              <a:t>: </a:t>
            </a:r>
            <a:r>
              <a:rPr lang="en-US" sz="1400" dirty="0">
                <a:latin typeface="Meiryo UI" panose="020B0604030504040204" pitchFamily="34" charset="-128"/>
                <a:ea typeface="Meiryo UI" panose="020B0604030504040204" pitchFamily="34" charset="-128"/>
              </a:rPr>
              <a:t>Overweight/obese men are just as likely to get a stroke as overweight/obese women.</a:t>
            </a:r>
            <a:endParaRPr lang="en-US" sz="1400" baseline="-25000" dirty="0">
              <a:latin typeface="Meiryo UI" panose="020B0604030504040204" pitchFamily="34" charset="-128"/>
              <a:ea typeface="Meiryo UI" panose="020B0604030504040204" pitchFamily="34" charset="-128"/>
            </a:endParaRPr>
          </a:p>
        </p:txBody>
      </p:sp>
      <p:sp>
        <p:nvSpPr>
          <p:cNvPr id="9" name="TextBox 8">
            <a:extLst>
              <a:ext uri="{FF2B5EF4-FFF2-40B4-BE49-F238E27FC236}">
                <a16:creationId xmlns:a16="http://schemas.microsoft.com/office/drawing/2014/main" id="{C1C70243-2F50-4466-A725-A24382B7F9B8}"/>
              </a:ext>
            </a:extLst>
          </p:cNvPr>
          <p:cNvSpPr txBox="1"/>
          <p:nvPr/>
        </p:nvSpPr>
        <p:spPr>
          <a:xfrm>
            <a:off x="3520035" y="2309731"/>
            <a:ext cx="2346690" cy="1231106"/>
          </a:xfrm>
          <a:prstGeom prst="rect">
            <a:avLst/>
          </a:prstGeom>
          <a:noFill/>
          <a:ln>
            <a:solidFill>
              <a:srgbClr val="0070C0"/>
            </a:solidFill>
            <a:prstDash val="dash"/>
          </a:ln>
        </p:spPr>
        <p:txBody>
          <a:bodyPr wrap="square" rtlCol="0">
            <a:spAutoFit/>
          </a:bodyPr>
          <a:lstStyle/>
          <a:p>
            <a:r>
              <a:rPr lang="en-US" dirty="0"/>
              <a:t>H</a:t>
            </a:r>
            <a:r>
              <a:rPr lang="en-US" baseline="-25000" dirty="0"/>
              <a:t>a</a:t>
            </a:r>
            <a:r>
              <a:rPr lang="en-US" dirty="0"/>
              <a:t>: </a:t>
            </a:r>
            <a:r>
              <a:rPr lang="en-US" sz="1400" dirty="0">
                <a:latin typeface="Meiryo UI" panose="020B0604030504040204" pitchFamily="34" charset="-128"/>
                <a:ea typeface="Meiryo UI" panose="020B0604030504040204" pitchFamily="34" charset="-128"/>
              </a:rPr>
              <a:t>Overweight/obese men are not as likely to get a stroke as overweight/obese women.</a:t>
            </a:r>
            <a:endParaRPr lang="en-US" sz="1400" baseline="-25000" dirty="0">
              <a:latin typeface="Meiryo UI" panose="020B0604030504040204" pitchFamily="34" charset="-128"/>
              <a:ea typeface="Meiryo UI" panose="020B0604030504040204" pitchFamily="34" charset="-128"/>
            </a:endParaRPr>
          </a:p>
        </p:txBody>
      </p:sp>
      <p:sp>
        <p:nvSpPr>
          <p:cNvPr id="7" name="TextBox 6">
            <a:extLst>
              <a:ext uri="{FF2B5EF4-FFF2-40B4-BE49-F238E27FC236}">
                <a16:creationId xmlns:a16="http://schemas.microsoft.com/office/drawing/2014/main" id="{C53248A4-183D-4A70-9BF5-478CAF6D8E59}"/>
              </a:ext>
            </a:extLst>
          </p:cNvPr>
          <p:cNvSpPr txBox="1"/>
          <p:nvPr/>
        </p:nvSpPr>
        <p:spPr>
          <a:xfrm>
            <a:off x="213346" y="3841254"/>
            <a:ext cx="1796432" cy="523220"/>
          </a:xfrm>
          <a:prstGeom prst="rect">
            <a:avLst/>
          </a:prstGeom>
          <a:noFill/>
          <a:ln>
            <a:solidFill>
              <a:srgbClr val="0070C0"/>
            </a:solidFill>
            <a:prstDash val="dash"/>
          </a:ln>
        </p:spPr>
        <p:txBody>
          <a:bodyPr wrap="square" rtlCol="0">
            <a:spAutoFit/>
          </a:bodyPr>
          <a:lstStyle/>
          <a:p>
            <a:r>
              <a:rPr lang="en-US" sz="1400" dirty="0">
                <a:latin typeface="Meiryo UI" panose="020B0604030504040204" pitchFamily="34" charset="-128"/>
                <a:ea typeface="Meiryo UI" panose="020B0604030504040204" pitchFamily="34" charset="-128"/>
              </a:rPr>
              <a:t>H</a:t>
            </a:r>
            <a:r>
              <a:rPr lang="en-US" sz="1400" baseline="-25000" dirty="0">
                <a:latin typeface="Meiryo UI" panose="020B0604030504040204" pitchFamily="34" charset="-128"/>
                <a:ea typeface="Meiryo UI" panose="020B0604030504040204" pitchFamily="34" charset="-128"/>
              </a:rPr>
              <a:t>0</a:t>
            </a:r>
            <a:r>
              <a:rPr lang="en-US" sz="1400" dirty="0">
                <a:latin typeface="Meiryo UI" panose="020B0604030504040204" pitchFamily="34" charset="-128"/>
                <a:ea typeface="Meiryo UI" panose="020B0604030504040204" pitchFamily="34" charset="-128"/>
              </a:rPr>
              <a:t>: p</a:t>
            </a:r>
            <a:r>
              <a:rPr lang="en-US" sz="1400" baseline="-25000" dirty="0">
                <a:latin typeface="Meiryo UI" panose="020B0604030504040204" pitchFamily="34" charset="-128"/>
                <a:ea typeface="Meiryo UI" panose="020B0604030504040204" pitchFamily="34" charset="-128"/>
              </a:rPr>
              <a:t>men</a:t>
            </a:r>
            <a:r>
              <a:rPr lang="en-US" sz="1400" dirty="0">
                <a:latin typeface="Meiryo UI" panose="020B0604030504040204" pitchFamily="34" charset="-128"/>
                <a:ea typeface="Meiryo UI" panose="020B0604030504040204" pitchFamily="34" charset="-128"/>
              </a:rPr>
              <a:t> = p</a:t>
            </a:r>
            <a:r>
              <a:rPr lang="en-US" sz="1400" baseline="-25000" dirty="0">
                <a:latin typeface="Meiryo UI" panose="020B0604030504040204" pitchFamily="34" charset="-128"/>
                <a:ea typeface="Meiryo UI" panose="020B0604030504040204" pitchFamily="34" charset="-128"/>
              </a:rPr>
              <a:t>women</a:t>
            </a:r>
          </a:p>
          <a:p>
            <a:r>
              <a:rPr lang="en-US" sz="1400" dirty="0">
                <a:latin typeface="Meiryo UI" panose="020B0604030504040204" pitchFamily="34" charset="-128"/>
                <a:ea typeface="Meiryo UI" panose="020B0604030504040204" pitchFamily="34" charset="-128"/>
              </a:rPr>
              <a:t>H</a:t>
            </a:r>
            <a:r>
              <a:rPr lang="en-US" sz="1400" baseline="-25000" dirty="0">
                <a:latin typeface="Meiryo UI" panose="020B0604030504040204" pitchFamily="34" charset="-128"/>
                <a:ea typeface="Meiryo UI" panose="020B0604030504040204" pitchFamily="34" charset="-128"/>
              </a:rPr>
              <a:t>a</a:t>
            </a:r>
            <a:r>
              <a:rPr lang="en-US" sz="1400" dirty="0">
                <a:latin typeface="Meiryo UI" panose="020B0604030504040204" pitchFamily="34" charset="-128"/>
                <a:ea typeface="Meiryo UI" panose="020B0604030504040204" pitchFamily="34" charset="-128"/>
              </a:rPr>
              <a:t>: p</a:t>
            </a:r>
            <a:r>
              <a:rPr lang="en-US" sz="1400" baseline="-25000" dirty="0">
                <a:latin typeface="Meiryo UI" panose="020B0604030504040204" pitchFamily="34" charset="-128"/>
                <a:ea typeface="Meiryo UI" panose="020B0604030504040204" pitchFamily="34" charset="-128"/>
              </a:rPr>
              <a:t>men</a:t>
            </a:r>
            <a:r>
              <a:rPr lang="en-US" sz="1400" dirty="0">
                <a:latin typeface="Meiryo UI" panose="020B0604030504040204" pitchFamily="34" charset="-128"/>
                <a:ea typeface="Meiryo UI" panose="020B0604030504040204" pitchFamily="34" charset="-128"/>
              </a:rPr>
              <a:t> </a:t>
            </a:r>
            <a:r>
              <a:rPr lang="en-US" sz="1400" b="0" i="0" dirty="0">
                <a:solidFill>
                  <a:srgbClr val="202124"/>
                </a:solidFill>
                <a:effectLst/>
                <a:latin typeface="Meiryo UI" panose="020B0604030504040204" pitchFamily="34" charset="-128"/>
                <a:ea typeface="Meiryo UI" panose="020B0604030504040204" pitchFamily="34" charset="-128"/>
              </a:rPr>
              <a:t>≠</a:t>
            </a:r>
            <a:r>
              <a:rPr lang="en-US" sz="1400" dirty="0">
                <a:latin typeface="Meiryo UI" panose="020B0604030504040204" pitchFamily="34" charset="-128"/>
                <a:ea typeface="Meiryo UI" panose="020B0604030504040204" pitchFamily="34" charset="-128"/>
              </a:rPr>
              <a:t> p</a:t>
            </a:r>
            <a:r>
              <a:rPr lang="en-US" sz="1400" baseline="-25000" dirty="0">
                <a:latin typeface="Meiryo UI" panose="020B0604030504040204" pitchFamily="34" charset="-128"/>
                <a:ea typeface="Meiryo UI" panose="020B0604030504040204" pitchFamily="34" charset="-128"/>
              </a:rPr>
              <a:t>women</a:t>
            </a:r>
          </a:p>
        </p:txBody>
      </p:sp>
      <p:sp>
        <p:nvSpPr>
          <p:cNvPr id="11" name="TextBox 10">
            <a:extLst>
              <a:ext uri="{FF2B5EF4-FFF2-40B4-BE49-F238E27FC236}">
                <a16:creationId xmlns:a16="http://schemas.microsoft.com/office/drawing/2014/main" id="{FD617BB3-C9B5-43CC-B2C3-3C4A65124B1A}"/>
              </a:ext>
            </a:extLst>
          </p:cNvPr>
          <p:cNvSpPr txBox="1"/>
          <p:nvPr/>
        </p:nvSpPr>
        <p:spPr>
          <a:xfrm>
            <a:off x="213346" y="4586566"/>
            <a:ext cx="3306690" cy="1169551"/>
          </a:xfrm>
          <a:prstGeom prst="rect">
            <a:avLst/>
          </a:prstGeom>
          <a:noFill/>
          <a:ln>
            <a:solidFill>
              <a:srgbClr val="0070C0"/>
            </a:solidFill>
            <a:prstDash val="dash"/>
          </a:ln>
        </p:spPr>
        <p:txBody>
          <a:bodyPr wrap="square" rtlCol="0">
            <a:spAutoFit/>
          </a:bodyPr>
          <a:lstStyle/>
          <a:p>
            <a:r>
              <a:rPr lang="en-US" sz="1400" dirty="0">
                <a:latin typeface="Meiryo UI" panose="020B0604030504040204" pitchFamily="34" charset="-128"/>
                <a:ea typeface="Meiryo UI" panose="020B0604030504040204" pitchFamily="34" charset="-128"/>
              </a:rPr>
              <a:t>Standard error of estimate: 0.0342</a:t>
            </a:r>
            <a:endParaRPr lang="en-US" sz="1400" baseline="-25000" dirty="0">
              <a:latin typeface="Meiryo UI" panose="020B0604030504040204" pitchFamily="34" charset="-128"/>
              <a:ea typeface="Meiryo UI" panose="020B0604030504040204" pitchFamily="34" charset="-128"/>
            </a:endParaRPr>
          </a:p>
          <a:p>
            <a:r>
              <a:rPr lang="en-US" sz="1400" dirty="0">
                <a:latin typeface="Meiryo UI" panose="020B0604030504040204" pitchFamily="34" charset="-128"/>
                <a:ea typeface="Meiryo UI" panose="020B0604030504040204" pitchFamily="34" charset="-128"/>
              </a:rPr>
              <a:t>Test statistic:  -2.0483</a:t>
            </a:r>
          </a:p>
          <a:p>
            <a:r>
              <a:rPr lang="en-US" sz="1400" dirty="0">
                <a:latin typeface="Meiryo UI" panose="020B0604030504040204" pitchFamily="34" charset="-128"/>
                <a:ea typeface="Meiryo UI" panose="020B0604030504040204" pitchFamily="34" charset="-128"/>
              </a:rPr>
              <a:t>P-value: 0.0405</a:t>
            </a:r>
          </a:p>
          <a:p>
            <a:r>
              <a:rPr lang="en-US" sz="1400" dirty="0">
                <a:latin typeface="Meiryo UI" panose="020B0604030504040204" pitchFamily="34" charset="-128"/>
                <a:ea typeface="Meiryo UI" panose="020B0604030504040204" pitchFamily="34" charset="-128"/>
              </a:rPr>
              <a:t>Significance level: 0.05</a:t>
            </a:r>
          </a:p>
          <a:p>
            <a:r>
              <a:rPr lang="en-US" sz="1400" dirty="0">
                <a:latin typeface="Meiryo UI" panose="020B0604030504040204" pitchFamily="34" charset="-128"/>
                <a:ea typeface="Meiryo UI" panose="020B0604030504040204" pitchFamily="34" charset="-128"/>
              </a:rPr>
              <a:t>P-value &lt; 0.05</a:t>
            </a:r>
          </a:p>
        </p:txBody>
      </p:sp>
      <p:sp>
        <p:nvSpPr>
          <p:cNvPr id="8" name="TextBox 7">
            <a:extLst>
              <a:ext uri="{FF2B5EF4-FFF2-40B4-BE49-F238E27FC236}">
                <a16:creationId xmlns:a16="http://schemas.microsoft.com/office/drawing/2014/main" id="{DABEC29B-9A81-4C6A-98D3-074EC9F3F233}"/>
              </a:ext>
            </a:extLst>
          </p:cNvPr>
          <p:cNvSpPr txBox="1"/>
          <p:nvPr/>
        </p:nvSpPr>
        <p:spPr>
          <a:xfrm>
            <a:off x="213346" y="6190407"/>
            <a:ext cx="5588640" cy="523220"/>
          </a:xfrm>
          <a:prstGeom prst="rect">
            <a:avLst/>
          </a:prstGeom>
          <a:noFill/>
        </p:spPr>
        <p:txBody>
          <a:bodyPr wrap="square" rtlCol="0">
            <a:spAutoFit/>
          </a:bodyPr>
          <a:lstStyle/>
          <a:p>
            <a:r>
              <a:rPr lang="en-US" sz="1400" b="1" dirty="0">
                <a:latin typeface="Meiryo UI" panose="020B0604030504040204" pitchFamily="34" charset="-128"/>
                <a:ea typeface="Meiryo UI" panose="020B0604030504040204" pitchFamily="34" charset="-128"/>
              </a:rPr>
              <a:t>We therefore reject the null hypothesis and accept the alternate</a:t>
            </a:r>
          </a:p>
        </p:txBody>
      </p:sp>
      <p:pic>
        <p:nvPicPr>
          <p:cNvPr id="40961" name="Picture 1" descr="Male and female 50+ age portions">
            <a:extLst>
              <a:ext uri="{FF2B5EF4-FFF2-40B4-BE49-F238E27FC236}">
                <a16:creationId xmlns:a16="http://schemas.microsoft.com/office/drawing/2014/main" id="{7168A1F0-DC27-46EE-AA92-66C00BF098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42010" y="886881"/>
            <a:ext cx="3120517" cy="2732281"/>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007AABA4-6A02-4E78-8F3B-973628D77282}"/>
              </a:ext>
            </a:extLst>
          </p:cNvPr>
          <p:cNvSpPr txBox="1"/>
          <p:nvPr/>
        </p:nvSpPr>
        <p:spPr>
          <a:xfrm>
            <a:off x="6194607" y="888633"/>
            <a:ext cx="2346690" cy="800219"/>
          </a:xfrm>
          <a:prstGeom prst="rect">
            <a:avLst/>
          </a:prstGeom>
          <a:noFill/>
          <a:ln>
            <a:solidFill>
              <a:srgbClr val="0070C0"/>
            </a:solidFill>
            <a:prstDash val="dash"/>
          </a:ln>
        </p:spPr>
        <p:txBody>
          <a:bodyPr wrap="square" rtlCol="0">
            <a:spAutoFit/>
          </a:bodyPr>
          <a:lstStyle/>
          <a:p>
            <a:r>
              <a:rPr lang="en-US" dirty="0"/>
              <a:t>H</a:t>
            </a:r>
            <a:r>
              <a:rPr lang="en-US" baseline="-25000" dirty="0"/>
              <a:t>0</a:t>
            </a:r>
            <a:r>
              <a:rPr lang="en-US" dirty="0"/>
              <a:t>: </a:t>
            </a:r>
            <a:r>
              <a:rPr lang="en-US" sz="1400" b="0" i="0" dirty="0">
                <a:solidFill>
                  <a:srgbClr val="000000"/>
                </a:solidFill>
                <a:effectLst/>
                <a:latin typeface="Helvetica Neue"/>
              </a:rPr>
              <a:t>Older men are as likely to get a stroke as older women</a:t>
            </a:r>
            <a:r>
              <a:rPr lang="en-US" sz="1400" dirty="0">
                <a:latin typeface="Meiryo UI" panose="020B0604030504040204" pitchFamily="34" charset="-128"/>
                <a:ea typeface="Meiryo UI" panose="020B0604030504040204" pitchFamily="34" charset="-128"/>
              </a:rPr>
              <a:t>.</a:t>
            </a:r>
            <a:endParaRPr lang="en-US" sz="1400" baseline="-25000" dirty="0">
              <a:latin typeface="Meiryo UI" panose="020B0604030504040204" pitchFamily="34" charset="-128"/>
              <a:ea typeface="Meiryo UI" panose="020B0604030504040204" pitchFamily="34" charset="-128"/>
            </a:endParaRPr>
          </a:p>
        </p:txBody>
      </p:sp>
      <p:sp>
        <p:nvSpPr>
          <p:cNvPr id="13" name="TextBox 12">
            <a:extLst>
              <a:ext uri="{FF2B5EF4-FFF2-40B4-BE49-F238E27FC236}">
                <a16:creationId xmlns:a16="http://schemas.microsoft.com/office/drawing/2014/main" id="{E2362576-83A8-43EB-BF0E-43DB69040B62}"/>
              </a:ext>
            </a:extLst>
          </p:cNvPr>
          <p:cNvSpPr txBox="1"/>
          <p:nvPr/>
        </p:nvSpPr>
        <p:spPr>
          <a:xfrm>
            <a:off x="6194607" y="2032578"/>
            <a:ext cx="2346690" cy="800219"/>
          </a:xfrm>
          <a:prstGeom prst="rect">
            <a:avLst/>
          </a:prstGeom>
          <a:noFill/>
          <a:ln>
            <a:solidFill>
              <a:srgbClr val="0070C0"/>
            </a:solidFill>
            <a:prstDash val="dash"/>
          </a:ln>
        </p:spPr>
        <p:txBody>
          <a:bodyPr wrap="square" rtlCol="0">
            <a:spAutoFit/>
          </a:bodyPr>
          <a:lstStyle/>
          <a:p>
            <a:r>
              <a:rPr lang="en-US" dirty="0"/>
              <a:t>H</a:t>
            </a:r>
            <a:r>
              <a:rPr lang="en-US" baseline="-25000" dirty="0"/>
              <a:t>a</a:t>
            </a:r>
            <a:r>
              <a:rPr lang="en-US" dirty="0"/>
              <a:t>: </a:t>
            </a:r>
            <a:r>
              <a:rPr lang="en-US" sz="1400" b="0" i="0" dirty="0">
                <a:solidFill>
                  <a:srgbClr val="000000"/>
                </a:solidFill>
                <a:effectLst/>
                <a:latin typeface="Helvetica Neue"/>
              </a:rPr>
              <a:t>Older men are not as likely to get a stroke as older women.</a:t>
            </a:r>
            <a:endParaRPr lang="en-US" sz="1400" baseline="-25000" dirty="0">
              <a:latin typeface="Meiryo UI" panose="020B0604030504040204" pitchFamily="34" charset="-128"/>
              <a:ea typeface="Meiryo UI" panose="020B0604030504040204" pitchFamily="34" charset="-128"/>
            </a:endParaRPr>
          </a:p>
        </p:txBody>
      </p:sp>
      <p:sp>
        <p:nvSpPr>
          <p:cNvPr id="14" name="TextBox 13">
            <a:extLst>
              <a:ext uri="{FF2B5EF4-FFF2-40B4-BE49-F238E27FC236}">
                <a16:creationId xmlns:a16="http://schemas.microsoft.com/office/drawing/2014/main" id="{372947B2-B5D4-465C-9E6D-0D775B9FDF2E}"/>
              </a:ext>
            </a:extLst>
          </p:cNvPr>
          <p:cNvSpPr txBox="1"/>
          <p:nvPr/>
        </p:nvSpPr>
        <p:spPr>
          <a:xfrm>
            <a:off x="6194607" y="3046519"/>
            <a:ext cx="1796432" cy="523220"/>
          </a:xfrm>
          <a:prstGeom prst="rect">
            <a:avLst/>
          </a:prstGeom>
          <a:noFill/>
          <a:ln>
            <a:solidFill>
              <a:srgbClr val="0070C0"/>
            </a:solidFill>
            <a:prstDash val="dash"/>
          </a:ln>
        </p:spPr>
        <p:txBody>
          <a:bodyPr wrap="square" rtlCol="0">
            <a:spAutoFit/>
          </a:bodyPr>
          <a:lstStyle/>
          <a:p>
            <a:r>
              <a:rPr lang="en-US" sz="1400" dirty="0">
                <a:latin typeface="Meiryo UI" panose="020B0604030504040204" pitchFamily="34" charset="-128"/>
                <a:ea typeface="Meiryo UI" panose="020B0604030504040204" pitchFamily="34" charset="-128"/>
              </a:rPr>
              <a:t>H</a:t>
            </a:r>
            <a:r>
              <a:rPr lang="en-US" sz="1400" baseline="-25000" dirty="0">
                <a:latin typeface="Meiryo UI" panose="020B0604030504040204" pitchFamily="34" charset="-128"/>
                <a:ea typeface="Meiryo UI" panose="020B0604030504040204" pitchFamily="34" charset="-128"/>
              </a:rPr>
              <a:t>0</a:t>
            </a:r>
            <a:r>
              <a:rPr lang="en-US" sz="1400" dirty="0">
                <a:latin typeface="Meiryo UI" panose="020B0604030504040204" pitchFamily="34" charset="-128"/>
                <a:ea typeface="Meiryo UI" panose="020B0604030504040204" pitchFamily="34" charset="-128"/>
              </a:rPr>
              <a:t>: p</a:t>
            </a:r>
            <a:r>
              <a:rPr lang="en-US" sz="1400" baseline="-25000" dirty="0">
                <a:latin typeface="Meiryo UI" panose="020B0604030504040204" pitchFamily="34" charset="-128"/>
                <a:ea typeface="Meiryo UI" panose="020B0604030504040204" pitchFamily="34" charset="-128"/>
              </a:rPr>
              <a:t>men</a:t>
            </a:r>
            <a:r>
              <a:rPr lang="en-US" sz="1400" dirty="0">
                <a:latin typeface="Meiryo UI" panose="020B0604030504040204" pitchFamily="34" charset="-128"/>
                <a:ea typeface="Meiryo UI" panose="020B0604030504040204" pitchFamily="34" charset="-128"/>
              </a:rPr>
              <a:t> = p</a:t>
            </a:r>
            <a:r>
              <a:rPr lang="en-US" sz="1400" baseline="-25000" dirty="0">
                <a:latin typeface="Meiryo UI" panose="020B0604030504040204" pitchFamily="34" charset="-128"/>
                <a:ea typeface="Meiryo UI" panose="020B0604030504040204" pitchFamily="34" charset="-128"/>
              </a:rPr>
              <a:t>women</a:t>
            </a:r>
          </a:p>
          <a:p>
            <a:r>
              <a:rPr lang="en-US" sz="1400" dirty="0">
                <a:latin typeface="Meiryo UI" panose="020B0604030504040204" pitchFamily="34" charset="-128"/>
                <a:ea typeface="Meiryo UI" panose="020B0604030504040204" pitchFamily="34" charset="-128"/>
              </a:rPr>
              <a:t>H</a:t>
            </a:r>
            <a:r>
              <a:rPr lang="en-US" sz="1400" baseline="-25000" dirty="0">
                <a:latin typeface="Meiryo UI" panose="020B0604030504040204" pitchFamily="34" charset="-128"/>
                <a:ea typeface="Meiryo UI" panose="020B0604030504040204" pitchFamily="34" charset="-128"/>
              </a:rPr>
              <a:t>a</a:t>
            </a:r>
            <a:r>
              <a:rPr lang="en-US" sz="1400" dirty="0">
                <a:latin typeface="Meiryo UI" panose="020B0604030504040204" pitchFamily="34" charset="-128"/>
                <a:ea typeface="Meiryo UI" panose="020B0604030504040204" pitchFamily="34" charset="-128"/>
              </a:rPr>
              <a:t>: p</a:t>
            </a:r>
            <a:r>
              <a:rPr lang="en-US" sz="1400" baseline="-25000" dirty="0">
                <a:latin typeface="Meiryo UI" panose="020B0604030504040204" pitchFamily="34" charset="-128"/>
                <a:ea typeface="Meiryo UI" panose="020B0604030504040204" pitchFamily="34" charset="-128"/>
              </a:rPr>
              <a:t>men</a:t>
            </a:r>
            <a:r>
              <a:rPr lang="en-US" sz="1400" dirty="0">
                <a:latin typeface="Meiryo UI" panose="020B0604030504040204" pitchFamily="34" charset="-128"/>
                <a:ea typeface="Meiryo UI" panose="020B0604030504040204" pitchFamily="34" charset="-128"/>
              </a:rPr>
              <a:t> </a:t>
            </a:r>
            <a:r>
              <a:rPr lang="en-US" sz="1400" b="0" i="0" dirty="0">
                <a:solidFill>
                  <a:srgbClr val="202124"/>
                </a:solidFill>
                <a:effectLst/>
                <a:latin typeface="Meiryo UI" panose="020B0604030504040204" pitchFamily="34" charset="-128"/>
                <a:ea typeface="Meiryo UI" panose="020B0604030504040204" pitchFamily="34" charset="-128"/>
              </a:rPr>
              <a:t>≠</a:t>
            </a:r>
            <a:r>
              <a:rPr lang="en-US" sz="1400" dirty="0">
                <a:latin typeface="Meiryo UI" panose="020B0604030504040204" pitchFamily="34" charset="-128"/>
                <a:ea typeface="Meiryo UI" panose="020B0604030504040204" pitchFamily="34" charset="-128"/>
              </a:rPr>
              <a:t> p</a:t>
            </a:r>
            <a:r>
              <a:rPr lang="en-US" sz="1400" baseline="-25000" dirty="0">
                <a:latin typeface="Meiryo UI" panose="020B0604030504040204" pitchFamily="34" charset="-128"/>
                <a:ea typeface="Meiryo UI" panose="020B0604030504040204" pitchFamily="34" charset="-128"/>
              </a:rPr>
              <a:t>women</a:t>
            </a:r>
          </a:p>
        </p:txBody>
      </p:sp>
      <p:sp>
        <p:nvSpPr>
          <p:cNvPr id="15" name="TextBox 14">
            <a:extLst>
              <a:ext uri="{FF2B5EF4-FFF2-40B4-BE49-F238E27FC236}">
                <a16:creationId xmlns:a16="http://schemas.microsoft.com/office/drawing/2014/main" id="{DFCC7C13-78E2-413C-9FD8-6E6F1458B9C5}"/>
              </a:ext>
            </a:extLst>
          </p:cNvPr>
          <p:cNvSpPr txBox="1"/>
          <p:nvPr/>
        </p:nvSpPr>
        <p:spPr>
          <a:xfrm>
            <a:off x="6194607" y="4001790"/>
            <a:ext cx="3306690" cy="1169551"/>
          </a:xfrm>
          <a:prstGeom prst="rect">
            <a:avLst/>
          </a:prstGeom>
          <a:noFill/>
          <a:ln>
            <a:solidFill>
              <a:srgbClr val="0070C0"/>
            </a:solidFill>
            <a:prstDash val="dash"/>
          </a:ln>
        </p:spPr>
        <p:txBody>
          <a:bodyPr wrap="square" rtlCol="0">
            <a:spAutoFit/>
          </a:bodyPr>
          <a:lstStyle/>
          <a:p>
            <a:r>
              <a:rPr lang="en-US" sz="1400" dirty="0">
                <a:latin typeface="Meiryo UI" panose="020B0604030504040204" pitchFamily="34" charset="-128"/>
                <a:ea typeface="Meiryo UI" panose="020B0604030504040204" pitchFamily="34" charset="-128"/>
              </a:rPr>
              <a:t>Standard error of estimate: 0.0331</a:t>
            </a:r>
            <a:endParaRPr lang="en-US" sz="1400" baseline="-25000" dirty="0">
              <a:latin typeface="Meiryo UI" panose="020B0604030504040204" pitchFamily="34" charset="-128"/>
              <a:ea typeface="Meiryo UI" panose="020B0604030504040204" pitchFamily="34" charset="-128"/>
            </a:endParaRPr>
          </a:p>
          <a:p>
            <a:r>
              <a:rPr lang="en-US" sz="1400" dirty="0">
                <a:latin typeface="Meiryo UI" panose="020B0604030504040204" pitchFamily="34" charset="-128"/>
                <a:ea typeface="Meiryo UI" panose="020B0604030504040204" pitchFamily="34" charset="-128"/>
              </a:rPr>
              <a:t>Test statistic:  -2.9608</a:t>
            </a:r>
          </a:p>
          <a:p>
            <a:r>
              <a:rPr lang="en-US" sz="1400" dirty="0">
                <a:latin typeface="Meiryo UI" panose="020B0604030504040204" pitchFamily="34" charset="-128"/>
                <a:ea typeface="Meiryo UI" panose="020B0604030504040204" pitchFamily="34" charset="-128"/>
              </a:rPr>
              <a:t>P-value: 0.0031</a:t>
            </a:r>
          </a:p>
          <a:p>
            <a:r>
              <a:rPr lang="en-US" sz="1400" dirty="0">
                <a:latin typeface="Meiryo UI" panose="020B0604030504040204" pitchFamily="34" charset="-128"/>
                <a:ea typeface="Meiryo UI" panose="020B0604030504040204" pitchFamily="34" charset="-128"/>
              </a:rPr>
              <a:t>Significance level: 0.05</a:t>
            </a:r>
          </a:p>
          <a:p>
            <a:r>
              <a:rPr lang="en-US" sz="1400" dirty="0">
                <a:latin typeface="Meiryo UI" panose="020B0604030504040204" pitchFamily="34" charset="-128"/>
                <a:ea typeface="Meiryo UI" panose="020B0604030504040204" pitchFamily="34" charset="-128"/>
              </a:rPr>
              <a:t>P-value &lt; 0.05</a:t>
            </a:r>
          </a:p>
        </p:txBody>
      </p:sp>
      <p:sp>
        <p:nvSpPr>
          <p:cNvPr id="17" name="TextBox 16">
            <a:extLst>
              <a:ext uri="{FF2B5EF4-FFF2-40B4-BE49-F238E27FC236}">
                <a16:creationId xmlns:a16="http://schemas.microsoft.com/office/drawing/2014/main" id="{623CC33C-C03F-4B59-AEF7-AEE95B333769}"/>
              </a:ext>
            </a:extLst>
          </p:cNvPr>
          <p:cNvSpPr txBox="1"/>
          <p:nvPr/>
        </p:nvSpPr>
        <p:spPr>
          <a:xfrm>
            <a:off x="6257804" y="6190407"/>
            <a:ext cx="5482437" cy="523220"/>
          </a:xfrm>
          <a:prstGeom prst="rect">
            <a:avLst/>
          </a:prstGeom>
          <a:noFill/>
        </p:spPr>
        <p:txBody>
          <a:bodyPr wrap="square">
            <a:spAutoFit/>
          </a:bodyPr>
          <a:lstStyle/>
          <a:p>
            <a:r>
              <a:rPr lang="en-US" sz="1400" b="1" dirty="0">
                <a:latin typeface="Meiryo UI" panose="020B0604030504040204" pitchFamily="34" charset="-128"/>
                <a:ea typeface="Meiryo UI" panose="020B0604030504040204" pitchFamily="34" charset="-128"/>
              </a:rPr>
              <a:t>We therefore reject the null hypothesis and accept the alternate</a:t>
            </a:r>
          </a:p>
        </p:txBody>
      </p:sp>
      <p:sp>
        <p:nvSpPr>
          <p:cNvPr id="18" name="TextBox 17">
            <a:extLst>
              <a:ext uri="{FF2B5EF4-FFF2-40B4-BE49-F238E27FC236}">
                <a16:creationId xmlns:a16="http://schemas.microsoft.com/office/drawing/2014/main" id="{72531443-25B0-4D79-AECF-13FB08907718}"/>
              </a:ext>
            </a:extLst>
          </p:cNvPr>
          <p:cNvSpPr txBox="1"/>
          <p:nvPr/>
        </p:nvSpPr>
        <p:spPr>
          <a:xfrm>
            <a:off x="213346" y="5886858"/>
            <a:ext cx="5588640" cy="307777"/>
          </a:xfrm>
          <a:prstGeom prst="rect">
            <a:avLst/>
          </a:prstGeom>
          <a:noFill/>
        </p:spPr>
        <p:txBody>
          <a:bodyPr wrap="square" rtlCol="0">
            <a:spAutoFit/>
          </a:bodyPr>
          <a:lstStyle/>
          <a:p>
            <a:r>
              <a:rPr lang="en-US" sz="1400" dirty="0">
                <a:latin typeface="Meiryo UI" panose="020B0604030504040204" pitchFamily="34" charset="-128"/>
                <a:ea typeface="Meiryo UI" panose="020B0604030504040204" pitchFamily="34" charset="-128"/>
              </a:rPr>
              <a:t>The p-value is </a:t>
            </a:r>
            <a:r>
              <a:rPr lang="en-US" sz="1400" b="1" dirty="0">
                <a:latin typeface="Meiryo UI" panose="020B0604030504040204" pitchFamily="34" charset="-128"/>
                <a:ea typeface="Meiryo UI" panose="020B0604030504040204" pitchFamily="34" charset="-128"/>
              </a:rPr>
              <a:t>slightly </a:t>
            </a:r>
            <a:r>
              <a:rPr lang="en-US" sz="1400" dirty="0">
                <a:latin typeface="Meiryo UI" panose="020B0604030504040204" pitchFamily="34" charset="-128"/>
                <a:ea typeface="Meiryo UI" panose="020B0604030504040204" pitchFamily="34" charset="-128"/>
              </a:rPr>
              <a:t>lower than the significance level here.</a:t>
            </a:r>
          </a:p>
        </p:txBody>
      </p:sp>
      <p:sp>
        <p:nvSpPr>
          <p:cNvPr id="19" name="TextBox 18">
            <a:extLst>
              <a:ext uri="{FF2B5EF4-FFF2-40B4-BE49-F238E27FC236}">
                <a16:creationId xmlns:a16="http://schemas.microsoft.com/office/drawing/2014/main" id="{9CC9FDBB-F5F1-4E16-B5F1-C29990602D53}"/>
              </a:ext>
            </a:extLst>
          </p:cNvPr>
          <p:cNvSpPr txBox="1"/>
          <p:nvPr/>
        </p:nvSpPr>
        <p:spPr>
          <a:xfrm>
            <a:off x="6257804" y="5882630"/>
            <a:ext cx="5588640" cy="307777"/>
          </a:xfrm>
          <a:prstGeom prst="rect">
            <a:avLst/>
          </a:prstGeom>
          <a:noFill/>
        </p:spPr>
        <p:txBody>
          <a:bodyPr wrap="square" rtlCol="0">
            <a:spAutoFit/>
          </a:bodyPr>
          <a:lstStyle/>
          <a:p>
            <a:r>
              <a:rPr lang="en-US" sz="1400" dirty="0">
                <a:latin typeface="Meiryo UI" panose="020B0604030504040204" pitchFamily="34" charset="-128"/>
                <a:ea typeface="Meiryo UI" panose="020B0604030504040204" pitchFamily="34" charset="-128"/>
              </a:rPr>
              <a:t>The p-value is </a:t>
            </a:r>
            <a:r>
              <a:rPr lang="en-US" sz="1400" b="1" dirty="0">
                <a:latin typeface="Meiryo UI" panose="020B0604030504040204" pitchFamily="34" charset="-128"/>
                <a:ea typeface="Meiryo UI" panose="020B0604030504040204" pitchFamily="34" charset="-128"/>
              </a:rPr>
              <a:t>much</a:t>
            </a:r>
            <a:r>
              <a:rPr lang="en-US" sz="1400" dirty="0">
                <a:latin typeface="Meiryo UI" panose="020B0604030504040204" pitchFamily="34" charset="-128"/>
                <a:ea typeface="Meiryo UI" panose="020B0604030504040204" pitchFamily="34" charset="-128"/>
              </a:rPr>
              <a:t> lower than the significance level here.</a:t>
            </a:r>
          </a:p>
        </p:txBody>
      </p:sp>
      <p:sp>
        <p:nvSpPr>
          <p:cNvPr id="20" name="Freeform: Shape 19">
            <a:extLst>
              <a:ext uri="{FF2B5EF4-FFF2-40B4-BE49-F238E27FC236}">
                <a16:creationId xmlns:a16="http://schemas.microsoft.com/office/drawing/2014/main" id="{0D52083D-D590-47A4-ACE0-B5EF422C7302}"/>
              </a:ext>
            </a:extLst>
          </p:cNvPr>
          <p:cNvSpPr/>
          <p:nvPr/>
        </p:nvSpPr>
        <p:spPr>
          <a:xfrm>
            <a:off x="10412979" y="4001790"/>
            <a:ext cx="1126263" cy="1169551"/>
          </a:xfrm>
          <a:custGeom>
            <a:avLst/>
            <a:gdLst>
              <a:gd name="connsiteX0" fmla="*/ 558881 w 3049521"/>
              <a:gd name="connsiteY0" fmla="*/ 430949 h 3325642"/>
              <a:gd name="connsiteX1" fmla="*/ 574279 w 3049521"/>
              <a:gd name="connsiteY1" fmla="*/ 436548 h 3325642"/>
              <a:gd name="connsiteX2" fmla="*/ 787052 w 3049521"/>
              <a:gd name="connsiteY2" fmla="*/ 528937 h 3325642"/>
              <a:gd name="connsiteX3" fmla="*/ 953282 w 3049521"/>
              <a:gd name="connsiteY3" fmla="*/ 461745 h 3325642"/>
              <a:gd name="connsiteX4" fmla="*/ 979878 w 3049521"/>
              <a:gd name="connsiteY4" fmla="*/ 435148 h 3325642"/>
              <a:gd name="connsiteX5" fmla="*/ 989327 w 3049521"/>
              <a:gd name="connsiteY5" fmla="*/ 431299 h 3325642"/>
              <a:gd name="connsiteX6" fmla="*/ 1260544 w 3049521"/>
              <a:gd name="connsiteY6" fmla="*/ 500940 h 3325642"/>
              <a:gd name="connsiteX7" fmla="*/ 1374629 w 3049521"/>
              <a:gd name="connsiteY7" fmla="*/ 576531 h 3325642"/>
              <a:gd name="connsiteX8" fmla="*/ 1405776 w 3049521"/>
              <a:gd name="connsiteY8" fmla="*/ 652471 h 3325642"/>
              <a:gd name="connsiteX9" fmla="*/ 1405426 w 3049521"/>
              <a:gd name="connsiteY9" fmla="*/ 867695 h 3325642"/>
              <a:gd name="connsiteX10" fmla="*/ 1404726 w 3049521"/>
              <a:gd name="connsiteY10" fmla="*/ 1147310 h 3325642"/>
              <a:gd name="connsiteX11" fmla="*/ 1404726 w 3049521"/>
              <a:gd name="connsiteY11" fmla="*/ 1162708 h 3325642"/>
              <a:gd name="connsiteX12" fmla="*/ 1409625 w 3049521"/>
              <a:gd name="connsiteY12" fmla="*/ 1153609 h 3325642"/>
              <a:gd name="connsiteX13" fmla="*/ 1542608 w 3049521"/>
              <a:gd name="connsiteY13" fmla="*/ 843198 h 3325642"/>
              <a:gd name="connsiteX14" fmla="*/ 1600351 w 3049521"/>
              <a:gd name="connsiteY14" fmla="*/ 778456 h 3325642"/>
              <a:gd name="connsiteX15" fmla="*/ 1624148 w 3049521"/>
              <a:gd name="connsiteY15" fmla="*/ 756408 h 3325642"/>
              <a:gd name="connsiteX16" fmla="*/ 1701489 w 3049521"/>
              <a:gd name="connsiteY16" fmla="*/ 703915 h 3325642"/>
              <a:gd name="connsiteX17" fmla="*/ 1848820 w 3049521"/>
              <a:gd name="connsiteY17" fmla="*/ 651071 h 3325642"/>
              <a:gd name="connsiteX18" fmla="*/ 1875417 w 3049521"/>
              <a:gd name="connsiteY18" fmla="*/ 658071 h 3325642"/>
              <a:gd name="connsiteX19" fmla="*/ 2040947 w 3049521"/>
              <a:gd name="connsiteY19" fmla="*/ 734361 h 3325642"/>
              <a:gd name="connsiteX20" fmla="*/ 2241472 w 3049521"/>
              <a:gd name="connsiteY20" fmla="*/ 666470 h 3325642"/>
              <a:gd name="connsiteX21" fmla="*/ 2263519 w 3049521"/>
              <a:gd name="connsiteY21" fmla="*/ 644072 h 3325642"/>
              <a:gd name="connsiteX22" fmla="*/ 2283467 w 3049521"/>
              <a:gd name="connsiteY22" fmla="*/ 637423 h 3325642"/>
              <a:gd name="connsiteX23" fmla="*/ 2530536 w 3049521"/>
              <a:gd name="connsiteY23" fmla="*/ 720363 h 3325642"/>
              <a:gd name="connsiteX24" fmla="*/ 2617325 w 3049521"/>
              <a:gd name="connsiteY24" fmla="*/ 806802 h 3325642"/>
              <a:gd name="connsiteX25" fmla="*/ 2651971 w 3049521"/>
              <a:gd name="connsiteY25" fmla="*/ 904790 h 3325642"/>
              <a:gd name="connsiteX26" fmla="*/ 2822400 w 3049521"/>
              <a:gd name="connsiteY26" fmla="*/ 1482218 h 3325642"/>
              <a:gd name="connsiteX27" fmla="*/ 2883992 w 3049521"/>
              <a:gd name="connsiteY27" fmla="*/ 1692192 h 3325642"/>
              <a:gd name="connsiteX28" fmla="*/ 2896240 w 3049521"/>
              <a:gd name="connsiteY28" fmla="*/ 1701291 h 3325642"/>
              <a:gd name="connsiteX29" fmla="*/ 2988979 w 3049521"/>
              <a:gd name="connsiteY29" fmla="*/ 1700941 h 3325642"/>
              <a:gd name="connsiteX30" fmla="*/ 3049521 w 3049521"/>
              <a:gd name="connsiteY30" fmla="*/ 1761134 h 3325642"/>
              <a:gd name="connsiteX31" fmla="*/ 3049521 w 3049521"/>
              <a:gd name="connsiteY31" fmla="*/ 2964984 h 3325642"/>
              <a:gd name="connsiteX32" fmla="*/ 3049521 w 3049521"/>
              <a:gd name="connsiteY32" fmla="*/ 3247749 h 3325642"/>
              <a:gd name="connsiteX33" fmla="*/ 3006477 w 3049521"/>
              <a:gd name="connsiteY33" fmla="*/ 3303042 h 3325642"/>
              <a:gd name="connsiteX34" fmla="*/ 2945934 w 3049521"/>
              <a:gd name="connsiteY34" fmla="*/ 3273996 h 3325642"/>
              <a:gd name="connsiteX35" fmla="*/ 2939635 w 3049521"/>
              <a:gd name="connsiteY35" fmla="*/ 3243550 h 3325642"/>
              <a:gd name="connsiteX36" fmla="*/ 2939635 w 3049521"/>
              <a:gd name="connsiteY36" fmla="*/ 1827275 h 3325642"/>
              <a:gd name="connsiteX37" fmla="*/ 2939635 w 3049521"/>
              <a:gd name="connsiteY37" fmla="*/ 1810828 h 3325642"/>
              <a:gd name="connsiteX38" fmla="*/ 2886792 w 3049521"/>
              <a:gd name="connsiteY38" fmla="*/ 1811178 h 3325642"/>
              <a:gd name="connsiteX39" fmla="*/ 2878743 w 3049521"/>
              <a:gd name="connsiteY39" fmla="*/ 1818527 h 3325642"/>
              <a:gd name="connsiteX40" fmla="*/ 2783555 w 3049521"/>
              <a:gd name="connsiteY40" fmla="*/ 1869620 h 3325642"/>
              <a:gd name="connsiteX41" fmla="*/ 2675418 w 3049521"/>
              <a:gd name="connsiteY41" fmla="*/ 1788080 h 3325642"/>
              <a:gd name="connsiteX42" fmla="*/ 2625374 w 3049521"/>
              <a:gd name="connsiteY42" fmla="*/ 1619751 h 3325642"/>
              <a:gd name="connsiteX43" fmla="*/ 2471743 w 3049521"/>
              <a:gd name="connsiteY43" fmla="*/ 1096566 h 3325642"/>
              <a:gd name="connsiteX44" fmla="*/ 2457395 w 3049521"/>
              <a:gd name="connsiteY44" fmla="*/ 1085718 h 3325642"/>
              <a:gd name="connsiteX45" fmla="*/ 2365356 w 3049521"/>
              <a:gd name="connsiteY45" fmla="*/ 1086067 h 3325642"/>
              <a:gd name="connsiteX46" fmla="*/ 2706564 w 3049521"/>
              <a:gd name="connsiteY46" fmla="*/ 2519140 h 3325642"/>
              <a:gd name="connsiteX47" fmla="*/ 2397202 w 3049521"/>
              <a:gd name="connsiteY47" fmla="*/ 2519140 h 3325642"/>
              <a:gd name="connsiteX48" fmla="*/ 2397202 w 3049521"/>
              <a:gd name="connsiteY48" fmla="*/ 2533138 h 3325642"/>
              <a:gd name="connsiteX49" fmla="*/ 2397202 w 3049521"/>
              <a:gd name="connsiteY49" fmla="*/ 3193856 h 3325642"/>
              <a:gd name="connsiteX50" fmla="*/ 2285216 w 3049521"/>
              <a:gd name="connsiteY50" fmla="*/ 3324390 h 3325642"/>
              <a:gd name="connsiteX51" fmla="*/ 2173230 w 3049521"/>
              <a:gd name="connsiteY51" fmla="*/ 3281345 h 3325642"/>
              <a:gd name="connsiteX52" fmla="*/ 2141734 w 3049521"/>
              <a:gd name="connsiteY52" fmla="*/ 3193506 h 3325642"/>
              <a:gd name="connsiteX53" fmla="*/ 2142084 w 3049521"/>
              <a:gd name="connsiteY53" fmla="*/ 2535238 h 3325642"/>
              <a:gd name="connsiteX54" fmla="*/ 2142084 w 3049521"/>
              <a:gd name="connsiteY54" fmla="*/ 2520889 h 3325642"/>
              <a:gd name="connsiteX55" fmla="*/ 2011200 w 3049521"/>
              <a:gd name="connsiteY55" fmla="*/ 2520889 h 3325642"/>
              <a:gd name="connsiteX56" fmla="*/ 2011200 w 3049521"/>
              <a:gd name="connsiteY56" fmla="*/ 2534188 h 3325642"/>
              <a:gd name="connsiteX57" fmla="*/ 2011200 w 3049521"/>
              <a:gd name="connsiteY57" fmla="*/ 3190356 h 3325642"/>
              <a:gd name="connsiteX58" fmla="*/ 1956607 w 3049521"/>
              <a:gd name="connsiteY58" fmla="*/ 3301993 h 3325642"/>
              <a:gd name="connsiteX59" fmla="*/ 1805426 w 3049521"/>
              <a:gd name="connsiteY59" fmla="*/ 3299193 h 3325642"/>
              <a:gd name="connsiteX60" fmla="*/ 1755032 w 3049521"/>
              <a:gd name="connsiteY60" fmla="*/ 3190706 h 3325642"/>
              <a:gd name="connsiteX61" fmla="*/ 1755032 w 3049521"/>
              <a:gd name="connsiteY61" fmla="*/ 2534538 h 3325642"/>
              <a:gd name="connsiteX62" fmla="*/ 1755032 w 3049521"/>
              <a:gd name="connsiteY62" fmla="*/ 2519840 h 3325642"/>
              <a:gd name="connsiteX63" fmla="*/ 1445321 w 3049521"/>
              <a:gd name="connsiteY63" fmla="*/ 2519840 h 3325642"/>
              <a:gd name="connsiteX64" fmla="*/ 1786878 w 3049521"/>
              <a:gd name="connsiteY64" fmla="*/ 1086417 h 3325642"/>
              <a:gd name="connsiteX65" fmla="*/ 1690990 w 3049521"/>
              <a:gd name="connsiteY65" fmla="*/ 1086767 h 3325642"/>
              <a:gd name="connsiteX66" fmla="*/ 1683291 w 3049521"/>
              <a:gd name="connsiteY66" fmla="*/ 1094816 h 3325642"/>
              <a:gd name="connsiteX67" fmla="*/ 1603851 w 3049521"/>
              <a:gd name="connsiteY67" fmla="*/ 1279594 h 3325642"/>
              <a:gd name="connsiteX68" fmla="*/ 1410325 w 3049521"/>
              <a:gd name="connsiteY68" fmla="*/ 1731387 h 3325642"/>
              <a:gd name="connsiteX69" fmla="*/ 1405426 w 3049521"/>
              <a:gd name="connsiteY69" fmla="*/ 1757634 h 3325642"/>
              <a:gd name="connsiteX70" fmla="*/ 1387928 w 3049521"/>
              <a:gd name="connsiteY70" fmla="*/ 1833575 h 3325642"/>
              <a:gd name="connsiteX71" fmla="*/ 1239196 w 3049521"/>
              <a:gd name="connsiteY71" fmla="*/ 1875919 h 3325642"/>
              <a:gd name="connsiteX72" fmla="*/ 1175854 w 3049521"/>
              <a:gd name="connsiteY72" fmla="*/ 1766383 h 3325642"/>
              <a:gd name="connsiteX73" fmla="*/ 1175854 w 3049521"/>
              <a:gd name="connsiteY73" fmla="*/ 895691 h 3325642"/>
              <a:gd name="connsiteX74" fmla="*/ 1175854 w 3049521"/>
              <a:gd name="connsiteY74" fmla="*/ 880643 h 3325642"/>
              <a:gd name="connsiteX75" fmla="*/ 1112512 w 3049521"/>
              <a:gd name="connsiteY75" fmla="*/ 880643 h 3325642"/>
              <a:gd name="connsiteX76" fmla="*/ 1112512 w 3049521"/>
              <a:gd name="connsiteY76" fmla="*/ 892542 h 3325642"/>
              <a:gd name="connsiteX77" fmla="*/ 1112512 w 3049521"/>
              <a:gd name="connsiteY77" fmla="*/ 1520364 h 3325642"/>
              <a:gd name="connsiteX78" fmla="*/ 1114612 w 3049521"/>
              <a:gd name="connsiteY78" fmla="*/ 3141012 h 3325642"/>
              <a:gd name="connsiteX79" fmla="*/ 1029572 w 3049521"/>
              <a:gd name="connsiteY79" fmla="*/ 3278895 h 3325642"/>
              <a:gd name="connsiteX80" fmla="*/ 859843 w 3049521"/>
              <a:gd name="connsiteY80" fmla="*/ 3243200 h 3325642"/>
              <a:gd name="connsiteX81" fmla="*/ 822748 w 3049521"/>
              <a:gd name="connsiteY81" fmla="*/ 3139613 h 3325642"/>
              <a:gd name="connsiteX82" fmla="*/ 822748 w 3049521"/>
              <a:gd name="connsiteY82" fmla="*/ 1926313 h 3325642"/>
              <a:gd name="connsiteX83" fmla="*/ 822748 w 3049521"/>
              <a:gd name="connsiteY83" fmla="*/ 1911265 h 3325642"/>
              <a:gd name="connsiteX84" fmla="*/ 727910 w 3049521"/>
              <a:gd name="connsiteY84" fmla="*/ 1911265 h 3325642"/>
              <a:gd name="connsiteX85" fmla="*/ 727910 w 3049521"/>
              <a:gd name="connsiteY85" fmla="*/ 1925613 h 3325642"/>
              <a:gd name="connsiteX86" fmla="*/ 727910 w 3049521"/>
              <a:gd name="connsiteY86" fmla="*/ 3150811 h 3325642"/>
              <a:gd name="connsiteX87" fmla="*/ 594926 w 3049521"/>
              <a:gd name="connsiteY87" fmla="*/ 3292544 h 3325642"/>
              <a:gd name="connsiteX88" fmla="*/ 437096 w 3049521"/>
              <a:gd name="connsiteY88" fmla="*/ 3159910 h 3325642"/>
              <a:gd name="connsiteX89" fmla="*/ 437096 w 3049521"/>
              <a:gd name="connsiteY89" fmla="*/ 3150461 h 3325642"/>
              <a:gd name="connsiteX90" fmla="*/ 437096 w 3049521"/>
              <a:gd name="connsiteY90" fmla="*/ 1546610 h 3325642"/>
              <a:gd name="connsiteX91" fmla="*/ 438496 w 3049521"/>
              <a:gd name="connsiteY91" fmla="*/ 895691 h 3325642"/>
              <a:gd name="connsiteX92" fmla="*/ 438496 w 3049521"/>
              <a:gd name="connsiteY92" fmla="*/ 880293 h 3325642"/>
              <a:gd name="connsiteX93" fmla="*/ 375153 w 3049521"/>
              <a:gd name="connsiteY93" fmla="*/ 880293 h 3325642"/>
              <a:gd name="connsiteX94" fmla="*/ 375153 w 3049521"/>
              <a:gd name="connsiteY94" fmla="*/ 894991 h 3325642"/>
              <a:gd name="connsiteX95" fmla="*/ 375153 w 3049521"/>
              <a:gd name="connsiteY95" fmla="*/ 1768833 h 3325642"/>
              <a:gd name="connsiteX96" fmla="*/ 310761 w 3049521"/>
              <a:gd name="connsiteY96" fmla="*/ 1877669 h 3325642"/>
              <a:gd name="connsiteX97" fmla="*/ 181977 w 3049521"/>
              <a:gd name="connsiteY97" fmla="*/ 1858072 h 3325642"/>
              <a:gd name="connsiteX98" fmla="*/ 168329 w 3049521"/>
              <a:gd name="connsiteY98" fmla="*/ 1852822 h 3325642"/>
              <a:gd name="connsiteX99" fmla="*/ 110236 w 3049521"/>
              <a:gd name="connsiteY99" fmla="*/ 1852472 h 3325642"/>
              <a:gd name="connsiteX100" fmla="*/ 110236 w 3049521"/>
              <a:gd name="connsiteY100" fmla="*/ 1867520 h 3325642"/>
              <a:gd name="connsiteX101" fmla="*/ 110236 w 3049521"/>
              <a:gd name="connsiteY101" fmla="*/ 3240400 h 3325642"/>
              <a:gd name="connsiteX102" fmla="*/ 78390 w 3049521"/>
              <a:gd name="connsiteY102" fmla="*/ 3298843 h 3325642"/>
              <a:gd name="connsiteX103" fmla="*/ 0 w 3049521"/>
              <a:gd name="connsiteY103" fmla="*/ 3251949 h 3325642"/>
              <a:gd name="connsiteX104" fmla="*/ 0 w 3049521"/>
              <a:gd name="connsiteY104" fmla="*/ 3245650 h 3325642"/>
              <a:gd name="connsiteX105" fmla="*/ 0 w 3049521"/>
              <a:gd name="connsiteY105" fmla="*/ 1794730 h 3325642"/>
              <a:gd name="connsiteX106" fmla="*/ 47244 w 3049521"/>
              <a:gd name="connsiteY106" fmla="*/ 1736987 h 3325642"/>
              <a:gd name="connsiteX107" fmla="*/ 72091 w 3049521"/>
              <a:gd name="connsiteY107" fmla="*/ 1734187 h 3325642"/>
              <a:gd name="connsiteX108" fmla="*/ 145582 w 3049521"/>
              <a:gd name="connsiteY108" fmla="*/ 1734187 h 3325642"/>
              <a:gd name="connsiteX109" fmla="*/ 145932 w 3049521"/>
              <a:gd name="connsiteY109" fmla="*/ 1721939 h 3325642"/>
              <a:gd name="connsiteX110" fmla="*/ 145932 w 3049521"/>
              <a:gd name="connsiteY110" fmla="*/ 890442 h 3325642"/>
              <a:gd name="connsiteX111" fmla="*/ 144882 w 3049521"/>
              <a:gd name="connsiteY111" fmla="*/ 659470 h 3325642"/>
              <a:gd name="connsiteX112" fmla="*/ 191426 w 3049521"/>
              <a:gd name="connsiteY112" fmla="*/ 561483 h 3325642"/>
              <a:gd name="connsiteX113" fmla="*/ 334908 w 3049521"/>
              <a:gd name="connsiteY113" fmla="*/ 483092 h 3325642"/>
              <a:gd name="connsiteX114" fmla="*/ 558881 w 3049521"/>
              <a:gd name="connsiteY114" fmla="*/ 430949 h 3325642"/>
              <a:gd name="connsiteX115" fmla="*/ 2051794 w 3049521"/>
              <a:gd name="connsiteY115" fmla="*/ 125716 h 3325642"/>
              <a:gd name="connsiteX116" fmla="*/ 2215574 w 3049521"/>
              <a:gd name="connsiteY116" fmla="*/ 252750 h 3325642"/>
              <a:gd name="connsiteX117" fmla="*/ 2221874 w 3049521"/>
              <a:gd name="connsiteY117" fmla="*/ 262899 h 3325642"/>
              <a:gd name="connsiteX118" fmla="*/ 2310762 w 3049521"/>
              <a:gd name="connsiteY118" fmla="*/ 467974 h 3325642"/>
              <a:gd name="connsiteX119" fmla="*/ 2102188 w 3049521"/>
              <a:gd name="connsiteY119" fmla="*/ 698945 h 3325642"/>
              <a:gd name="connsiteX120" fmla="*/ 2063343 w 3049521"/>
              <a:gd name="connsiteY120" fmla="*/ 702094 h 3325642"/>
              <a:gd name="connsiteX121" fmla="*/ 1816974 w 3049521"/>
              <a:gd name="connsiteY121" fmla="*/ 479172 h 3325642"/>
              <a:gd name="connsiteX122" fmla="*/ 1902013 w 3049521"/>
              <a:gd name="connsiteY122" fmla="*/ 266049 h 3325642"/>
              <a:gd name="connsiteX123" fmla="*/ 1912162 w 3049521"/>
              <a:gd name="connsiteY123" fmla="*/ 248901 h 3325642"/>
              <a:gd name="connsiteX124" fmla="*/ 2051794 w 3049521"/>
              <a:gd name="connsiteY124" fmla="*/ 125716 h 3325642"/>
              <a:gd name="connsiteX125" fmla="*/ 782853 w 3049521"/>
              <a:gd name="connsiteY125" fmla="*/ 81 h 3325642"/>
              <a:gd name="connsiteX126" fmla="*/ 1023623 w 3049521"/>
              <a:gd name="connsiteY126" fmla="*/ 254850 h 3325642"/>
              <a:gd name="connsiteX127" fmla="*/ 776203 w 3049521"/>
              <a:gd name="connsiteY127" fmla="*/ 495620 h 3325642"/>
              <a:gd name="connsiteX128" fmla="*/ 528084 w 3049521"/>
              <a:gd name="connsiteY128" fmla="*/ 248201 h 3325642"/>
              <a:gd name="connsiteX129" fmla="*/ 782853 w 3049521"/>
              <a:gd name="connsiteY129" fmla="*/ 81 h 3325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Lst>
            <a:rect l="l" t="t" r="r" b="b"/>
            <a:pathLst>
              <a:path w="3049521" h="3325642">
                <a:moveTo>
                  <a:pt x="558881" y="430949"/>
                </a:moveTo>
                <a:cubicBezTo>
                  <a:pt x="565530" y="429899"/>
                  <a:pt x="569729" y="431299"/>
                  <a:pt x="574279" y="436548"/>
                </a:cubicBezTo>
                <a:cubicBezTo>
                  <a:pt x="630622" y="500590"/>
                  <a:pt x="702013" y="531736"/>
                  <a:pt x="787052" y="528937"/>
                </a:cubicBezTo>
                <a:cubicBezTo>
                  <a:pt x="850394" y="526837"/>
                  <a:pt x="906037" y="504090"/>
                  <a:pt x="953282" y="461745"/>
                </a:cubicBezTo>
                <a:cubicBezTo>
                  <a:pt x="962730" y="453346"/>
                  <a:pt x="970779" y="443547"/>
                  <a:pt x="979878" y="435148"/>
                </a:cubicBezTo>
                <a:cubicBezTo>
                  <a:pt x="982328" y="433049"/>
                  <a:pt x="986527" y="430599"/>
                  <a:pt x="989327" y="431299"/>
                </a:cubicBezTo>
                <a:cubicBezTo>
                  <a:pt x="1082416" y="443547"/>
                  <a:pt x="1173754" y="463495"/>
                  <a:pt x="1260544" y="500940"/>
                </a:cubicBezTo>
                <a:cubicBezTo>
                  <a:pt x="1302888" y="519138"/>
                  <a:pt x="1343133" y="541885"/>
                  <a:pt x="1374629" y="576531"/>
                </a:cubicBezTo>
                <a:cubicBezTo>
                  <a:pt x="1394227" y="597878"/>
                  <a:pt x="1406125" y="622025"/>
                  <a:pt x="1405776" y="652471"/>
                </a:cubicBezTo>
                <a:cubicBezTo>
                  <a:pt x="1405076" y="724212"/>
                  <a:pt x="1405776" y="795953"/>
                  <a:pt x="1405426" y="867695"/>
                </a:cubicBezTo>
                <a:cubicBezTo>
                  <a:pt x="1405426" y="960783"/>
                  <a:pt x="1405076" y="1054222"/>
                  <a:pt x="1404726" y="1147310"/>
                </a:cubicBezTo>
                <a:cubicBezTo>
                  <a:pt x="1404726" y="1151509"/>
                  <a:pt x="1404726" y="1155709"/>
                  <a:pt x="1404726" y="1162708"/>
                </a:cubicBezTo>
                <a:cubicBezTo>
                  <a:pt x="1407175" y="1158159"/>
                  <a:pt x="1408575" y="1156059"/>
                  <a:pt x="1409625" y="1153609"/>
                </a:cubicBezTo>
                <a:cubicBezTo>
                  <a:pt x="1454069" y="1050022"/>
                  <a:pt x="1498514" y="946785"/>
                  <a:pt x="1542608" y="843198"/>
                </a:cubicBezTo>
                <a:cubicBezTo>
                  <a:pt x="1554507" y="815201"/>
                  <a:pt x="1572705" y="793154"/>
                  <a:pt x="1600351" y="778456"/>
                </a:cubicBezTo>
                <a:cubicBezTo>
                  <a:pt x="1609450" y="773556"/>
                  <a:pt x="1616099" y="764107"/>
                  <a:pt x="1624148" y="756408"/>
                </a:cubicBezTo>
                <a:cubicBezTo>
                  <a:pt x="1646896" y="734711"/>
                  <a:pt x="1673492" y="718263"/>
                  <a:pt x="1701489" y="703915"/>
                </a:cubicBezTo>
                <a:cubicBezTo>
                  <a:pt x="1748383" y="679768"/>
                  <a:pt x="1798077" y="664370"/>
                  <a:pt x="1848820" y="651071"/>
                </a:cubicBezTo>
                <a:cubicBezTo>
                  <a:pt x="1859669" y="648272"/>
                  <a:pt x="1867018" y="649672"/>
                  <a:pt x="1875417" y="658071"/>
                </a:cubicBezTo>
                <a:cubicBezTo>
                  <a:pt x="1921261" y="703565"/>
                  <a:pt x="1976555" y="729462"/>
                  <a:pt x="2040947" y="734361"/>
                </a:cubicBezTo>
                <a:cubicBezTo>
                  <a:pt x="2117237" y="740310"/>
                  <a:pt x="2184079" y="717563"/>
                  <a:pt x="2241472" y="666470"/>
                </a:cubicBezTo>
                <a:cubicBezTo>
                  <a:pt x="2249171" y="659470"/>
                  <a:pt x="2257220" y="652471"/>
                  <a:pt x="2263519" y="644072"/>
                </a:cubicBezTo>
                <a:cubicBezTo>
                  <a:pt x="2269118" y="636723"/>
                  <a:pt x="2275418" y="636023"/>
                  <a:pt x="2283467" y="637423"/>
                </a:cubicBezTo>
                <a:cubicBezTo>
                  <a:pt x="2370256" y="652121"/>
                  <a:pt x="2454245" y="674519"/>
                  <a:pt x="2530536" y="720363"/>
                </a:cubicBezTo>
                <a:cubicBezTo>
                  <a:pt x="2566581" y="742060"/>
                  <a:pt x="2599827" y="767607"/>
                  <a:pt x="2617325" y="806802"/>
                </a:cubicBezTo>
                <a:cubicBezTo>
                  <a:pt x="2631323" y="838298"/>
                  <a:pt x="2641822" y="871544"/>
                  <a:pt x="2651971" y="904790"/>
                </a:cubicBezTo>
                <a:cubicBezTo>
                  <a:pt x="2709014" y="1097266"/>
                  <a:pt x="2765707" y="1289742"/>
                  <a:pt x="2822400" y="1482218"/>
                </a:cubicBezTo>
                <a:cubicBezTo>
                  <a:pt x="2843047" y="1552210"/>
                  <a:pt x="2863694" y="1622201"/>
                  <a:pt x="2883992" y="1692192"/>
                </a:cubicBezTo>
                <a:cubicBezTo>
                  <a:pt x="2886092" y="1699191"/>
                  <a:pt x="2888891" y="1701641"/>
                  <a:pt x="2896240" y="1701291"/>
                </a:cubicBezTo>
                <a:cubicBezTo>
                  <a:pt x="2927037" y="1700941"/>
                  <a:pt x="2958183" y="1700941"/>
                  <a:pt x="2988979" y="1700941"/>
                </a:cubicBezTo>
                <a:cubicBezTo>
                  <a:pt x="3026774" y="1700941"/>
                  <a:pt x="3049521" y="1723688"/>
                  <a:pt x="3049521" y="1761134"/>
                </a:cubicBezTo>
                <a:cubicBezTo>
                  <a:pt x="3049521" y="2162534"/>
                  <a:pt x="3049521" y="2563934"/>
                  <a:pt x="3049521" y="2964984"/>
                </a:cubicBezTo>
                <a:cubicBezTo>
                  <a:pt x="3049521" y="3059123"/>
                  <a:pt x="3049521" y="3153611"/>
                  <a:pt x="3049521" y="3247749"/>
                </a:cubicBezTo>
                <a:cubicBezTo>
                  <a:pt x="3049521" y="3275046"/>
                  <a:pt x="3032374" y="3296743"/>
                  <a:pt x="3006477" y="3303042"/>
                </a:cubicBezTo>
                <a:cubicBezTo>
                  <a:pt x="2982680" y="3308642"/>
                  <a:pt x="2957133" y="3297443"/>
                  <a:pt x="2945934" y="3273996"/>
                </a:cubicBezTo>
                <a:cubicBezTo>
                  <a:pt x="2941735" y="3264897"/>
                  <a:pt x="2939635" y="3253699"/>
                  <a:pt x="2939635" y="3243550"/>
                </a:cubicBezTo>
                <a:cubicBezTo>
                  <a:pt x="2939635" y="2771108"/>
                  <a:pt x="2939635" y="2299367"/>
                  <a:pt x="2939635" y="1827275"/>
                </a:cubicBezTo>
                <a:cubicBezTo>
                  <a:pt x="2939635" y="1822376"/>
                  <a:pt x="2939635" y="1817477"/>
                  <a:pt x="2939635" y="1810828"/>
                </a:cubicBezTo>
                <a:cubicBezTo>
                  <a:pt x="2921787" y="1810828"/>
                  <a:pt x="2904290" y="1810478"/>
                  <a:pt x="2886792" y="1811178"/>
                </a:cubicBezTo>
                <a:cubicBezTo>
                  <a:pt x="2883992" y="1811178"/>
                  <a:pt x="2880842" y="1815377"/>
                  <a:pt x="2878743" y="1818527"/>
                </a:cubicBezTo>
                <a:cubicBezTo>
                  <a:pt x="2855296" y="1851423"/>
                  <a:pt x="2824149" y="1869270"/>
                  <a:pt x="2783555" y="1869620"/>
                </a:cubicBezTo>
                <a:cubicBezTo>
                  <a:pt x="2733861" y="1869970"/>
                  <a:pt x="2691516" y="1838824"/>
                  <a:pt x="2675418" y="1788080"/>
                </a:cubicBezTo>
                <a:cubicBezTo>
                  <a:pt x="2657570" y="1732437"/>
                  <a:pt x="2641822" y="1675744"/>
                  <a:pt x="2625374" y="1619751"/>
                </a:cubicBezTo>
                <a:cubicBezTo>
                  <a:pt x="2573930" y="1445473"/>
                  <a:pt x="2522487" y="1271195"/>
                  <a:pt x="2471743" y="1096566"/>
                </a:cubicBezTo>
                <a:cubicBezTo>
                  <a:pt x="2469293" y="1088517"/>
                  <a:pt x="2466144" y="1085718"/>
                  <a:pt x="2457395" y="1085718"/>
                </a:cubicBezTo>
                <a:cubicBezTo>
                  <a:pt x="2427299" y="1086417"/>
                  <a:pt x="2396853" y="1086067"/>
                  <a:pt x="2365356" y="1086067"/>
                </a:cubicBezTo>
                <a:cubicBezTo>
                  <a:pt x="2479092" y="1564108"/>
                  <a:pt x="2592828" y="2041099"/>
                  <a:pt x="2706564" y="2519140"/>
                </a:cubicBezTo>
                <a:cubicBezTo>
                  <a:pt x="2603327" y="2519140"/>
                  <a:pt x="2501140" y="2519140"/>
                  <a:pt x="2397202" y="2519140"/>
                </a:cubicBezTo>
                <a:cubicBezTo>
                  <a:pt x="2397202" y="2524389"/>
                  <a:pt x="2397202" y="2528938"/>
                  <a:pt x="2397202" y="2533138"/>
                </a:cubicBezTo>
                <a:cubicBezTo>
                  <a:pt x="2397202" y="2753261"/>
                  <a:pt x="2397202" y="2973383"/>
                  <a:pt x="2397202" y="3193856"/>
                </a:cubicBezTo>
                <a:cubicBezTo>
                  <a:pt x="2397202" y="3261398"/>
                  <a:pt x="2351708" y="3315291"/>
                  <a:pt x="2285216" y="3324390"/>
                </a:cubicBezTo>
                <a:cubicBezTo>
                  <a:pt x="2240772" y="3330339"/>
                  <a:pt x="2202977" y="3314941"/>
                  <a:pt x="2173230" y="3281345"/>
                </a:cubicBezTo>
                <a:cubicBezTo>
                  <a:pt x="2151183" y="3256148"/>
                  <a:pt x="2141734" y="3227102"/>
                  <a:pt x="2141734" y="3193506"/>
                </a:cubicBezTo>
                <a:cubicBezTo>
                  <a:pt x="2142084" y="2974083"/>
                  <a:pt x="2142084" y="2754660"/>
                  <a:pt x="2142084" y="2535238"/>
                </a:cubicBezTo>
                <a:cubicBezTo>
                  <a:pt x="2142084" y="2530688"/>
                  <a:pt x="2142084" y="2526139"/>
                  <a:pt x="2142084" y="2520889"/>
                </a:cubicBezTo>
                <a:cubicBezTo>
                  <a:pt x="2098690" y="2520889"/>
                  <a:pt x="2055645" y="2520889"/>
                  <a:pt x="2011200" y="2520889"/>
                </a:cubicBezTo>
                <a:cubicBezTo>
                  <a:pt x="2011200" y="2525439"/>
                  <a:pt x="2011200" y="2529988"/>
                  <a:pt x="2011200" y="2534188"/>
                </a:cubicBezTo>
                <a:cubicBezTo>
                  <a:pt x="2011200" y="2752911"/>
                  <a:pt x="2011200" y="2971633"/>
                  <a:pt x="2011200" y="3190356"/>
                </a:cubicBezTo>
                <a:cubicBezTo>
                  <a:pt x="2011200" y="3236551"/>
                  <a:pt x="1994052" y="3273996"/>
                  <a:pt x="1956607" y="3301993"/>
                </a:cubicBezTo>
                <a:cubicBezTo>
                  <a:pt x="1914262" y="3334189"/>
                  <a:pt x="1846371" y="3332789"/>
                  <a:pt x="1805426" y="3299193"/>
                </a:cubicBezTo>
                <a:cubicBezTo>
                  <a:pt x="1771130" y="3270846"/>
                  <a:pt x="1755032" y="3235151"/>
                  <a:pt x="1755032" y="3190706"/>
                </a:cubicBezTo>
                <a:cubicBezTo>
                  <a:pt x="1755032" y="2971984"/>
                  <a:pt x="1755032" y="2753261"/>
                  <a:pt x="1755032" y="2534538"/>
                </a:cubicBezTo>
                <a:cubicBezTo>
                  <a:pt x="1755032" y="2529988"/>
                  <a:pt x="1755032" y="2525439"/>
                  <a:pt x="1755032" y="2519840"/>
                </a:cubicBezTo>
                <a:cubicBezTo>
                  <a:pt x="1651445" y="2519840"/>
                  <a:pt x="1548908" y="2519840"/>
                  <a:pt x="1445321" y="2519840"/>
                </a:cubicBezTo>
                <a:cubicBezTo>
                  <a:pt x="1559406" y="2041449"/>
                  <a:pt x="1672792" y="1564458"/>
                  <a:pt x="1786878" y="1086417"/>
                </a:cubicBezTo>
                <a:cubicBezTo>
                  <a:pt x="1754332" y="1086417"/>
                  <a:pt x="1722486" y="1086067"/>
                  <a:pt x="1690990" y="1086767"/>
                </a:cubicBezTo>
                <a:cubicBezTo>
                  <a:pt x="1688190" y="1086767"/>
                  <a:pt x="1684691" y="1091667"/>
                  <a:pt x="1683291" y="1094816"/>
                </a:cubicBezTo>
                <a:cubicBezTo>
                  <a:pt x="1656694" y="1156409"/>
                  <a:pt x="1630448" y="1218001"/>
                  <a:pt x="1603851" y="1279594"/>
                </a:cubicBezTo>
                <a:cubicBezTo>
                  <a:pt x="1539109" y="1430075"/>
                  <a:pt x="1474717" y="1580556"/>
                  <a:pt x="1410325" y="1731387"/>
                </a:cubicBezTo>
                <a:cubicBezTo>
                  <a:pt x="1406825" y="1739436"/>
                  <a:pt x="1405426" y="1748885"/>
                  <a:pt x="1405426" y="1757634"/>
                </a:cubicBezTo>
                <a:cubicBezTo>
                  <a:pt x="1405426" y="1784231"/>
                  <a:pt x="1402276" y="1810128"/>
                  <a:pt x="1387928" y="1833575"/>
                </a:cubicBezTo>
                <a:cubicBezTo>
                  <a:pt x="1358531" y="1881519"/>
                  <a:pt x="1295189" y="1905666"/>
                  <a:pt x="1239196" y="1875919"/>
                </a:cubicBezTo>
                <a:cubicBezTo>
                  <a:pt x="1195452" y="1852822"/>
                  <a:pt x="1176204" y="1814677"/>
                  <a:pt x="1175854" y="1766383"/>
                </a:cubicBezTo>
                <a:cubicBezTo>
                  <a:pt x="1175504" y="1476269"/>
                  <a:pt x="1175854" y="1186155"/>
                  <a:pt x="1175854" y="895691"/>
                </a:cubicBezTo>
                <a:cubicBezTo>
                  <a:pt x="1175854" y="890792"/>
                  <a:pt x="1175854" y="885892"/>
                  <a:pt x="1175854" y="880643"/>
                </a:cubicBezTo>
                <a:cubicBezTo>
                  <a:pt x="1154507" y="880643"/>
                  <a:pt x="1134209" y="880643"/>
                  <a:pt x="1112512" y="880643"/>
                </a:cubicBezTo>
                <a:cubicBezTo>
                  <a:pt x="1112512" y="884842"/>
                  <a:pt x="1112512" y="888692"/>
                  <a:pt x="1112512" y="892542"/>
                </a:cubicBezTo>
                <a:cubicBezTo>
                  <a:pt x="1112512" y="1101816"/>
                  <a:pt x="1112162" y="1311090"/>
                  <a:pt x="1112512" y="1520364"/>
                </a:cubicBezTo>
                <a:cubicBezTo>
                  <a:pt x="1113212" y="2060697"/>
                  <a:pt x="1113912" y="2600679"/>
                  <a:pt x="1114612" y="3141012"/>
                </a:cubicBezTo>
                <a:cubicBezTo>
                  <a:pt x="1114612" y="3204355"/>
                  <a:pt x="1085565" y="3250549"/>
                  <a:pt x="1029572" y="3278895"/>
                </a:cubicBezTo>
                <a:cubicBezTo>
                  <a:pt x="973929" y="3307242"/>
                  <a:pt x="900438" y="3290444"/>
                  <a:pt x="859843" y="3243200"/>
                </a:cubicBezTo>
                <a:cubicBezTo>
                  <a:pt x="833946" y="3213103"/>
                  <a:pt x="822748" y="3178808"/>
                  <a:pt x="822748" y="3139613"/>
                </a:cubicBezTo>
                <a:cubicBezTo>
                  <a:pt x="822748" y="2735063"/>
                  <a:pt x="822748" y="2330513"/>
                  <a:pt x="822748" y="1926313"/>
                </a:cubicBezTo>
                <a:cubicBezTo>
                  <a:pt x="822748" y="1921414"/>
                  <a:pt x="822748" y="1916514"/>
                  <a:pt x="822748" y="1911265"/>
                </a:cubicBezTo>
                <a:cubicBezTo>
                  <a:pt x="790902" y="1911265"/>
                  <a:pt x="760106" y="1911265"/>
                  <a:pt x="727910" y="1911265"/>
                </a:cubicBezTo>
                <a:cubicBezTo>
                  <a:pt x="727910" y="1916164"/>
                  <a:pt x="727910" y="1921064"/>
                  <a:pt x="727910" y="1925613"/>
                </a:cubicBezTo>
                <a:cubicBezTo>
                  <a:pt x="727910" y="2334013"/>
                  <a:pt x="727910" y="2742412"/>
                  <a:pt x="727910" y="3150811"/>
                </a:cubicBezTo>
                <a:cubicBezTo>
                  <a:pt x="727910" y="3222552"/>
                  <a:pt x="666317" y="3286594"/>
                  <a:pt x="594926" y="3292544"/>
                </a:cubicBezTo>
                <a:cubicBezTo>
                  <a:pt x="516536" y="3298843"/>
                  <a:pt x="444795" y="3239700"/>
                  <a:pt x="437096" y="3159910"/>
                </a:cubicBezTo>
                <a:cubicBezTo>
                  <a:pt x="436746" y="3156761"/>
                  <a:pt x="437096" y="3153611"/>
                  <a:pt x="437096" y="3150461"/>
                </a:cubicBezTo>
                <a:cubicBezTo>
                  <a:pt x="437096" y="2615728"/>
                  <a:pt x="437096" y="2081344"/>
                  <a:pt x="437096" y="1546610"/>
                </a:cubicBezTo>
                <a:cubicBezTo>
                  <a:pt x="437096" y="1329637"/>
                  <a:pt x="437796" y="1112664"/>
                  <a:pt x="438496" y="895691"/>
                </a:cubicBezTo>
                <a:cubicBezTo>
                  <a:pt x="438496" y="890442"/>
                  <a:pt x="438496" y="885892"/>
                  <a:pt x="438496" y="880293"/>
                </a:cubicBezTo>
                <a:cubicBezTo>
                  <a:pt x="416798" y="880293"/>
                  <a:pt x="396851" y="880293"/>
                  <a:pt x="375153" y="880293"/>
                </a:cubicBezTo>
                <a:cubicBezTo>
                  <a:pt x="375153" y="885542"/>
                  <a:pt x="375153" y="890092"/>
                  <a:pt x="375153" y="894991"/>
                </a:cubicBezTo>
                <a:cubicBezTo>
                  <a:pt x="375153" y="1186155"/>
                  <a:pt x="375153" y="1477319"/>
                  <a:pt x="375153" y="1768833"/>
                </a:cubicBezTo>
                <a:cubicBezTo>
                  <a:pt x="375153" y="1817477"/>
                  <a:pt x="354856" y="1854922"/>
                  <a:pt x="310761" y="1877669"/>
                </a:cubicBezTo>
                <a:cubicBezTo>
                  <a:pt x="268767" y="1899367"/>
                  <a:pt x="221872" y="1892017"/>
                  <a:pt x="181977" y="1858072"/>
                </a:cubicBezTo>
                <a:cubicBezTo>
                  <a:pt x="178478" y="1854922"/>
                  <a:pt x="172879" y="1852822"/>
                  <a:pt x="168329" y="1852822"/>
                </a:cubicBezTo>
                <a:cubicBezTo>
                  <a:pt x="149431" y="1852122"/>
                  <a:pt x="130534" y="1852472"/>
                  <a:pt x="110236" y="1852472"/>
                </a:cubicBezTo>
                <a:cubicBezTo>
                  <a:pt x="110236" y="1858072"/>
                  <a:pt x="110236" y="1862971"/>
                  <a:pt x="110236" y="1867520"/>
                </a:cubicBezTo>
                <a:cubicBezTo>
                  <a:pt x="110236" y="2325264"/>
                  <a:pt x="110236" y="2782657"/>
                  <a:pt x="110236" y="3240400"/>
                </a:cubicBezTo>
                <a:cubicBezTo>
                  <a:pt x="110236" y="3265947"/>
                  <a:pt x="102187" y="3286594"/>
                  <a:pt x="78390" y="3298843"/>
                </a:cubicBezTo>
                <a:cubicBezTo>
                  <a:pt x="44095" y="3316691"/>
                  <a:pt x="700" y="3290444"/>
                  <a:pt x="0" y="3251949"/>
                </a:cubicBezTo>
                <a:cubicBezTo>
                  <a:pt x="0" y="3249849"/>
                  <a:pt x="0" y="3247749"/>
                  <a:pt x="0" y="3245650"/>
                </a:cubicBezTo>
                <a:cubicBezTo>
                  <a:pt x="0" y="2762010"/>
                  <a:pt x="0" y="2278370"/>
                  <a:pt x="0" y="1794730"/>
                </a:cubicBezTo>
                <a:cubicBezTo>
                  <a:pt x="0" y="1763583"/>
                  <a:pt x="16448" y="1742936"/>
                  <a:pt x="47244" y="1736987"/>
                </a:cubicBezTo>
                <a:cubicBezTo>
                  <a:pt x="55293" y="1735237"/>
                  <a:pt x="63692" y="1734537"/>
                  <a:pt x="72091" y="1734187"/>
                </a:cubicBezTo>
                <a:cubicBezTo>
                  <a:pt x="96238" y="1733837"/>
                  <a:pt x="120385" y="1734187"/>
                  <a:pt x="145582" y="1734187"/>
                </a:cubicBezTo>
                <a:cubicBezTo>
                  <a:pt x="145932" y="1729638"/>
                  <a:pt x="145932" y="1725788"/>
                  <a:pt x="145932" y="1721939"/>
                </a:cubicBezTo>
                <a:cubicBezTo>
                  <a:pt x="145932" y="1444773"/>
                  <a:pt x="145932" y="1167607"/>
                  <a:pt x="145932" y="890442"/>
                </a:cubicBezTo>
                <a:cubicBezTo>
                  <a:pt x="145932" y="813451"/>
                  <a:pt x="146282" y="736461"/>
                  <a:pt x="144882" y="659470"/>
                </a:cubicBezTo>
                <a:cubicBezTo>
                  <a:pt x="144182" y="618176"/>
                  <a:pt x="162030" y="587379"/>
                  <a:pt x="191426" y="561483"/>
                </a:cubicBezTo>
                <a:cubicBezTo>
                  <a:pt x="233071" y="524387"/>
                  <a:pt x="282765" y="501640"/>
                  <a:pt x="334908" y="483092"/>
                </a:cubicBezTo>
                <a:cubicBezTo>
                  <a:pt x="407699" y="457196"/>
                  <a:pt x="482590" y="441448"/>
                  <a:pt x="558881" y="430949"/>
                </a:cubicBezTo>
                <a:close/>
                <a:moveTo>
                  <a:pt x="2051794" y="125716"/>
                </a:moveTo>
                <a:cubicBezTo>
                  <a:pt x="2131235" y="119767"/>
                  <a:pt x="2201226" y="175060"/>
                  <a:pt x="2215574" y="252750"/>
                </a:cubicBezTo>
                <a:cubicBezTo>
                  <a:pt x="2216274" y="256250"/>
                  <a:pt x="2218724" y="260449"/>
                  <a:pt x="2221874" y="262899"/>
                </a:cubicBezTo>
                <a:cubicBezTo>
                  <a:pt x="2284166" y="317142"/>
                  <a:pt x="2314962" y="385384"/>
                  <a:pt x="2310762" y="467974"/>
                </a:cubicBezTo>
                <a:cubicBezTo>
                  <a:pt x="2304813" y="587309"/>
                  <a:pt x="2215224" y="681797"/>
                  <a:pt x="2102188" y="698945"/>
                </a:cubicBezTo>
                <a:cubicBezTo>
                  <a:pt x="2089240" y="700345"/>
                  <a:pt x="2076291" y="701045"/>
                  <a:pt x="2063343" y="702094"/>
                </a:cubicBezTo>
                <a:cubicBezTo>
                  <a:pt x="1938059" y="703844"/>
                  <a:pt x="1828172" y="604807"/>
                  <a:pt x="1816974" y="479172"/>
                </a:cubicBezTo>
                <a:cubicBezTo>
                  <a:pt x="1809275" y="393783"/>
                  <a:pt x="1837971" y="322742"/>
                  <a:pt x="1902013" y="266049"/>
                </a:cubicBezTo>
                <a:cubicBezTo>
                  <a:pt x="1907612" y="261149"/>
                  <a:pt x="1910762" y="256250"/>
                  <a:pt x="1912162" y="248901"/>
                </a:cubicBezTo>
                <a:cubicBezTo>
                  <a:pt x="1924060" y="182409"/>
                  <a:pt x="1984253" y="130615"/>
                  <a:pt x="2051794" y="125716"/>
                </a:cubicBezTo>
                <a:close/>
                <a:moveTo>
                  <a:pt x="782853" y="81"/>
                </a:moveTo>
                <a:cubicBezTo>
                  <a:pt x="915836" y="3581"/>
                  <a:pt x="1027122" y="113467"/>
                  <a:pt x="1023623" y="254850"/>
                </a:cubicBezTo>
                <a:cubicBezTo>
                  <a:pt x="1020123" y="388533"/>
                  <a:pt x="910237" y="495970"/>
                  <a:pt x="776203" y="495620"/>
                </a:cubicBezTo>
                <a:cubicBezTo>
                  <a:pt x="646719" y="497020"/>
                  <a:pt x="528434" y="394132"/>
                  <a:pt x="528084" y="248201"/>
                </a:cubicBezTo>
                <a:cubicBezTo>
                  <a:pt x="527384" y="106468"/>
                  <a:pt x="643570" y="-3418"/>
                  <a:pt x="782853" y="81"/>
                </a:cubicBezTo>
                <a:close/>
              </a:path>
            </a:pathLst>
          </a:custGeom>
          <a:solidFill>
            <a:schemeClr val="accent5"/>
          </a:solidFill>
          <a:ln w="3495" cap="flat">
            <a:noFill/>
            <a:prstDash val="solid"/>
            <a:miter/>
          </a:ln>
        </p:spPr>
        <p:txBody>
          <a:bodyPr rtlCol="0" anchor="ctr"/>
          <a:lstStyle/>
          <a:p>
            <a:endParaRPr lang="en-US" dirty="0"/>
          </a:p>
        </p:txBody>
      </p:sp>
    </p:spTree>
    <p:extLst>
      <p:ext uri="{BB962C8B-B14F-4D97-AF65-F5344CB8AC3E}">
        <p14:creationId xmlns:p14="http://schemas.microsoft.com/office/powerpoint/2010/main" val="16686851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51" name="Arrow: Pentagon 50">
            <a:extLst>
              <a:ext uri="{FF2B5EF4-FFF2-40B4-BE49-F238E27FC236}">
                <a16:creationId xmlns:a16="http://schemas.microsoft.com/office/drawing/2014/main" id="{AB3124B7-1106-4CDA-9D54-61FEF502AE8C}"/>
              </a:ext>
            </a:extLst>
          </p:cNvPr>
          <p:cNvSpPr/>
          <p:nvPr/>
        </p:nvSpPr>
        <p:spPr>
          <a:xfrm>
            <a:off x="0" y="0"/>
            <a:ext cx="2573502" cy="688824"/>
          </a:xfrm>
          <a:prstGeom prst="homePlat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t>Findings and Limitations</a:t>
            </a:r>
          </a:p>
        </p:txBody>
      </p:sp>
      <p:sp>
        <p:nvSpPr>
          <p:cNvPr id="2" name="TextBox 1">
            <a:extLst>
              <a:ext uri="{FF2B5EF4-FFF2-40B4-BE49-F238E27FC236}">
                <a16:creationId xmlns:a16="http://schemas.microsoft.com/office/drawing/2014/main" id="{D3E706D9-A9CD-4C99-9FA1-A51035A488E1}"/>
              </a:ext>
            </a:extLst>
          </p:cNvPr>
          <p:cNvSpPr txBox="1"/>
          <p:nvPr/>
        </p:nvSpPr>
        <p:spPr>
          <a:xfrm>
            <a:off x="178025" y="922492"/>
            <a:ext cx="11636347" cy="1384995"/>
          </a:xfrm>
          <a:prstGeom prst="rect">
            <a:avLst/>
          </a:prstGeom>
          <a:noFill/>
          <a:ln>
            <a:noFill/>
            <a:prstDash val="dashDot"/>
          </a:ln>
        </p:spPr>
        <p:txBody>
          <a:bodyPr wrap="square" rtlCol="0">
            <a:spAutoFit/>
          </a:bodyPr>
          <a:lstStyle/>
          <a:p>
            <a:pPr marL="285750" indent="-285750">
              <a:buClr>
                <a:srgbClr val="0070C0"/>
              </a:buClr>
              <a:buFont typeface="Wingdings" panose="05000000000000000000" pitchFamily="2" charset="2"/>
              <a:buChar char="Ø"/>
            </a:pPr>
            <a:r>
              <a:rPr lang="en-US" sz="1400" dirty="0">
                <a:latin typeface="Meiryo UI" panose="020B0604030504040204" pitchFamily="34" charset="-128"/>
                <a:ea typeface="Meiryo UI" panose="020B0604030504040204" pitchFamily="34" charset="-128"/>
              </a:rPr>
              <a:t>We set out to answer the following questions:</a:t>
            </a:r>
          </a:p>
          <a:p>
            <a:pPr marL="800100" lvl="1" indent="-342900">
              <a:buClr>
                <a:srgbClr val="0070C0"/>
              </a:buClr>
              <a:buFont typeface="+mj-lt"/>
              <a:buAutoNum type="alphaLcParenR"/>
            </a:pPr>
            <a:r>
              <a:rPr lang="en-US" sz="1400" dirty="0">
                <a:solidFill>
                  <a:srgbClr val="000000"/>
                </a:solidFill>
                <a:latin typeface="Meiryo UI" panose="020B0604030504040204" pitchFamily="34" charset="-128"/>
                <a:ea typeface="Meiryo UI" panose="020B0604030504040204" pitchFamily="34" charset="-128"/>
              </a:rPr>
              <a:t>Is there a significant difference between older men and older women who got a stroke?</a:t>
            </a:r>
          </a:p>
          <a:p>
            <a:pPr marL="800100" lvl="1" indent="-342900">
              <a:buClr>
                <a:srgbClr val="0070C0"/>
              </a:buClr>
              <a:buFont typeface="+mj-lt"/>
              <a:buAutoNum type="alphaLcParenR"/>
            </a:pPr>
            <a:endParaRPr lang="en-US" sz="1400" dirty="0">
              <a:solidFill>
                <a:srgbClr val="000000"/>
              </a:solidFill>
              <a:latin typeface="Meiryo UI" panose="020B0604030504040204" pitchFamily="34" charset="-128"/>
              <a:ea typeface="Meiryo UI" panose="020B0604030504040204" pitchFamily="34" charset="-128"/>
            </a:endParaRPr>
          </a:p>
          <a:p>
            <a:pPr marL="800100" lvl="1" indent="-342900">
              <a:buClr>
                <a:srgbClr val="0070C0"/>
              </a:buClr>
              <a:buFont typeface="+mj-lt"/>
              <a:buAutoNum type="alphaLcParenR"/>
            </a:pPr>
            <a:r>
              <a:rPr lang="en-US" sz="1400" b="0" i="0" dirty="0">
                <a:solidFill>
                  <a:srgbClr val="000000"/>
                </a:solidFill>
                <a:effectLst/>
                <a:latin typeface="Meiryo UI" panose="020B0604030504040204" pitchFamily="34" charset="-128"/>
                <a:ea typeface="Meiryo UI" panose="020B0604030504040204" pitchFamily="34" charset="-128"/>
              </a:rPr>
              <a:t>Is there a significant difference between Overweight/obese men and overweight/obese women who got a stroke?</a:t>
            </a:r>
            <a:endParaRPr lang="en-US" sz="1400" dirty="0">
              <a:solidFill>
                <a:srgbClr val="000000"/>
              </a:solidFill>
              <a:latin typeface="Meiryo UI" panose="020B0604030504040204" pitchFamily="34" charset="-128"/>
              <a:ea typeface="Meiryo UI" panose="020B0604030504040204" pitchFamily="34" charset="-128"/>
            </a:endParaRPr>
          </a:p>
          <a:p>
            <a:pPr marL="800100" lvl="1" indent="-342900">
              <a:buClr>
                <a:srgbClr val="0070C0"/>
              </a:buClr>
              <a:buFont typeface="+mj-lt"/>
              <a:buAutoNum type="alphaLcParenR"/>
            </a:pPr>
            <a:endParaRPr lang="en-US" sz="1400" dirty="0">
              <a:solidFill>
                <a:srgbClr val="000000"/>
              </a:solidFill>
              <a:latin typeface="Meiryo UI" panose="020B0604030504040204" pitchFamily="34" charset="-128"/>
              <a:ea typeface="Meiryo UI" panose="020B0604030504040204" pitchFamily="34" charset="-128"/>
            </a:endParaRPr>
          </a:p>
          <a:p>
            <a:pPr marL="800100" lvl="1" indent="-342900">
              <a:buClr>
                <a:srgbClr val="0070C0"/>
              </a:buClr>
              <a:buFont typeface="+mj-lt"/>
              <a:buAutoNum type="alphaLcParenR"/>
            </a:pPr>
            <a:r>
              <a:rPr lang="en-US" sz="1400" b="0" i="0" dirty="0">
                <a:solidFill>
                  <a:srgbClr val="000000"/>
                </a:solidFill>
                <a:effectLst/>
                <a:latin typeface="Meiryo UI" panose="020B0604030504040204" pitchFamily="34" charset="-128"/>
                <a:ea typeface="Meiryo UI" panose="020B0604030504040204" pitchFamily="34" charset="-128"/>
              </a:rPr>
              <a:t>What is the best model that can be used for stroke prediction?</a:t>
            </a:r>
          </a:p>
        </p:txBody>
      </p:sp>
      <p:sp>
        <p:nvSpPr>
          <p:cNvPr id="4" name="TextBox 3">
            <a:extLst>
              <a:ext uri="{FF2B5EF4-FFF2-40B4-BE49-F238E27FC236}">
                <a16:creationId xmlns:a16="http://schemas.microsoft.com/office/drawing/2014/main" id="{2834B181-AAF1-477F-9785-70229FD9A90E}"/>
              </a:ext>
            </a:extLst>
          </p:cNvPr>
          <p:cNvSpPr txBox="1"/>
          <p:nvPr/>
        </p:nvSpPr>
        <p:spPr>
          <a:xfrm>
            <a:off x="178024" y="2620471"/>
            <a:ext cx="11636347" cy="3323987"/>
          </a:xfrm>
          <a:prstGeom prst="rect">
            <a:avLst/>
          </a:prstGeom>
          <a:noFill/>
          <a:ln>
            <a:noFill/>
            <a:prstDash val="dashDot"/>
          </a:ln>
        </p:spPr>
        <p:txBody>
          <a:bodyPr wrap="square" rtlCol="0">
            <a:spAutoFit/>
          </a:bodyPr>
          <a:lstStyle/>
          <a:p>
            <a:pPr marL="285750" indent="-285750">
              <a:buClr>
                <a:srgbClr val="0070C0"/>
              </a:buClr>
              <a:buFont typeface="Wingdings" panose="05000000000000000000" pitchFamily="2" charset="2"/>
              <a:buChar char="Ø"/>
            </a:pPr>
            <a:r>
              <a:rPr lang="en-US" sz="1400" b="0" i="0" dirty="0">
                <a:solidFill>
                  <a:srgbClr val="000000"/>
                </a:solidFill>
                <a:effectLst/>
                <a:latin typeface="Meiryo UI" panose="020B0604030504040204" pitchFamily="34" charset="-128"/>
                <a:ea typeface="Meiryo UI" panose="020B0604030504040204" pitchFamily="34" charset="-128"/>
              </a:rPr>
              <a:t>On hypothesis testing, we found that older men are not as likely to get a stroke as older women in fact they have a significantly less chance than older women. We also found that overweight/obese men are not as likely to get a stroke as overweight women but it was noted that th</a:t>
            </a:r>
            <a:r>
              <a:rPr lang="en-US" sz="1400" dirty="0">
                <a:solidFill>
                  <a:srgbClr val="000000"/>
                </a:solidFill>
                <a:latin typeface="Meiryo UI" panose="020B0604030504040204" pitchFamily="34" charset="-128"/>
                <a:ea typeface="Meiryo UI" panose="020B0604030504040204" pitchFamily="34" charset="-128"/>
              </a:rPr>
              <a:t>e difference was minor.</a:t>
            </a:r>
          </a:p>
          <a:p>
            <a:pPr>
              <a:buClr>
                <a:srgbClr val="0070C0"/>
              </a:buClr>
            </a:pPr>
            <a:endParaRPr lang="en-US" sz="1400" i="0" dirty="0">
              <a:solidFill>
                <a:srgbClr val="000000"/>
              </a:solidFill>
              <a:effectLst/>
              <a:latin typeface="Meiryo UI" panose="020B0604030504040204" pitchFamily="34" charset="-128"/>
              <a:ea typeface="Meiryo UI" panose="020B0604030504040204" pitchFamily="34" charset="-128"/>
            </a:endParaRPr>
          </a:p>
          <a:p>
            <a:pPr marL="285750" indent="-285750">
              <a:buClr>
                <a:srgbClr val="0070C0"/>
              </a:buClr>
              <a:buFont typeface="Wingdings" panose="05000000000000000000" pitchFamily="2" charset="2"/>
              <a:buChar char="Ø"/>
            </a:pPr>
            <a:r>
              <a:rPr lang="en-US" sz="1400" i="0" dirty="0">
                <a:solidFill>
                  <a:srgbClr val="000000"/>
                </a:solidFill>
                <a:effectLst/>
                <a:latin typeface="Meiryo UI" panose="020B0604030504040204" pitchFamily="34" charset="-128"/>
                <a:ea typeface="Meiryo UI" panose="020B0604030504040204" pitchFamily="34" charset="-128"/>
              </a:rPr>
              <a:t>Some </a:t>
            </a:r>
            <a:r>
              <a:rPr lang="en-US" sz="1400" dirty="0">
                <a:solidFill>
                  <a:srgbClr val="000000"/>
                </a:solidFill>
                <a:latin typeface="Meiryo UI" panose="020B0604030504040204" pitchFamily="34" charset="-128"/>
                <a:ea typeface="Meiryo UI" panose="020B0604030504040204" pitchFamily="34" charset="-128"/>
              </a:rPr>
              <a:t>limitations of using this dataset are:</a:t>
            </a:r>
          </a:p>
          <a:p>
            <a:pPr>
              <a:buClr>
                <a:srgbClr val="0070C0"/>
              </a:buClr>
            </a:pPr>
            <a:endParaRPr lang="en-US" sz="1400" dirty="0">
              <a:solidFill>
                <a:srgbClr val="000000"/>
              </a:solidFill>
              <a:latin typeface="Meiryo UI" panose="020B0604030504040204" pitchFamily="34" charset="-128"/>
              <a:ea typeface="Meiryo UI" panose="020B0604030504040204" pitchFamily="34" charset="-128"/>
            </a:endParaRPr>
          </a:p>
          <a:p>
            <a:pPr marL="800100" lvl="1" indent="-342900">
              <a:buClr>
                <a:srgbClr val="0070C0"/>
              </a:buClr>
              <a:buFont typeface="+mj-lt"/>
              <a:buAutoNum type="alphaLcParenR"/>
            </a:pPr>
            <a:r>
              <a:rPr lang="en-US" sz="1400" dirty="0">
                <a:solidFill>
                  <a:srgbClr val="000000"/>
                </a:solidFill>
                <a:latin typeface="Meiryo UI" panose="020B0604030504040204" pitchFamily="34" charset="-128"/>
                <a:ea typeface="Meiryo UI" panose="020B0604030504040204" pitchFamily="34" charset="-128"/>
              </a:rPr>
              <a:t>The smoking status column had a number of unknown values. Had we known these values, we would have had a more informed view on the effect of smoking on the results and this would make our model more accurate.</a:t>
            </a:r>
          </a:p>
          <a:p>
            <a:pPr marL="800100" lvl="1" indent="-342900">
              <a:buClr>
                <a:srgbClr val="0070C0"/>
              </a:buClr>
              <a:buFont typeface="+mj-lt"/>
              <a:buAutoNum type="alphaLcParenR"/>
            </a:pPr>
            <a:endParaRPr lang="en-US" sz="1400" dirty="0">
              <a:solidFill>
                <a:srgbClr val="000000"/>
              </a:solidFill>
              <a:latin typeface="Meiryo UI" panose="020B0604030504040204" pitchFamily="34" charset="-128"/>
              <a:ea typeface="Meiryo UI" panose="020B0604030504040204" pitchFamily="34" charset="-128"/>
            </a:endParaRPr>
          </a:p>
          <a:p>
            <a:pPr marL="800100" lvl="1" indent="-342900">
              <a:buClr>
                <a:srgbClr val="0070C0"/>
              </a:buClr>
              <a:buFont typeface="+mj-lt"/>
              <a:buAutoNum type="alphaLcParenR"/>
            </a:pPr>
            <a:r>
              <a:rPr lang="en-US" sz="1400" dirty="0">
                <a:solidFill>
                  <a:srgbClr val="000000"/>
                </a:solidFill>
                <a:latin typeface="Meiryo UI" panose="020B0604030504040204" pitchFamily="34" charset="-128"/>
                <a:ea typeface="Meiryo UI" panose="020B0604030504040204" pitchFamily="34" charset="-128"/>
              </a:rPr>
              <a:t>The dataset does not contain a death tally. This would help us in determining the lethality of getting a stroke.</a:t>
            </a:r>
          </a:p>
          <a:p>
            <a:pPr marL="800100" lvl="1" indent="-342900">
              <a:buClr>
                <a:srgbClr val="0070C0"/>
              </a:buClr>
              <a:buFont typeface="+mj-lt"/>
              <a:buAutoNum type="alphaLcParenR"/>
            </a:pPr>
            <a:endParaRPr lang="en-US" sz="1400" dirty="0">
              <a:solidFill>
                <a:srgbClr val="000000"/>
              </a:solidFill>
              <a:latin typeface="Meiryo UI" panose="020B0604030504040204" pitchFamily="34" charset="-128"/>
              <a:ea typeface="Meiryo UI" panose="020B0604030504040204" pitchFamily="34" charset="-128"/>
            </a:endParaRPr>
          </a:p>
          <a:p>
            <a:pPr marL="800100" lvl="1" indent="-342900">
              <a:buClr>
                <a:srgbClr val="0070C0"/>
              </a:buClr>
              <a:buFont typeface="+mj-lt"/>
              <a:buAutoNum type="alphaLcParenR"/>
            </a:pPr>
            <a:r>
              <a:rPr lang="en-US" sz="1400" dirty="0">
                <a:solidFill>
                  <a:srgbClr val="000000"/>
                </a:solidFill>
                <a:latin typeface="Meiryo UI" panose="020B0604030504040204" pitchFamily="34" charset="-128"/>
                <a:ea typeface="Meiryo UI" panose="020B0604030504040204" pitchFamily="34" charset="-128"/>
              </a:rPr>
              <a:t>The dataset does not categorize heavy drinking as a factor that can cause a stroke though excessive drinking of alcohol has been found to increase your risk of stroke by 5 times.</a:t>
            </a:r>
          </a:p>
          <a:p>
            <a:pPr lvl="1">
              <a:buClr>
                <a:srgbClr val="0070C0"/>
              </a:buClr>
            </a:pPr>
            <a:endParaRPr lang="en-US" sz="1400" dirty="0">
              <a:solidFill>
                <a:srgbClr val="000000"/>
              </a:solidFill>
              <a:latin typeface="Meiryo UI" panose="020B0604030504040204" pitchFamily="34" charset="-128"/>
              <a:ea typeface="Meiryo UI" panose="020B0604030504040204" pitchFamily="34" charset="-128"/>
            </a:endParaRPr>
          </a:p>
          <a:p>
            <a:pPr marL="742950" lvl="1" indent="-285750">
              <a:buClr>
                <a:srgbClr val="0070C0"/>
              </a:buClr>
              <a:buFont typeface="Wingdings" panose="05000000000000000000" pitchFamily="2" charset="2"/>
              <a:buChar char="Ø"/>
            </a:pPr>
            <a:endParaRPr lang="en-US" sz="1400" i="0" dirty="0">
              <a:solidFill>
                <a:srgbClr val="000000"/>
              </a:solidFill>
              <a:effectLst/>
              <a:latin typeface="Meiryo UI" panose="020B0604030504040204" pitchFamily="34" charset="-128"/>
              <a:ea typeface="Meiryo UI" panose="020B0604030504040204" pitchFamily="34" charset="-128"/>
            </a:endParaRPr>
          </a:p>
        </p:txBody>
      </p:sp>
    </p:spTree>
    <p:extLst>
      <p:ext uri="{BB962C8B-B14F-4D97-AF65-F5344CB8AC3E}">
        <p14:creationId xmlns:p14="http://schemas.microsoft.com/office/powerpoint/2010/main" val="38461533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51" name="Arrow: Pentagon 50">
            <a:extLst>
              <a:ext uri="{FF2B5EF4-FFF2-40B4-BE49-F238E27FC236}">
                <a16:creationId xmlns:a16="http://schemas.microsoft.com/office/drawing/2014/main" id="{AB3124B7-1106-4CDA-9D54-61FEF502AE8C}"/>
              </a:ext>
            </a:extLst>
          </p:cNvPr>
          <p:cNvSpPr/>
          <p:nvPr/>
        </p:nvSpPr>
        <p:spPr>
          <a:xfrm>
            <a:off x="0" y="0"/>
            <a:ext cx="2573502" cy="688824"/>
          </a:xfrm>
          <a:prstGeom prst="homePlat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t>References</a:t>
            </a:r>
          </a:p>
        </p:txBody>
      </p:sp>
      <p:sp>
        <p:nvSpPr>
          <p:cNvPr id="4" name="TextBox 3">
            <a:extLst>
              <a:ext uri="{FF2B5EF4-FFF2-40B4-BE49-F238E27FC236}">
                <a16:creationId xmlns:a16="http://schemas.microsoft.com/office/drawing/2014/main" id="{2834B181-AAF1-477F-9785-70229FD9A90E}"/>
              </a:ext>
            </a:extLst>
          </p:cNvPr>
          <p:cNvSpPr txBox="1"/>
          <p:nvPr/>
        </p:nvSpPr>
        <p:spPr>
          <a:xfrm>
            <a:off x="187649" y="810921"/>
            <a:ext cx="11636347" cy="3108543"/>
          </a:xfrm>
          <a:prstGeom prst="rect">
            <a:avLst/>
          </a:prstGeom>
          <a:noFill/>
          <a:ln>
            <a:noFill/>
            <a:prstDash val="dashDot"/>
          </a:ln>
        </p:spPr>
        <p:txBody>
          <a:bodyPr wrap="square" rtlCol="0">
            <a:spAutoFit/>
          </a:bodyPr>
          <a:lstStyle/>
          <a:p>
            <a:pPr>
              <a:buClr>
                <a:srgbClr val="0070C0"/>
              </a:buClr>
            </a:pPr>
            <a:r>
              <a:rPr lang="en-US" sz="1400" dirty="0">
                <a:solidFill>
                  <a:srgbClr val="000000"/>
                </a:solidFill>
                <a:latin typeface="Meiryo UI" panose="020B0604030504040204" pitchFamily="34" charset="-128"/>
                <a:ea typeface="Meiryo UI" panose="020B0604030504040204" pitchFamily="34" charset="-128"/>
              </a:rPr>
              <a:t>References used:</a:t>
            </a:r>
          </a:p>
          <a:p>
            <a:pPr>
              <a:buClr>
                <a:srgbClr val="0070C0"/>
              </a:buClr>
            </a:pPr>
            <a:endParaRPr lang="en-US" sz="1400" dirty="0">
              <a:solidFill>
                <a:srgbClr val="000000"/>
              </a:solidFill>
              <a:latin typeface="Meiryo UI" panose="020B0604030504040204" pitchFamily="34" charset="-128"/>
              <a:ea typeface="Meiryo UI" panose="020B0604030504040204" pitchFamily="34" charset="-128"/>
            </a:endParaRPr>
          </a:p>
          <a:p>
            <a:pPr marL="742950" lvl="1" indent="-285750">
              <a:buClr>
                <a:srgbClr val="0070C0"/>
              </a:buClr>
              <a:buFont typeface="Wingdings" panose="05000000000000000000" pitchFamily="2" charset="2"/>
              <a:buChar char="Ø"/>
            </a:pPr>
            <a:r>
              <a:rPr lang="en-US" sz="1400" dirty="0">
                <a:solidFill>
                  <a:srgbClr val="000000"/>
                </a:solidFill>
                <a:latin typeface="Meiryo UI" panose="020B0604030504040204" pitchFamily="34" charset="-128"/>
                <a:ea typeface="Meiryo UI" panose="020B0604030504040204" pitchFamily="34" charset="-128"/>
                <a:hlinkClick r:id="rId2"/>
              </a:rPr>
              <a:t>Stroke information</a:t>
            </a:r>
            <a:r>
              <a:rPr lang="en-US" sz="1400" dirty="0">
                <a:solidFill>
                  <a:srgbClr val="000000"/>
                </a:solidFill>
                <a:latin typeface="Meiryo UI" panose="020B0604030504040204" pitchFamily="34" charset="-128"/>
                <a:ea typeface="Meiryo UI" panose="020B0604030504040204" pitchFamily="34" charset="-128"/>
              </a:rPr>
              <a:t> – For stroke medical information.</a:t>
            </a:r>
          </a:p>
          <a:p>
            <a:pPr marL="742950" lvl="1" indent="-285750">
              <a:buClr>
                <a:srgbClr val="0070C0"/>
              </a:buClr>
              <a:buFont typeface="Wingdings" panose="05000000000000000000" pitchFamily="2" charset="2"/>
              <a:buChar char="Ø"/>
            </a:pPr>
            <a:endParaRPr lang="en-US" sz="1400" dirty="0">
              <a:solidFill>
                <a:srgbClr val="000000"/>
              </a:solidFill>
              <a:latin typeface="Meiryo UI" panose="020B0604030504040204" pitchFamily="34" charset="-128"/>
              <a:ea typeface="Meiryo UI" panose="020B0604030504040204" pitchFamily="34" charset="-128"/>
            </a:endParaRPr>
          </a:p>
          <a:p>
            <a:pPr marL="742950" lvl="1" indent="-285750">
              <a:buClr>
                <a:srgbClr val="0070C0"/>
              </a:buClr>
              <a:buFont typeface="Wingdings" panose="05000000000000000000" pitchFamily="2" charset="2"/>
              <a:buChar char="Ø"/>
            </a:pPr>
            <a:r>
              <a:rPr lang="en-US" sz="1400" dirty="0">
                <a:solidFill>
                  <a:srgbClr val="000000"/>
                </a:solidFill>
                <a:latin typeface="Meiryo UI" panose="020B0604030504040204" pitchFamily="34" charset="-128"/>
                <a:ea typeface="Meiryo UI" panose="020B0604030504040204" pitchFamily="34" charset="-128"/>
                <a:hlinkClick r:id="rId3"/>
              </a:rPr>
              <a:t>Body Mass Index</a:t>
            </a:r>
            <a:r>
              <a:rPr lang="en-US" sz="1400" dirty="0">
                <a:solidFill>
                  <a:srgbClr val="000000"/>
                </a:solidFill>
                <a:latin typeface="Meiryo UI" panose="020B0604030504040204" pitchFamily="34" charset="-128"/>
                <a:ea typeface="Meiryo UI" panose="020B0604030504040204" pitchFamily="34" charset="-128"/>
              </a:rPr>
              <a:t> – Used to categorize BMI numerical values to known categories (underweight, normal, overweight and obese)</a:t>
            </a:r>
          </a:p>
          <a:p>
            <a:pPr marL="742950" lvl="1" indent="-285750">
              <a:buClr>
                <a:srgbClr val="0070C0"/>
              </a:buClr>
              <a:buFont typeface="Wingdings" panose="05000000000000000000" pitchFamily="2" charset="2"/>
              <a:buChar char="Ø"/>
            </a:pPr>
            <a:endParaRPr lang="en-US" sz="1400" dirty="0">
              <a:solidFill>
                <a:srgbClr val="000000"/>
              </a:solidFill>
              <a:latin typeface="Meiryo UI" panose="020B0604030504040204" pitchFamily="34" charset="-128"/>
              <a:ea typeface="Meiryo UI" panose="020B0604030504040204" pitchFamily="34" charset="-128"/>
            </a:endParaRPr>
          </a:p>
          <a:p>
            <a:pPr marL="742950" lvl="1" indent="-285750">
              <a:buClr>
                <a:srgbClr val="0070C0"/>
              </a:buClr>
              <a:buFont typeface="Wingdings" panose="05000000000000000000" pitchFamily="2" charset="2"/>
              <a:buChar char="Ø"/>
            </a:pPr>
            <a:r>
              <a:rPr lang="en-US" sz="1400" dirty="0">
                <a:solidFill>
                  <a:srgbClr val="000000"/>
                </a:solidFill>
                <a:latin typeface="Meiryo UI" panose="020B0604030504040204" pitchFamily="34" charset="-128"/>
                <a:ea typeface="Meiryo UI" panose="020B0604030504040204" pitchFamily="34" charset="-128"/>
                <a:hlinkClick r:id="rId4"/>
              </a:rPr>
              <a:t>Blood Sugar Levels</a:t>
            </a:r>
            <a:r>
              <a:rPr lang="en-US" sz="1400" dirty="0">
                <a:solidFill>
                  <a:srgbClr val="000000"/>
                </a:solidFill>
                <a:latin typeface="Meiryo UI" panose="020B0604030504040204" pitchFamily="34" charset="-128"/>
                <a:ea typeface="Meiryo UI" panose="020B0604030504040204" pitchFamily="34" charset="-128"/>
              </a:rPr>
              <a:t> – Used to categorize numerical blood glucose levels to know categories (normal, pre-diabetes and diabetes)</a:t>
            </a:r>
          </a:p>
          <a:p>
            <a:pPr marL="742950" lvl="1" indent="-285750">
              <a:buClr>
                <a:srgbClr val="0070C0"/>
              </a:buClr>
              <a:buFont typeface="Wingdings" panose="05000000000000000000" pitchFamily="2" charset="2"/>
              <a:buChar char="Ø"/>
            </a:pPr>
            <a:endParaRPr lang="en-US" sz="1400" dirty="0">
              <a:solidFill>
                <a:srgbClr val="000000"/>
              </a:solidFill>
              <a:latin typeface="Meiryo UI" panose="020B0604030504040204" pitchFamily="34" charset="-128"/>
              <a:ea typeface="Meiryo UI" panose="020B0604030504040204" pitchFamily="34" charset="-128"/>
            </a:endParaRPr>
          </a:p>
          <a:p>
            <a:pPr marL="742950" lvl="1" indent="-285750">
              <a:buClr>
                <a:srgbClr val="0070C0"/>
              </a:buClr>
              <a:buFont typeface="Wingdings" panose="05000000000000000000" pitchFamily="2" charset="2"/>
              <a:buChar char="Ø"/>
            </a:pPr>
            <a:r>
              <a:rPr lang="en-US" sz="1400" dirty="0">
                <a:solidFill>
                  <a:srgbClr val="000000"/>
                </a:solidFill>
                <a:latin typeface="Meiryo UI" panose="020B0604030504040204" pitchFamily="34" charset="-128"/>
                <a:ea typeface="Meiryo UI" panose="020B0604030504040204" pitchFamily="34" charset="-128"/>
                <a:hlinkClick r:id="rId5"/>
              </a:rPr>
              <a:t>Stroke Prediction Dataset</a:t>
            </a:r>
            <a:r>
              <a:rPr lang="en-US" sz="1400" dirty="0">
                <a:solidFill>
                  <a:srgbClr val="000000"/>
                </a:solidFill>
                <a:latin typeface="Meiryo UI" panose="020B0604030504040204" pitchFamily="34" charset="-128"/>
                <a:ea typeface="Meiryo UI" panose="020B0604030504040204" pitchFamily="34" charset="-128"/>
              </a:rPr>
              <a:t> – Dataset used.</a:t>
            </a:r>
          </a:p>
          <a:p>
            <a:pPr marL="742950" lvl="1" indent="-285750">
              <a:buClr>
                <a:srgbClr val="0070C0"/>
              </a:buClr>
              <a:buFont typeface="Wingdings" panose="05000000000000000000" pitchFamily="2" charset="2"/>
              <a:buChar char="Ø"/>
            </a:pPr>
            <a:endParaRPr lang="en-US" sz="1400" dirty="0">
              <a:solidFill>
                <a:srgbClr val="000000"/>
              </a:solidFill>
              <a:latin typeface="Meiryo UI" panose="020B0604030504040204" pitchFamily="34" charset="-128"/>
              <a:ea typeface="Meiryo UI" panose="020B0604030504040204" pitchFamily="34" charset="-128"/>
            </a:endParaRPr>
          </a:p>
          <a:p>
            <a:pPr marL="742950" lvl="1" indent="-285750">
              <a:buClr>
                <a:srgbClr val="0070C0"/>
              </a:buClr>
              <a:buFont typeface="Wingdings" panose="05000000000000000000" pitchFamily="2" charset="2"/>
              <a:buChar char="Ø"/>
            </a:pPr>
            <a:r>
              <a:rPr lang="en-US" sz="1400" dirty="0">
                <a:solidFill>
                  <a:srgbClr val="000000"/>
                </a:solidFill>
                <a:latin typeface="Meiryo UI" panose="020B0604030504040204" pitchFamily="34" charset="-128"/>
                <a:ea typeface="Meiryo UI" panose="020B0604030504040204" pitchFamily="34" charset="-128"/>
                <a:hlinkClick r:id="rId6"/>
              </a:rPr>
              <a:t>Power Bi </a:t>
            </a:r>
            <a:r>
              <a:rPr lang="en-US" sz="1400" dirty="0">
                <a:solidFill>
                  <a:srgbClr val="000000"/>
                </a:solidFill>
                <a:latin typeface="Meiryo UI" panose="020B0604030504040204" pitchFamily="34" charset="-128"/>
                <a:ea typeface="Meiryo UI" panose="020B0604030504040204" pitchFamily="34" charset="-128"/>
              </a:rPr>
              <a:t>– reports on the feature visuals used.</a:t>
            </a:r>
          </a:p>
          <a:p>
            <a:pPr lvl="1">
              <a:buClr>
                <a:srgbClr val="0070C0"/>
              </a:buClr>
            </a:pPr>
            <a:endParaRPr lang="en-US" sz="1400" dirty="0">
              <a:solidFill>
                <a:srgbClr val="000000"/>
              </a:solidFill>
              <a:latin typeface="Meiryo UI" panose="020B0604030504040204" pitchFamily="34" charset="-128"/>
              <a:ea typeface="Meiryo UI" panose="020B0604030504040204" pitchFamily="34" charset="-128"/>
            </a:endParaRPr>
          </a:p>
        </p:txBody>
      </p:sp>
    </p:spTree>
    <p:extLst>
      <p:ext uri="{BB962C8B-B14F-4D97-AF65-F5344CB8AC3E}">
        <p14:creationId xmlns:p14="http://schemas.microsoft.com/office/powerpoint/2010/main" val="14037190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51" name="Arrow: Pentagon 50">
            <a:extLst>
              <a:ext uri="{FF2B5EF4-FFF2-40B4-BE49-F238E27FC236}">
                <a16:creationId xmlns:a16="http://schemas.microsoft.com/office/drawing/2014/main" id="{AB3124B7-1106-4CDA-9D54-61FEF502AE8C}"/>
              </a:ext>
            </a:extLst>
          </p:cNvPr>
          <p:cNvSpPr/>
          <p:nvPr/>
        </p:nvSpPr>
        <p:spPr>
          <a:xfrm>
            <a:off x="0" y="0"/>
            <a:ext cx="2573502" cy="688824"/>
          </a:xfrm>
          <a:prstGeom prst="homePlat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t>Q&amp;A</a:t>
            </a:r>
          </a:p>
        </p:txBody>
      </p:sp>
      <p:pic>
        <p:nvPicPr>
          <p:cNvPr id="5" name="Picture 4">
            <a:extLst>
              <a:ext uri="{FF2B5EF4-FFF2-40B4-BE49-F238E27FC236}">
                <a16:creationId xmlns:a16="http://schemas.microsoft.com/office/drawing/2014/main" id="{4707EA63-0398-42CC-8C11-1C4E1F53AC01}"/>
              </a:ext>
            </a:extLst>
          </p:cNvPr>
          <p:cNvPicPr>
            <a:picLocks noChangeAspect="1"/>
          </p:cNvPicPr>
          <p:nvPr/>
        </p:nvPicPr>
        <p:blipFill>
          <a:blip r:embed="rId2" cstate="print">
            <a:duotone>
              <a:prstClr val="black"/>
              <a:schemeClr val="accent5">
                <a:lumMod val="50000"/>
                <a:tint val="45000"/>
                <a:satMod val="400000"/>
              </a:schemeClr>
            </a:duotone>
            <a:extLst>
              <a:ext uri="{BEBA8EAE-BF5A-486C-A8C5-ECC9F3942E4B}">
                <a14:imgProps xmlns:a14="http://schemas.microsoft.com/office/drawing/2010/main">
                  <a14:imgLayer r:embed="rId3">
                    <a14:imgEffect>
                      <a14:colorTemperature colorTemp="2000"/>
                    </a14:imgEffect>
                  </a14:imgLayer>
                </a14:imgProps>
              </a:ext>
              <a:ext uri="{28A0092B-C50C-407E-A947-70E740481C1C}">
                <a14:useLocalDpi xmlns:a14="http://schemas.microsoft.com/office/drawing/2010/main" val="0"/>
              </a:ext>
            </a:extLst>
          </a:blip>
          <a:stretch>
            <a:fillRect/>
          </a:stretch>
        </p:blipFill>
        <p:spPr>
          <a:xfrm>
            <a:off x="2570608" y="4149430"/>
            <a:ext cx="4678439" cy="1188844"/>
          </a:xfrm>
          <a:prstGeom prst="rect">
            <a:avLst/>
          </a:prstGeom>
        </p:spPr>
      </p:pic>
      <p:grpSp>
        <p:nvGrpSpPr>
          <p:cNvPr id="6" name="Group 5">
            <a:extLst>
              <a:ext uri="{FF2B5EF4-FFF2-40B4-BE49-F238E27FC236}">
                <a16:creationId xmlns:a16="http://schemas.microsoft.com/office/drawing/2014/main" id="{286625DE-1145-4E9D-90B7-48115A51351E}"/>
              </a:ext>
            </a:extLst>
          </p:cNvPr>
          <p:cNvGrpSpPr/>
          <p:nvPr/>
        </p:nvGrpSpPr>
        <p:grpSpPr>
          <a:xfrm flipH="1">
            <a:off x="5236193" y="822188"/>
            <a:ext cx="3964624" cy="3772046"/>
            <a:chOff x="3491705" y="1323503"/>
            <a:chExt cx="5284788" cy="5028085"/>
          </a:xfrm>
        </p:grpSpPr>
        <p:sp>
          <p:nvSpPr>
            <p:cNvPr id="7" name="Freeform 32">
              <a:extLst>
                <a:ext uri="{FF2B5EF4-FFF2-40B4-BE49-F238E27FC236}">
                  <a16:creationId xmlns:a16="http://schemas.microsoft.com/office/drawing/2014/main" id="{CED232FC-32D6-4819-AABF-6C4565E334E2}"/>
                </a:ext>
              </a:extLst>
            </p:cNvPr>
            <p:cNvSpPr>
              <a:spLocks/>
            </p:cNvSpPr>
            <p:nvPr/>
          </p:nvSpPr>
          <p:spPr bwMode="auto">
            <a:xfrm>
              <a:off x="4382292" y="1636713"/>
              <a:ext cx="1995488" cy="1004888"/>
            </a:xfrm>
            <a:custGeom>
              <a:avLst/>
              <a:gdLst>
                <a:gd name="T0" fmla="*/ 150 w 2640"/>
                <a:gd name="T1" fmla="*/ 0 h 1329"/>
                <a:gd name="T2" fmla="*/ 2490 w 2640"/>
                <a:gd name="T3" fmla="*/ 0 h 1329"/>
                <a:gd name="T4" fmla="*/ 2640 w 2640"/>
                <a:gd name="T5" fmla="*/ 150 h 1329"/>
                <a:gd name="T6" fmla="*/ 2640 w 2640"/>
                <a:gd name="T7" fmla="*/ 849 h 1329"/>
                <a:gd name="T8" fmla="*/ 2490 w 2640"/>
                <a:gd name="T9" fmla="*/ 999 h 1329"/>
                <a:gd name="T10" fmla="*/ 605 w 2640"/>
                <a:gd name="T11" fmla="*/ 999 h 1329"/>
                <a:gd name="T12" fmla="*/ 678 w 2640"/>
                <a:gd name="T13" fmla="*/ 1329 h 1329"/>
                <a:gd name="T14" fmla="*/ 463 w 2640"/>
                <a:gd name="T15" fmla="*/ 999 h 1329"/>
                <a:gd name="T16" fmla="*/ 150 w 2640"/>
                <a:gd name="T17" fmla="*/ 999 h 1329"/>
                <a:gd name="T18" fmla="*/ 0 w 2640"/>
                <a:gd name="T19" fmla="*/ 849 h 1329"/>
                <a:gd name="T20" fmla="*/ 0 w 2640"/>
                <a:gd name="T21" fmla="*/ 150 h 1329"/>
                <a:gd name="T22" fmla="*/ 150 w 2640"/>
                <a:gd name="T23" fmla="*/ 0 h 13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40" h="1329">
                  <a:moveTo>
                    <a:pt x="150" y="0"/>
                  </a:moveTo>
                  <a:cubicBezTo>
                    <a:pt x="2490" y="0"/>
                    <a:pt x="2490" y="0"/>
                    <a:pt x="2490" y="0"/>
                  </a:cubicBezTo>
                  <a:cubicBezTo>
                    <a:pt x="2573" y="0"/>
                    <a:pt x="2640" y="67"/>
                    <a:pt x="2640" y="150"/>
                  </a:cubicBezTo>
                  <a:cubicBezTo>
                    <a:pt x="2640" y="849"/>
                    <a:pt x="2640" y="849"/>
                    <a:pt x="2640" y="849"/>
                  </a:cubicBezTo>
                  <a:cubicBezTo>
                    <a:pt x="2640" y="932"/>
                    <a:pt x="2573" y="999"/>
                    <a:pt x="2490" y="999"/>
                  </a:cubicBezTo>
                  <a:cubicBezTo>
                    <a:pt x="605" y="999"/>
                    <a:pt x="605" y="999"/>
                    <a:pt x="605" y="999"/>
                  </a:cubicBezTo>
                  <a:cubicBezTo>
                    <a:pt x="605" y="1108"/>
                    <a:pt x="628" y="1228"/>
                    <a:pt x="678" y="1329"/>
                  </a:cubicBezTo>
                  <a:cubicBezTo>
                    <a:pt x="572" y="1215"/>
                    <a:pt x="503" y="1116"/>
                    <a:pt x="463" y="999"/>
                  </a:cubicBezTo>
                  <a:cubicBezTo>
                    <a:pt x="150" y="999"/>
                    <a:pt x="150" y="999"/>
                    <a:pt x="150" y="999"/>
                  </a:cubicBezTo>
                  <a:cubicBezTo>
                    <a:pt x="67" y="999"/>
                    <a:pt x="0" y="932"/>
                    <a:pt x="0" y="849"/>
                  </a:cubicBezTo>
                  <a:cubicBezTo>
                    <a:pt x="0" y="150"/>
                    <a:pt x="0" y="150"/>
                    <a:pt x="0" y="150"/>
                  </a:cubicBezTo>
                  <a:cubicBezTo>
                    <a:pt x="0" y="67"/>
                    <a:pt x="67" y="0"/>
                    <a:pt x="150" y="0"/>
                  </a:cubicBezTo>
                </a:path>
              </a:pathLst>
            </a:custGeom>
            <a:solidFill>
              <a:srgbClr val="FFFFFF">
                <a:lumMod val="85000"/>
              </a:srgbClr>
            </a:solidFill>
            <a:ln>
              <a:noFill/>
            </a:ln>
          </p:spPr>
          <p:txBody>
            <a:bodyPr vert="horz" wrap="square" lIns="68598" tIns="34299" rIns="68598" bIns="34299" numCol="1" anchor="t" anchorCtr="0" compatLnSpc="1">
              <a:prstTxWarp prst="textNoShape">
                <a:avLst/>
              </a:prstTxWarp>
            </a:bodyPr>
            <a:ls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pPr marL="0" marR="0" lvl="0" indent="0" algn="l" defTabSz="1218987" rtl="0" eaLnBrk="1" fontAlgn="base" latinLnBrk="0" hangingPunct="1">
                <a:lnSpc>
                  <a:spcPct val="100000"/>
                </a:lnSpc>
                <a:spcBef>
                  <a:spcPct val="0"/>
                </a:spcBef>
                <a:spcAft>
                  <a:spcPct val="0"/>
                </a:spcAft>
                <a:buClrTx/>
                <a:buSzTx/>
                <a:buFontTx/>
                <a:buNone/>
                <a:tabLst/>
                <a:defRPr/>
              </a:pPr>
              <a:endParaRPr kumimoji="0" lang="en-IN" sz="1800" b="0" i="0" u="none" strike="noStrike" kern="1200" cap="none" spc="0" normalizeH="0" baseline="0" noProof="0" dirty="0">
                <a:ln>
                  <a:noFill/>
                </a:ln>
                <a:solidFill>
                  <a:srgbClr val="002277"/>
                </a:solidFill>
                <a:effectLst/>
                <a:uLnTx/>
                <a:uFillTx/>
                <a:latin typeface="Calibri Light"/>
                <a:ea typeface="+mn-ea"/>
                <a:cs typeface="+mn-cs"/>
              </a:endParaRPr>
            </a:p>
          </p:txBody>
        </p:sp>
        <p:sp>
          <p:nvSpPr>
            <p:cNvPr id="8" name="Freeform 33">
              <a:extLst>
                <a:ext uri="{FF2B5EF4-FFF2-40B4-BE49-F238E27FC236}">
                  <a16:creationId xmlns:a16="http://schemas.microsoft.com/office/drawing/2014/main" id="{53242685-CBC7-4DD4-9737-5EAECB85C271}"/>
                </a:ext>
              </a:extLst>
            </p:cNvPr>
            <p:cNvSpPr>
              <a:spLocks/>
            </p:cNvSpPr>
            <p:nvPr/>
          </p:nvSpPr>
          <p:spPr bwMode="auto">
            <a:xfrm>
              <a:off x="6492080" y="3611563"/>
              <a:ext cx="1949450" cy="974725"/>
            </a:xfrm>
            <a:custGeom>
              <a:avLst/>
              <a:gdLst>
                <a:gd name="T0" fmla="*/ 2089 w 2577"/>
                <a:gd name="T1" fmla="*/ 0 h 1290"/>
                <a:gd name="T2" fmla="*/ 488 w 2577"/>
                <a:gd name="T3" fmla="*/ 0 h 1290"/>
                <a:gd name="T4" fmla="*/ 0 w 2577"/>
                <a:gd name="T5" fmla="*/ 488 h 1290"/>
                <a:gd name="T6" fmla="*/ 488 w 2577"/>
                <a:gd name="T7" fmla="*/ 976 h 1290"/>
                <a:gd name="T8" fmla="*/ 1826 w 2577"/>
                <a:gd name="T9" fmla="*/ 976 h 1290"/>
                <a:gd name="T10" fmla="*/ 1754 w 2577"/>
                <a:gd name="T11" fmla="*/ 1290 h 1290"/>
                <a:gd name="T12" fmla="*/ 1962 w 2577"/>
                <a:gd name="T13" fmla="*/ 976 h 1290"/>
                <a:gd name="T14" fmla="*/ 2089 w 2577"/>
                <a:gd name="T15" fmla="*/ 976 h 1290"/>
                <a:gd name="T16" fmla="*/ 2577 w 2577"/>
                <a:gd name="T17" fmla="*/ 488 h 1290"/>
                <a:gd name="T18" fmla="*/ 2089 w 2577"/>
                <a:gd name="T19" fmla="*/ 0 h 1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77" h="1290">
                  <a:moveTo>
                    <a:pt x="2089" y="0"/>
                  </a:moveTo>
                  <a:cubicBezTo>
                    <a:pt x="488" y="0"/>
                    <a:pt x="488" y="0"/>
                    <a:pt x="488" y="0"/>
                  </a:cubicBezTo>
                  <a:cubicBezTo>
                    <a:pt x="220" y="0"/>
                    <a:pt x="0" y="220"/>
                    <a:pt x="0" y="488"/>
                  </a:cubicBezTo>
                  <a:cubicBezTo>
                    <a:pt x="0" y="757"/>
                    <a:pt x="220" y="976"/>
                    <a:pt x="488" y="976"/>
                  </a:cubicBezTo>
                  <a:cubicBezTo>
                    <a:pt x="1826" y="976"/>
                    <a:pt x="1826" y="976"/>
                    <a:pt x="1826" y="976"/>
                  </a:cubicBezTo>
                  <a:cubicBezTo>
                    <a:pt x="1825" y="1080"/>
                    <a:pt x="1802" y="1194"/>
                    <a:pt x="1754" y="1290"/>
                  </a:cubicBezTo>
                  <a:cubicBezTo>
                    <a:pt x="1856" y="1181"/>
                    <a:pt x="1922" y="1087"/>
                    <a:pt x="1962" y="976"/>
                  </a:cubicBezTo>
                  <a:cubicBezTo>
                    <a:pt x="2089" y="976"/>
                    <a:pt x="2089" y="976"/>
                    <a:pt x="2089" y="976"/>
                  </a:cubicBezTo>
                  <a:cubicBezTo>
                    <a:pt x="2358" y="976"/>
                    <a:pt x="2577" y="757"/>
                    <a:pt x="2577" y="488"/>
                  </a:cubicBezTo>
                  <a:cubicBezTo>
                    <a:pt x="2577" y="220"/>
                    <a:pt x="2358" y="0"/>
                    <a:pt x="2089" y="0"/>
                  </a:cubicBezTo>
                </a:path>
              </a:pathLst>
            </a:custGeom>
            <a:solidFill>
              <a:schemeClr val="accent1"/>
            </a:solidFill>
            <a:ln>
              <a:noFill/>
            </a:ln>
          </p:spPr>
          <p:txBody>
            <a:bodyPr vert="horz" wrap="square" lIns="68598" tIns="34299" rIns="68598" bIns="34299" numCol="1" anchor="t" anchorCtr="0" compatLnSpc="1">
              <a:prstTxWarp prst="textNoShape">
                <a:avLst/>
              </a:prstTxWarp>
            </a:bodyPr>
            <a:ls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pPr marL="0" marR="0" lvl="0" indent="0" algn="l" defTabSz="1218987" rtl="0" eaLnBrk="1" fontAlgn="base" latinLnBrk="0" hangingPunct="1">
                <a:lnSpc>
                  <a:spcPct val="100000"/>
                </a:lnSpc>
                <a:spcBef>
                  <a:spcPct val="0"/>
                </a:spcBef>
                <a:spcAft>
                  <a:spcPct val="0"/>
                </a:spcAft>
                <a:buClrTx/>
                <a:buSzTx/>
                <a:buFontTx/>
                <a:buNone/>
                <a:tabLst/>
                <a:defRPr/>
              </a:pPr>
              <a:endParaRPr kumimoji="0" lang="en-IN" sz="1800" b="0" i="0" u="none" strike="noStrike" kern="1200" cap="none" spc="0" normalizeH="0" baseline="0" noProof="0" dirty="0">
                <a:ln>
                  <a:noFill/>
                </a:ln>
                <a:solidFill>
                  <a:srgbClr val="002277"/>
                </a:solidFill>
                <a:effectLst/>
                <a:uLnTx/>
                <a:uFillTx/>
                <a:latin typeface="Calibri Light"/>
                <a:ea typeface="+mn-ea"/>
                <a:cs typeface="+mn-cs"/>
              </a:endParaRPr>
            </a:p>
          </p:txBody>
        </p:sp>
        <p:sp>
          <p:nvSpPr>
            <p:cNvPr id="9" name="Freeform 34">
              <a:extLst>
                <a:ext uri="{FF2B5EF4-FFF2-40B4-BE49-F238E27FC236}">
                  <a16:creationId xmlns:a16="http://schemas.microsoft.com/office/drawing/2014/main" id="{F5B67A19-2C67-4DD2-93A5-22F3C3270967}"/>
                </a:ext>
              </a:extLst>
            </p:cNvPr>
            <p:cNvSpPr>
              <a:spLocks/>
            </p:cNvSpPr>
            <p:nvPr/>
          </p:nvSpPr>
          <p:spPr bwMode="auto">
            <a:xfrm>
              <a:off x="4839472" y="2115343"/>
              <a:ext cx="1617662" cy="1598613"/>
            </a:xfrm>
            <a:custGeom>
              <a:avLst/>
              <a:gdLst>
                <a:gd name="T0" fmla="*/ 1070 w 2140"/>
                <a:gd name="T1" fmla="*/ 0 h 2114"/>
                <a:gd name="T2" fmla="*/ 2140 w 2140"/>
                <a:gd name="T3" fmla="*/ 751 h 2114"/>
                <a:gd name="T4" fmla="*/ 1070 w 2140"/>
                <a:gd name="T5" fmla="*/ 1502 h 2114"/>
                <a:gd name="T6" fmla="*/ 1046 w 2140"/>
                <a:gd name="T7" fmla="*/ 1501 h 2114"/>
                <a:gd name="T8" fmla="*/ 1155 w 2140"/>
                <a:gd name="T9" fmla="*/ 2114 h 2114"/>
                <a:gd name="T10" fmla="*/ 783 w 2140"/>
                <a:gd name="T11" fmla="*/ 1474 h 2114"/>
                <a:gd name="T12" fmla="*/ 764 w 2140"/>
                <a:gd name="T13" fmla="*/ 1470 h 2114"/>
                <a:gd name="T14" fmla="*/ 178 w 2140"/>
                <a:gd name="T15" fmla="*/ 1165 h 2114"/>
                <a:gd name="T16" fmla="*/ 0 w 2140"/>
                <a:gd name="T17" fmla="*/ 751 h 2114"/>
                <a:gd name="T18" fmla="*/ 1070 w 2140"/>
                <a:gd name="T19" fmla="*/ 0 h 2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40" h="2114">
                  <a:moveTo>
                    <a:pt x="1070" y="0"/>
                  </a:moveTo>
                  <a:cubicBezTo>
                    <a:pt x="1661" y="0"/>
                    <a:pt x="2140" y="336"/>
                    <a:pt x="2140" y="751"/>
                  </a:cubicBezTo>
                  <a:cubicBezTo>
                    <a:pt x="2140" y="1166"/>
                    <a:pt x="1661" y="1502"/>
                    <a:pt x="1070" y="1502"/>
                  </a:cubicBezTo>
                  <a:cubicBezTo>
                    <a:pt x="1062" y="1502"/>
                    <a:pt x="1054" y="1501"/>
                    <a:pt x="1046" y="1501"/>
                  </a:cubicBezTo>
                  <a:cubicBezTo>
                    <a:pt x="1027" y="1693"/>
                    <a:pt x="1060" y="1925"/>
                    <a:pt x="1155" y="2114"/>
                  </a:cubicBezTo>
                  <a:cubicBezTo>
                    <a:pt x="952" y="1897"/>
                    <a:pt x="837" y="1714"/>
                    <a:pt x="783" y="1474"/>
                  </a:cubicBezTo>
                  <a:cubicBezTo>
                    <a:pt x="777" y="1473"/>
                    <a:pt x="771" y="1472"/>
                    <a:pt x="764" y="1470"/>
                  </a:cubicBezTo>
                  <a:cubicBezTo>
                    <a:pt x="549" y="1426"/>
                    <a:pt x="330" y="1327"/>
                    <a:pt x="178" y="1165"/>
                  </a:cubicBezTo>
                  <a:cubicBezTo>
                    <a:pt x="70" y="1052"/>
                    <a:pt x="0" y="910"/>
                    <a:pt x="0" y="751"/>
                  </a:cubicBezTo>
                  <a:cubicBezTo>
                    <a:pt x="0" y="336"/>
                    <a:pt x="479" y="0"/>
                    <a:pt x="1070" y="0"/>
                  </a:cubicBezTo>
                </a:path>
              </a:pathLst>
            </a:custGeom>
            <a:solidFill>
              <a:schemeClr val="bg1">
                <a:lumMod val="50000"/>
                <a:lumOff val="50000"/>
              </a:schemeClr>
            </a:solidFill>
            <a:ln>
              <a:noFill/>
            </a:ln>
          </p:spPr>
          <p:txBody>
            <a:bodyPr vert="horz" wrap="square" lIns="68598" tIns="34299" rIns="68598" bIns="34299" numCol="1" anchor="t" anchorCtr="0" compatLnSpc="1">
              <a:prstTxWarp prst="textNoShape">
                <a:avLst/>
              </a:prstTxWarp>
            </a:bodyPr>
            <a:ls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pPr marL="0" marR="0" lvl="0" indent="0" algn="l" defTabSz="1218987" rtl="0" eaLnBrk="1" fontAlgn="base" latinLnBrk="0" hangingPunct="1">
                <a:lnSpc>
                  <a:spcPct val="100000"/>
                </a:lnSpc>
                <a:spcBef>
                  <a:spcPct val="0"/>
                </a:spcBef>
                <a:spcAft>
                  <a:spcPct val="0"/>
                </a:spcAft>
                <a:buClrTx/>
                <a:buSzTx/>
                <a:buFontTx/>
                <a:buNone/>
                <a:tabLst/>
                <a:defRPr/>
              </a:pPr>
              <a:endParaRPr kumimoji="0" lang="en-IN" sz="1800" b="0" i="0" u="none" strike="noStrike" kern="1200" cap="none" spc="0" normalizeH="0" baseline="0" noProof="0" dirty="0">
                <a:ln>
                  <a:noFill/>
                </a:ln>
                <a:solidFill>
                  <a:srgbClr val="002277"/>
                </a:solidFill>
                <a:effectLst/>
                <a:uLnTx/>
                <a:uFillTx/>
                <a:latin typeface="Calibri Light"/>
                <a:ea typeface="+mn-ea"/>
                <a:cs typeface="+mn-cs"/>
              </a:endParaRPr>
            </a:p>
          </p:txBody>
        </p:sp>
        <p:sp>
          <p:nvSpPr>
            <p:cNvPr id="10" name="Freeform 35">
              <a:extLst>
                <a:ext uri="{FF2B5EF4-FFF2-40B4-BE49-F238E27FC236}">
                  <a16:creationId xmlns:a16="http://schemas.microsoft.com/office/drawing/2014/main" id="{0235706A-2795-4855-8558-E9EBFE3D81D0}"/>
                </a:ext>
              </a:extLst>
            </p:cNvPr>
            <p:cNvSpPr>
              <a:spLocks/>
            </p:cNvSpPr>
            <p:nvPr/>
          </p:nvSpPr>
          <p:spPr bwMode="auto">
            <a:xfrm>
              <a:off x="6215855" y="4073525"/>
              <a:ext cx="760413" cy="977900"/>
            </a:xfrm>
            <a:custGeom>
              <a:avLst/>
              <a:gdLst>
                <a:gd name="T0" fmla="*/ 503 w 1005"/>
                <a:gd name="T1" fmla="*/ 0 h 1294"/>
                <a:gd name="T2" fmla="*/ 0 w 1005"/>
                <a:gd name="T3" fmla="*/ 502 h 1294"/>
                <a:gd name="T4" fmla="*/ 413 w 1005"/>
                <a:gd name="T5" fmla="*/ 997 h 1294"/>
                <a:gd name="T6" fmla="*/ 343 w 1005"/>
                <a:gd name="T7" fmla="*/ 1294 h 1294"/>
                <a:gd name="T8" fmla="*/ 540 w 1005"/>
                <a:gd name="T9" fmla="*/ 1003 h 1294"/>
                <a:gd name="T10" fmla="*/ 1005 w 1005"/>
                <a:gd name="T11" fmla="*/ 502 h 1294"/>
                <a:gd name="T12" fmla="*/ 503 w 1005"/>
                <a:gd name="T13" fmla="*/ 0 h 1294"/>
              </a:gdLst>
              <a:ahLst/>
              <a:cxnLst>
                <a:cxn ang="0">
                  <a:pos x="T0" y="T1"/>
                </a:cxn>
                <a:cxn ang="0">
                  <a:pos x="T2" y="T3"/>
                </a:cxn>
                <a:cxn ang="0">
                  <a:pos x="T4" y="T5"/>
                </a:cxn>
                <a:cxn ang="0">
                  <a:pos x="T6" y="T7"/>
                </a:cxn>
                <a:cxn ang="0">
                  <a:pos x="T8" y="T9"/>
                </a:cxn>
                <a:cxn ang="0">
                  <a:pos x="T10" y="T11"/>
                </a:cxn>
                <a:cxn ang="0">
                  <a:pos x="T12" y="T13"/>
                </a:cxn>
              </a:cxnLst>
              <a:rect l="0" t="0" r="r" b="b"/>
              <a:pathLst>
                <a:path w="1005" h="1294">
                  <a:moveTo>
                    <a:pt x="503" y="0"/>
                  </a:moveTo>
                  <a:cubicBezTo>
                    <a:pt x="225" y="0"/>
                    <a:pt x="0" y="225"/>
                    <a:pt x="0" y="502"/>
                  </a:cubicBezTo>
                  <a:cubicBezTo>
                    <a:pt x="0" y="749"/>
                    <a:pt x="178" y="955"/>
                    <a:pt x="413" y="997"/>
                  </a:cubicBezTo>
                  <a:cubicBezTo>
                    <a:pt x="411" y="1096"/>
                    <a:pt x="388" y="1203"/>
                    <a:pt x="343" y="1294"/>
                  </a:cubicBezTo>
                  <a:cubicBezTo>
                    <a:pt x="437" y="1193"/>
                    <a:pt x="501" y="1104"/>
                    <a:pt x="540" y="1003"/>
                  </a:cubicBezTo>
                  <a:cubicBezTo>
                    <a:pt x="800" y="984"/>
                    <a:pt x="1005" y="767"/>
                    <a:pt x="1005" y="502"/>
                  </a:cubicBezTo>
                  <a:cubicBezTo>
                    <a:pt x="1005" y="225"/>
                    <a:pt x="780" y="0"/>
                    <a:pt x="503" y="0"/>
                  </a:cubicBezTo>
                </a:path>
              </a:pathLst>
            </a:custGeom>
            <a:solidFill>
              <a:schemeClr val="bg1">
                <a:lumMod val="85000"/>
                <a:lumOff val="15000"/>
              </a:schemeClr>
            </a:solidFill>
            <a:ln>
              <a:noFill/>
            </a:ln>
          </p:spPr>
          <p:txBody>
            <a:bodyPr vert="horz" wrap="square" lIns="68598" tIns="34299" rIns="68598" bIns="34299" numCol="1" anchor="t" anchorCtr="0" compatLnSpc="1">
              <a:prstTxWarp prst="textNoShape">
                <a:avLst/>
              </a:prstTxWarp>
            </a:bodyPr>
            <a:ls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pPr marL="0" marR="0" lvl="0" indent="0" algn="l" defTabSz="1218987" rtl="0" eaLnBrk="1" fontAlgn="base" latinLnBrk="0" hangingPunct="1">
                <a:lnSpc>
                  <a:spcPct val="100000"/>
                </a:lnSpc>
                <a:spcBef>
                  <a:spcPct val="0"/>
                </a:spcBef>
                <a:spcAft>
                  <a:spcPct val="0"/>
                </a:spcAft>
                <a:buClrTx/>
                <a:buSzTx/>
                <a:buFontTx/>
                <a:buNone/>
                <a:tabLst/>
                <a:defRPr/>
              </a:pPr>
              <a:endParaRPr kumimoji="0" lang="en-IN" sz="1800" b="0" i="0" u="none" strike="noStrike" kern="1200" cap="none" spc="0" normalizeH="0" baseline="0" noProof="0" dirty="0">
                <a:ln>
                  <a:noFill/>
                </a:ln>
                <a:solidFill>
                  <a:srgbClr val="002277"/>
                </a:solidFill>
                <a:effectLst/>
                <a:uLnTx/>
                <a:uFillTx/>
                <a:latin typeface="Calibri Light"/>
                <a:ea typeface="+mn-ea"/>
                <a:cs typeface="+mn-cs"/>
              </a:endParaRPr>
            </a:p>
          </p:txBody>
        </p:sp>
        <p:sp>
          <p:nvSpPr>
            <p:cNvPr id="11" name="Freeform 36">
              <a:extLst>
                <a:ext uri="{FF2B5EF4-FFF2-40B4-BE49-F238E27FC236}">
                  <a16:creationId xmlns:a16="http://schemas.microsoft.com/office/drawing/2014/main" id="{CF2D62A1-E2FC-4054-B8F9-D12FE56332F5}"/>
                </a:ext>
              </a:extLst>
            </p:cNvPr>
            <p:cNvSpPr>
              <a:spLocks/>
            </p:cNvSpPr>
            <p:nvPr/>
          </p:nvSpPr>
          <p:spPr bwMode="auto">
            <a:xfrm>
              <a:off x="6049167" y="1958975"/>
              <a:ext cx="1141413" cy="1536700"/>
            </a:xfrm>
            <a:custGeom>
              <a:avLst/>
              <a:gdLst>
                <a:gd name="T0" fmla="*/ 226 w 1510"/>
                <a:gd name="T1" fmla="*/ 0 h 2032"/>
                <a:gd name="T2" fmla="*/ 1283 w 1510"/>
                <a:gd name="T3" fmla="*/ 0 h 2032"/>
                <a:gd name="T4" fmla="*/ 1510 w 1510"/>
                <a:gd name="T5" fmla="*/ 227 h 2032"/>
                <a:gd name="T6" fmla="*/ 1510 w 1510"/>
                <a:gd name="T7" fmla="*/ 1284 h 2032"/>
                <a:gd name="T8" fmla="*/ 1283 w 1510"/>
                <a:gd name="T9" fmla="*/ 1510 h 2032"/>
                <a:gd name="T10" fmla="*/ 821 w 1510"/>
                <a:gd name="T11" fmla="*/ 1510 h 2032"/>
                <a:gd name="T12" fmla="*/ 931 w 1510"/>
                <a:gd name="T13" fmla="*/ 2032 h 2032"/>
                <a:gd name="T14" fmla="*/ 598 w 1510"/>
                <a:gd name="T15" fmla="*/ 1510 h 2032"/>
                <a:gd name="T16" fmla="*/ 226 w 1510"/>
                <a:gd name="T17" fmla="*/ 1510 h 2032"/>
                <a:gd name="T18" fmla="*/ 0 w 1510"/>
                <a:gd name="T19" fmla="*/ 1284 h 2032"/>
                <a:gd name="T20" fmla="*/ 0 w 1510"/>
                <a:gd name="T21" fmla="*/ 227 h 2032"/>
                <a:gd name="T22" fmla="*/ 226 w 1510"/>
                <a:gd name="T23" fmla="*/ 0 h 20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10" h="2032">
                  <a:moveTo>
                    <a:pt x="226" y="0"/>
                  </a:moveTo>
                  <a:cubicBezTo>
                    <a:pt x="1283" y="0"/>
                    <a:pt x="1283" y="0"/>
                    <a:pt x="1283" y="0"/>
                  </a:cubicBezTo>
                  <a:cubicBezTo>
                    <a:pt x="1408" y="0"/>
                    <a:pt x="1510" y="102"/>
                    <a:pt x="1510" y="227"/>
                  </a:cubicBezTo>
                  <a:cubicBezTo>
                    <a:pt x="1510" y="1284"/>
                    <a:pt x="1510" y="1284"/>
                    <a:pt x="1510" y="1284"/>
                  </a:cubicBezTo>
                  <a:cubicBezTo>
                    <a:pt x="1510" y="1408"/>
                    <a:pt x="1408" y="1510"/>
                    <a:pt x="1283" y="1510"/>
                  </a:cubicBezTo>
                  <a:cubicBezTo>
                    <a:pt x="821" y="1510"/>
                    <a:pt x="821" y="1510"/>
                    <a:pt x="821" y="1510"/>
                  </a:cubicBezTo>
                  <a:cubicBezTo>
                    <a:pt x="817" y="1680"/>
                    <a:pt x="852" y="1871"/>
                    <a:pt x="931" y="2032"/>
                  </a:cubicBezTo>
                  <a:cubicBezTo>
                    <a:pt x="764" y="1852"/>
                    <a:pt x="658" y="1696"/>
                    <a:pt x="598" y="1510"/>
                  </a:cubicBezTo>
                  <a:cubicBezTo>
                    <a:pt x="226" y="1510"/>
                    <a:pt x="226" y="1510"/>
                    <a:pt x="226" y="1510"/>
                  </a:cubicBezTo>
                  <a:cubicBezTo>
                    <a:pt x="102" y="1510"/>
                    <a:pt x="0" y="1408"/>
                    <a:pt x="0" y="1284"/>
                  </a:cubicBezTo>
                  <a:cubicBezTo>
                    <a:pt x="0" y="227"/>
                    <a:pt x="0" y="227"/>
                    <a:pt x="0" y="227"/>
                  </a:cubicBezTo>
                  <a:cubicBezTo>
                    <a:pt x="0" y="102"/>
                    <a:pt x="102" y="0"/>
                    <a:pt x="226" y="0"/>
                  </a:cubicBezTo>
                </a:path>
              </a:pathLst>
            </a:custGeom>
            <a:solidFill>
              <a:schemeClr val="accent1"/>
            </a:solidFill>
            <a:ln>
              <a:noFill/>
            </a:ln>
          </p:spPr>
          <p:txBody>
            <a:bodyPr vert="horz" wrap="square" lIns="68598" tIns="34299" rIns="68598" bIns="34299" numCol="1" anchor="t" anchorCtr="0" compatLnSpc="1">
              <a:prstTxWarp prst="textNoShape">
                <a:avLst/>
              </a:prstTxWarp>
            </a:bodyPr>
            <a:ls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pPr marL="0" marR="0" lvl="0" indent="0" algn="l" defTabSz="1218987" rtl="0" eaLnBrk="1" fontAlgn="base" latinLnBrk="0" hangingPunct="1">
                <a:lnSpc>
                  <a:spcPct val="100000"/>
                </a:lnSpc>
                <a:spcBef>
                  <a:spcPct val="0"/>
                </a:spcBef>
                <a:spcAft>
                  <a:spcPct val="0"/>
                </a:spcAft>
                <a:buClrTx/>
                <a:buSzTx/>
                <a:buFontTx/>
                <a:buNone/>
                <a:tabLst/>
                <a:defRPr/>
              </a:pPr>
              <a:endParaRPr kumimoji="0" lang="en-IN" sz="1800" b="0" i="0" u="none" strike="noStrike" kern="1200" cap="none" spc="0" normalizeH="0" baseline="0" noProof="0" dirty="0">
                <a:ln>
                  <a:noFill/>
                </a:ln>
                <a:solidFill>
                  <a:srgbClr val="002277"/>
                </a:solidFill>
                <a:effectLst/>
                <a:uLnTx/>
                <a:uFillTx/>
                <a:latin typeface="Calibri Light"/>
                <a:ea typeface="+mn-ea"/>
                <a:cs typeface="+mn-cs"/>
              </a:endParaRPr>
            </a:p>
          </p:txBody>
        </p:sp>
        <p:sp>
          <p:nvSpPr>
            <p:cNvPr id="12" name="Freeform 37">
              <a:extLst>
                <a:ext uri="{FF2B5EF4-FFF2-40B4-BE49-F238E27FC236}">
                  <a16:creationId xmlns:a16="http://schemas.microsoft.com/office/drawing/2014/main" id="{BEF14CB6-A71C-49B1-BDE8-5601FBD7912C}"/>
                </a:ext>
              </a:extLst>
            </p:cNvPr>
            <p:cNvSpPr>
              <a:spLocks/>
            </p:cNvSpPr>
            <p:nvPr/>
          </p:nvSpPr>
          <p:spPr bwMode="auto">
            <a:xfrm>
              <a:off x="4210842" y="2692400"/>
              <a:ext cx="1144588" cy="1131888"/>
            </a:xfrm>
            <a:custGeom>
              <a:avLst/>
              <a:gdLst>
                <a:gd name="T0" fmla="*/ 757 w 1514"/>
                <a:gd name="T1" fmla="*/ 0 h 1496"/>
                <a:gd name="T2" fmla="*/ 0 w 1514"/>
                <a:gd name="T3" fmla="*/ 531 h 1496"/>
                <a:gd name="T4" fmla="*/ 757 w 1514"/>
                <a:gd name="T5" fmla="*/ 1062 h 1496"/>
                <a:gd name="T6" fmla="*/ 775 w 1514"/>
                <a:gd name="T7" fmla="*/ 1062 h 1496"/>
                <a:gd name="T8" fmla="*/ 697 w 1514"/>
                <a:gd name="T9" fmla="*/ 1496 h 1496"/>
                <a:gd name="T10" fmla="*/ 960 w 1514"/>
                <a:gd name="T11" fmla="*/ 1043 h 1496"/>
                <a:gd name="T12" fmla="*/ 973 w 1514"/>
                <a:gd name="T13" fmla="*/ 1040 h 1496"/>
                <a:gd name="T14" fmla="*/ 1389 w 1514"/>
                <a:gd name="T15" fmla="*/ 824 h 1496"/>
                <a:gd name="T16" fmla="*/ 1514 w 1514"/>
                <a:gd name="T17" fmla="*/ 531 h 1496"/>
                <a:gd name="T18" fmla="*/ 757 w 1514"/>
                <a:gd name="T19" fmla="*/ 0 h 1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14" h="1496">
                  <a:moveTo>
                    <a:pt x="757" y="0"/>
                  </a:moveTo>
                  <a:cubicBezTo>
                    <a:pt x="339" y="0"/>
                    <a:pt x="0" y="238"/>
                    <a:pt x="0" y="531"/>
                  </a:cubicBezTo>
                  <a:cubicBezTo>
                    <a:pt x="0" y="824"/>
                    <a:pt x="339" y="1062"/>
                    <a:pt x="757" y="1062"/>
                  </a:cubicBezTo>
                  <a:cubicBezTo>
                    <a:pt x="763" y="1062"/>
                    <a:pt x="769" y="1062"/>
                    <a:pt x="775" y="1062"/>
                  </a:cubicBezTo>
                  <a:cubicBezTo>
                    <a:pt x="787" y="1197"/>
                    <a:pt x="764" y="1362"/>
                    <a:pt x="697" y="1496"/>
                  </a:cubicBezTo>
                  <a:cubicBezTo>
                    <a:pt x="841" y="1342"/>
                    <a:pt x="922" y="1213"/>
                    <a:pt x="960" y="1043"/>
                  </a:cubicBezTo>
                  <a:cubicBezTo>
                    <a:pt x="965" y="1042"/>
                    <a:pt x="969" y="1041"/>
                    <a:pt x="973" y="1040"/>
                  </a:cubicBezTo>
                  <a:cubicBezTo>
                    <a:pt x="1126" y="1008"/>
                    <a:pt x="1281" y="938"/>
                    <a:pt x="1389" y="824"/>
                  </a:cubicBezTo>
                  <a:cubicBezTo>
                    <a:pt x="1465" y="744"/>
                    <a:pt x="1514" y="643"/>
                    <a:pt x="1514" y="531"/>
                  </a:cubicBezTo>
                  <a:cubicBezTo>
                    <a:pt x="1514" y="238"/>
                    <a:pt x="1175" y="0"/>
                    <a:pt x="757" y="0"/>
                  </a:cubicBezTo>
                </a:path>
              </a:pathLst>
            </a:custGeom>
            <a:solidFill>
              <a:schemeClr val="accent1">
                <a:lumMod val="50000"/>
              </a:schemeClr>
            </a:solidFill>
            <a:ln>
              <a:noFill/>
            </a:ln>
          </p:spPr>
          <p:txBody>
            <a:bodyPr vert="horz" wrap="square" lIns="68598" tIns="34299" rIns="68598" bIns="34299" numCol="1" anchor="t" anchorCtr="0" compatLnSpc="1">
              <a:prstTxWarp prst="textNoShape">
                <a:avLst/>
              </a:prstTxWarp>
            </a:bodyPr>
            <a:ls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pPr marL="0" marR="0" lvl="0" indent="0" algn="l" defTabSz="1218987" rtl="0" eaLnBrk="1" fontAlgn="base" latinLnBrk="0" hangingPunct="1">
                <a:lnSpc>
                  <a:spcPct val="100000"/>
                </a:lnSpc>
                <a:spcBef>
                  <a:spcPct val="0"/>
                </a:spcBef>
                <a:spcAft>
                  <a:spcPct val="0"/>
                </a:spcAft>
                <a:buClrTx/>
                <a:buSzTx/>
                <a:buFontTx/>
                <a:buNone/>
                <a:tabLst/>
                <a:defRPr/>
              </a:pPr>
              <a:endParaRPr kumimoji="0" lang="en-IN" sz="1800" b="0" i="0" u="none" strike="noStrike" kern="1200" cap="none" spc="0" normalizeH="0" baseline="0" noProof="0" dirty="0">
                <a:ln>
                  <a:noFill/>
                </a:ln>
                <a:solidFill>
                  <a:srgbClr val="002277"/>
                </a:solidFill>
                <a:effectLst/>
                <a:uLnTx/>
                <a:uFillTx/>
                <a:latin typeface="Calibri Light"/>
                <a:ea typeface="+mn-ea"/>
                <a:cs typeface="+mn-cs"/>
              </a:endParaRPr>
            </a:p>
          </p:txBody>
        </p:sp>
        <p:sp>
          <p:nvSpPr>
            <p:cNvPr id="13" name="Freeform 38">
              <a:extLst>
                <a:ext uri="{FF2B5EF4-FFF2-40B4-BE49-F238E27FC236}">
                  <a16:creationId xmlns:a16="http://schemas.microsoft.com/office/drawing/2014/main" id="{11133D65-BBFC-44F8-A54A-7DE2BBC14D1D}"/>
                </a:ext>
              </a:extLst>
            </p:cNvPr>
            <p:cNvSpPr>
              <a:spLocks/>
            </p:cNvSpPr>
            <p:nvPr/>
          </p:nvSpPr>
          <p:spPr bwMode="auto">
            <a:xfrm>
              <a:off x="6507954" y="2506886"/>
              <a:ext cx="1682749" cy="847724"/>
            </a:xfrm>
            <a:custGeom>
              <a:avLst/>
              <a:gdLst>
                <a:gd name="T0" fmla="*/ 2098 w 2224"/>
                <a:gd name="T1" fmla="*/ 0 h 1120"/>
                <a:gd name="T2" fmla="*/ 126 w 2224"/>
                <a:gd name="T3" fmla="*/ 0 h 1120"/>
                <a:gd name="T4" fmla="*/ 0 w 2224"/>
                <a:gd name="T5" fmla="*/ 126 h 1120"/>
                <a:gd name="T6" fmla="*/ 0 w 2224"/>
                <a:gd name="T7" fmla="*/ 716 h 1120"/>
                <a:gd name="T8" fmla="*/ 126 w 2224"/>
                <a:gd name="T9" fmla="*/ 842 h 1120"/>
                <a:gd name="T10" fmla="*/ 1714 w 2224"/>
                <a:gd name="T11" fmla="*/ 842 h 1120"/>
                <a:gd name="T12" fmla="*/ 1653 w 2224"/>
                <a:gd name="T13" fmla="*/ 1120 h 1120"/>
                <a:gd name="T14" fmla="*/ 1834 w 2224"/>
                <a:gd name="T15" fmla="*/ 842 h 1120"/>
                <a:gd name="T16" fmla="*/ 2098 w 2224"/>
                <a:gd name="T17" fmla="*/ 842 h 1120"/>
                <a:gd name="T18" fmla="*/ 2224 w 2224"/>
                <a:gd name="T19" fmla="*/ 716 h 1120"/>
                <a:gd name="T20" fmla="*/ 2224 w 2224"/>
                <a:gd name="T21" fmla="*/ 126 h 1120"/>
                <a:gd name="T22" fmla="*/ 2098 w 2224"/>
                <a:gd name="T23" fmla="*/ 0 h 1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24" h="1120">
                  <a:moveTo>
                    <a:pt x="2098" y="0"/>
                  </a:moveTo>
                  <a:cubicBezTo>
                    <a:pt x="126" y="0"/>
                    <a:pt x="126" y="0"/>
                    <a:pt x="126" y="0"/>
                  </a:cubicBezTo>
                  <a:cubicBezTo>
                    <a:pt x="56" y="0"/>
                    <a:pt x="0" y="57"/>
                    <a:pt x="0" y="126"/>
                  </a:cubicBezTo>
                  <a:cubicBezTo>
                    <a:pt x="0" y="716"/>
                    <a:pt x="0" y="716"/>
                    <a:pt x="0" y="716"/>
                  </a:cubicBezTo>
                  <a:cubicBezTo>
                    <a:pt x="0" y="785"/>
                    <a:pt x="56" y="842"/>
                    <a:pt x="126" y="842"/>
                  </a:cubicBezTo>
                  <a:cubicBezTo>
                    <a:pt x="1714" y="842"/>
                    <a:pt x="1714" y="842"/>
                    <a:pt x="1714" y="842"/>
                  </a:cubicBezTo>
                  <a:cubicBezTo>
                    <a:pt x="1715" y="933"/>
                    <a:pt x="1695" y="1035"/>
                    <a:pt x="1653" y="1120"/>
                  </a:cubicBezTo>
                  <a:cubicBezTo>
                    <a:pt x="1742" y="1024"/>
                    <a:pt x="1800" y="940"/>
                    <a:pt x="1834" y="842"/>
                  </a:cubicBezTo>
                  <a:cubicBezTo>
                    <a:pt x="2098" y="842"/>
                    <a:pt x="2098" y="842"/>
                    <a:pt x="2098" y="842"/>
                  </a:cubicBezTo>
                  <a:cubicBezTo>
                    <a:pt x="2167" y="842"/>
                    <a:pt x="2224" y="785"/>
                    <a:pt x="2224" y="716"/>
                  </a:cubicBezTo>
                  <a:cubicBezTo>
                    <a:pt x="2224" y="126"/>
                    <a:pt x="2224" y="126"/>
                    <a:pt x="2224" y="126"/>
                  </a:cubicBezTo>
                  <a:cubicBezTo>
                    <a:pt x="2224" y="57"/>
                    <a:pt x="2167" y="0"/>
                    <a:pt x="2098" y="0"/>
                  </a:cubicBezTo>
                </a:path>
              </a:pathLst>
            </a:custGeom>
            <a:solidFill>
              <a:srgbClr val="FFFFFF">
                <a:lumMod val="85000"/>
              </a:srgbClr>
            </a:solidFill>
            <a:ln>
              <a:noFill/>
            </a:ln>
          </p:spPr>
          <p:txBody>
            <a:bodyPr vert="horz" wrap="square" lIns="68598" tIns="34299" rIns="68598" bIns="34299" numCol="1" anchor="t" anchorCtr="0" compatLnSpc="1">
              <a:prstTxWarp prst="textNoShape">
                <a:avLst/>
              </a:prstTxWarp>
            </a:bodyPr>
            <a:ls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pPr marL="0" marR="0" lvl="0" indent="0" algn="l" defTabSz="1218987" rtl="0" eaLnBrk="1" fontAlgn="base" latinLnBrk="0" hangingPunct="1">
                <a:lnSpc>
                  <a:spcPct val="100000"/>
                </a:lnSpc>
                <a:spcBef>
                  <a:spcPct val="0"/>
                </a:spcBef>
                <a:spcAft>
                  <a:spcPct val="0"/>
                </a:spcAft>
                <a:buClrTx/>
                <a:buSzTx/>
                <a:buFontTx/>
                <a:buNone/>
                <a:tabLst/>
                <a:defRPr/>
              </a:pPr>
              <a:endParaRPr kumimoji="0" lang="en-IN" sz="1800" b="0" i="0" u="none" strike="noStrike" kern="1200" cap="none" spc="0" normalizeH="0" baseline="0" noProof="0" dirty="0">
                <a:ln>
                  <a:noFill/>
                </a:ln>
                <a:solidFill>
                  <a:srgbClr val="002277"/>
                </a:solidFill>
                <a:effectLst/>
                <a:uLnTx/>
                <a:uFillTx/>
                <a:latin typeface="Calibri Light"/>
                <a:ea typeface="+mn-ea"/>
                <a:cs typeface="+mn-cs"/>
              </a:endParaRPr>
            </a:p>
          </p:txBody>
        </p:sp>
        <p:sp>
          <p:nvSpPr>
            <p:cNvPr id="14" name="Freeform 39">
              <a:extLst>
                <a:ext uri="{FF2B5EF4-FFF2-40B4-BE49-F238E27FC236}">
                  <a16:creationId xmlns:a16="http://schemas.microsoft.com/office/drawing/2014/main" id="{A97FA069-8718-4A2E-8CA8-24AE0CAD27DD}"/>
                </a:ext>
              </a:extLst>
            </p:cNvPr>
            <p:cNvSpPr>
              <a:spLocks/>
            </p:cNvSpPr>
            <p:nvPr/>
          </p:nvSpPr>
          <p:spPr bwMode="auto">
            <a:xfrm>
              <a:off x="3731417" y="2149475"/>
              <a:ext cx="979488" cy="1317625"/>
            </a:xfrm>
            <a:custGeom>
              <a:avLst/>
              <a:gdLst>
                <a:gd name="T0" fmla="*/ 1100 w 1294"/>
                <a:gd name="T1" fmla="*/ 0 h 1741"/>
                <a:gd name="T2" fmla="*/ 194 w 1294"/>
                <a:gd name="T3" fmla="*/ 0 h 1741"/>
                <a:gd name="T4" fmla="*/ 0 w 1294"/>
                <a:gd name="T5" fmla="*/ 194 h 1741"/>
                <a:gd name="T6" fmla="*/ 0 w 1294"/>
                <a:gd name="T7" fmla="*/ 1100 h 1741"/>
                <a:gd name="T8" fmla="*/ 194 w 1294"/>
                <a:gd name="T9" fmla="*/ 1294 h 1741"/>
                <a:gd name="T10" fmla="*/ 589 w 1294"/>
                <a:gd name="T11" fmla="*/ 1294 h 1741"/>
                <a:gd name="T12" fmla="*/ 495 w 1294"/>
                <a:gd name="T13" fmla="*/ 1741 h 1741"/>
                <a:gd name="T14" fmla="*/ 781 w 1294"/>
                <a:gd name="T15" fmla="*/ 1294 h 1741"/>
                <a:gd name="T16" fmla="*/ 1100 w 1294"/>
                <a:gd name="T17" fmla="*/ 1294 h 1741"/>
                <a:gd name="T18" fmla="*/ 1294 w 1294"/>
                <a:gd name="T19" fmla="*/ 1100 h 1741"/>
                <a:gd name="T20" fmla="*/ 1294 w 1294"/>
                <a:gd name="T21" fmla="*/ 194 h 1741"/>
                <a:gd name="T22" fmla="*/ 1100 w 1294"/>
                <a:gd name="T23" fmla="*/ 0 h 17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94" h="1741">
                  <a:moveTo>
                    <a:pt x="1100" y="0"/>
                  </a:moveTo>
                  <a:cubicBezTo>
                    <a:pt x="194" y="0"/>
                    <a:pt x="194" y="0"/>
                    <a:pt x="194" y="0"/>
                  </a:cubicBezTo>
                  <a:cubicBezTo>
                    <a:pt x="87" y="0"/>
                    <a:pt x="0" y="87"/>
                    <a:pt x="0" y="194"/>
                  </a:cubicBezTo>
                  <a:cubicBezTo>
                    <a:pt x="0" y="1100"/>
                    <a:pt x="0" y="1100"/>
                    <a:pt x="0" y="1100"/>
                  </a:cubicBezTo>
                  <a:cubicBezTo>
                    <a:pt x="0" y="1206"/>
                    <a:pt x="87" y="1294"/>
                    <a:pt x="194" y="1294"/>
                  </a:cubicBezTo>
                  <a:cubicBezTo>
                    <a:pt x="589" y="1294"/>
                    <a:pt x="589" y="1294"/>
                    <a:pt x="589" y="1294"/>
                  </a:cubicBezTo>
                  <a:cubicBezTo>
                    <a:pt x="593" y="1439"/>
                    <a:pt x="564" y="1603"/>
                    <a:pt x="495" y="1741"/>
                  </a:cubicBezTo>
                  <a:cubicBezTo>
                    <a:pt x="639" y="1586"/>
                    <a:pt x="729" y="1453"/>
                    <a:pt x="781" y="1294"/>
                  </a:cubicBezTo>
                  <a:cubicBezTo>
                    <a:pt x="1100" y="1294"/>
                    <a:pt x="1100" y="1294"/>
                    <a:pt x="1100" y="1294"/>
                  </a:cubicBezTo>
                  <a:cubicBezTo>
                    <a:pt x="1206" y="1294"/>
                    <a:pt x="1294" y="1206"/>
                    <a:pt x="1294" y="1100"/>
                  </a:cubicBezTo>
                  <a:cubicBezTo>
                    <a:pt x="1294" y="194"/>
                    <a:pt x="1294" y="194"/>
                    <a:pt x="1294" y="194"/>
                  </a:cubicBezTo>
                  <a:cubicBezTo>
                    <a:pt x="1294" y="87"/>
                    <a:pt x="1206" y="0"/>
                    <a:pt x="1100" y="0"/>
                  </a:cubicBezTo>
                </a:path>
              </a:pathLst>
            </a:custGeom>
            <a:solidFill>
              <a:schemeClr val="bg1">
                <a:lumMod val="85000"/>
                <a:lumOff val="15000"/>
              </a:schemeClr>
            </a:solidFill>
            <a:ln>
              <a:noFill/>
            </a:ln>
          </p:spPr>
          <p:txBody>
            <a:bodyPr vert="horz" wrap="square" lIns="68598" tIns="34299" rIns="68598" bIns="34299" numCol="1" anchor="t" anchorCtr="0" compatLnSpc="1">
              <a:prstTxWarp prst="textNoShape">
                <a:avLst/>
              </a:prstTxWarp>
            </a:bodyPr>
            <a:ls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pPr marL="0" marR="0" lvl="0" indent="0" algn="l" defTabSz="1218987" rtl="0" eaLnBrk="1" fontAlgn="base" latinLnBrk="0" hangingPunct="1">
                <a:lnSpc>
                  <a:spcPct val="100000"/>
                </a:lnSpc>
                <a:spcBef>
                  <a:spcPct val="0"/>
                </a:spcBef>
                <a:spcAft>
                  <a:spcPct val="0"/>
                </a:spcAft>
                <a:buClrTx/>
                <a:buSzTx/>
                <a:buFontTx/>
                <a:buNone/>
                <a:tabLst/>
                <a:defRPr/>
              </a:pPr>
              <a:endParaRPr kumimoji="0" lang="en-IN" sz="1800" b="0" i="0" u="none" strike="noStrike" kern="1200" cap="none" spc="0" normalizeH="0" baseline="0" noProof="0" dirty="0">
                <a:ln>
                  <a:noFill/>
                </a:ln>
                <a:solidFill>
                  <a:srgbClr val="002277"/>
                </a:solidFill>
                <a:effectLst/>
                <a:uLnTx/>
                <a:uFillTx/>
                <a:latin typeface="Calibri Light"/>
                <a:ea typeface="+mn-ea"/>
                <a:cs typeface="+mn-cs"/>
              </a:endParaRPr>
            </a:p>
          </p:txBody>
        </p:sp>
        <p:sp>
          <p:nvSpPr>
            <p:cNvPr id="15" name="Freeform 40">
              <a:extLst>
                <a:ext uri="{FF2B5EF4-FFF2-40B4-BE49-F238E27FC236}">
                  <a16:creationId xmlns:a16="http://schemas.microsoft.com/office/drawing/2014/main" id="{B6014C4D-1DD8-47C4-AFB7-7CA74EAF131D}"/>
                </a:ext>
              </a:extLst>
            </p:cNvPr>
            <p:cNvSpPr>
              <a:spLocks/>
            </p:cNvSpPr>
            <p:nvPr/>
          </p:nvSpPr>
          <p:spPr bwMode="auto">
            <a:xfrm>
              <a:off x="4839492" y="1408113"/>
              <a:ext cx="635000" cy="815975"/>
            </a:xfrm>
            <a:custGeom>
              <a:avLst/>
              <a:gdLst>
                <a:gd name="T0" fmla="*/ 419 w 838"/>
                <a:gd name="T1" fmla="*/ 0 h 1080"/>
                <a:gd name="T2" fmla="*/ 0 w 838"/>
                <a:gd name="T3" fmla="*/ 420 h 1080"/>
                <a:gd name="T4" fmla="*/ 345 w 838"/>
                <a:gd name="T5" fmla="*/ 832 h 1080"/>
                <a:gd name="T6" fmla="*/ 286 w 838"/>
                <a:gd name="T7" fmla="*/ 1080 h 1080"/>
                <a:gd name="T8" fmla="*/ 451 w 838"/>
                <a:gd name="T9" fmla="*/ 838 h 1080"/>
                <a:gd name="T10" fmla="*/ 838 w 838"/>
                <a:gd name="T11" fmla="*/ 420 h 1080"/>
                <a:gd name="T12" fmla="*/ 419 w 838"/>
                <a:gd name="T13" fmla="*/ 0 h 1080"/>
              </a:gdLst>
              <a:ahLst/>
              <a:cxnLst>
                <a:cxn ang="0">
                  <a:pos x="T0" y="T1"/>
                </a:cxn>
                <a:cxn ang="0">
                  <a:pos x="T2" y="T3"/>
                </a:cxn>
                <a:cxn ang="0">
                  <a:pos x="T4" y="T5"/>
                </a:cxn>
                <a:cxn ang="0">
                  <a:pos x="T6" y="T7"/>
                </a:cxn>
                <a:cxn ang="0">
                  <a:pos x="T8" y="T9"/>
                </a:cxn>
                <a:cxn ang="0">
                  <a:pos x="T10" y="T11"/>
                </a:cxn>
                <a:cxn ang="0">
                  <a:pos x="T12" y="T13"/>
                </a:cxn>
              </a:cxnLst>
              <a:rect l="0" t="0" r="r" b="b"/>
              <a:pathLst>
                <a:path w="838" h="1080">
                  <a:moveTo>
                    <a:pt x="419" y="0"/>
                  </a:moveTo>
                  <a:cubicBezTo>
                    <a:pt x="188" y="0"/>
                    <a:pt x="0" y="188"/>
                    <a:pt x="0" y="420"/>
                  </a:cubicBezTo>
                  <a:cubicBezTo>
                    <a:pt x="0" y="626"/>
                    <a:pt x="149" y="797"/>
                    <a:pt x="345" y="832"/>
                  </a:cubicBezTo>
                  <a:cubicBezTo>
                    <a:pt x="343" y="915"/>
                    <a:pt x="324" y="1004"/>
                    <a:pt x="286" y="1080"/>
                  </a:cubicBezTo>
                  <a:cubicBezTo>
                    <a:pt x="365" y="996"/>
                    <a:pt x="418" y="922"/>
                    <a:pt x="451" y="838"/>
                  </a:cubicBezTo>
                  <a:cubicBezTo>
                    <a:pt x="668" y="821"/>
                    <a:pt x="838" y="640"/>
                    <a:pt x="838" y="420"/>
                  </a:cubicBezTo>
                  <a:cubicBezTo>
                    <a:pt x="838" y="188"/>
                    <a:pt x="651" y="0"/>
                    <a:pt x="419" y="0"/>
                  </a:cubicBezTo>
                </a:path>
              </a:pathLst>
            </a:custGeom>
            <a:solidFill>
              <a:schemeClr val="bg1">
                <a:lumMod val="85000"/>
                <a:lumOff val="15000"/>
              </a:schemeClr>
            </a:solidFill>
            <a:ln>
              <a:noFill/>
            </a:ln>
          </p:spPr>
          <p:txBody>
            <a:bodyPr vert="horz" wrap="square" lIns="68598" tIns="34299" rIns="68598" bIns="34299" numCol="1" anchor="t" anchorCtr="0" compatLnSpc="1">
              <a:prstTxWarp prst="textNoShape">
                <a:avLst/>
              </a:prstTxWarp>
            </a:bodyPr>
            <a:ls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pPr marL="0" marR="0" lvl="0" indent="0" algn="l" defTabSz="1218987" rtl="0" eaLnBrk="1" fontAlgn="base" latinLnBrk="0" hangingPunct="1">
                <a:lnSpc>
                  <a:spcPct val="100000"/>
                </a:lnSpc>
                <a:spcBef>
                  <a:spcPct val="0"/>
                </a:spcBef>
                <a:spcAft>
                  <a:spcPct val="0"/>
                </a:spcAft>
                <a:buClrTx/>
                <a:buSzTx/>
                <a:buFontTx/>
                <a:buNone/>
                <a:tabLst/>
                <a:defRPr/>
              </a:pPr>
              <a:endParaRPr kumimoji="0" lang="en-IN" sz="1800" b="0" i="0" u="none" strike="noStrike" kern="1200" cap="none" spc="0" normalizeH="0" baseline="0" noProof="0" dirty="0">
                <a:ln>
                  <a:noFill/>
                </a:ln>
                <a:solidFill>
                  <a:srgbClr val="002277"/>
                </a:solidFill>
                <a:effectLst/>
                <a:uLnTx/>
                <a:uFillTx/>
                <a:latin typeface="Calibri Light"/>
                <a:ea typeface="+mn-ea"/>
                <a:cs typeface="+mn-cs"/>
              </a:endParaRPr>
            </a:p>
          </p:txBody>
        </p:sp>
        <p:sp>
          <p:nvSpPr>
            <p:cNvPr id="16" name="Freeform 41">
              <a:extLst>
                <a:ext uri="{FF2B5EF4-FFF2-40B4-BE49-F238E27FC236}">
                  <a16:creationId xmlns:a16="http://schemas.microsoft.com/office/drawing/2014/main" id="{19AE341B-FB33-4B9A-A4EA-DF75DBDE2669}"/>
                </a:ext>
              </a:extLst>
            </p:cNvPr>
            <p:cNvSpPr>
              <a:spLocks/>
            </p:cNvSpPr>
            <p:nvPr/>
          </p:nvSpPr>
          <p:spPr bwMode="auto">
            <a:xfrm>
              <a:off x="5461718" y="1323503"/>
              <a:ext cx="1411288" cy="708025"/>
            </a:xfrm>
            <a:custGeom>
              <a:avLst/>
              <a:gdLst>
                <a:gd name="T0" fmla="*/ 353 w 1865"/>
                <a:gd name="T1" fmla="*/ 0 h 934"/>
                <a:gd name="T2" fmla="*/ 1512 w 1865"/>
                <a:gd name="T3" fmla="*/ 0 h 934"/>
                <a:gd name="T4" fmla="*/ 1865 w 1865"/>
                <a:gd name="T5" fmla="*/ 353 h 934"/>
                <a:gd name="T6" fmla="*/ 1512 w 1865"/>
                <a:gd name="T7" fmla="*/ 706 h 934"/>
                <a:gd name="T8" fmla="*/ 544 w 1865"/>
                <a:gd name="T9" fmla="*/ 706 h 934"/>
                <a:gd name="T10" fmla="*/ 595 w 1865"/>
                <a:gd name="T11" fmla="*/ 934 h 934"/>
                <a:gd name="T12" fmla="*/ 445 w 1865"/>
                <a:gd name="T13" fmla="*/ 706 h 934"/>
                <a:gd name="T14" fmla="*/ 353 w 1865"/>
                <a:gd name="T15" fmla="*/ 706 h 934"/>
                <a:gd name="T16" fmla="*/ 0 w 1865"/>
                <a:gd name="T17" fmla="*/ 353 h 934"/>
                <a:gd name="T18" fmla="*/ 353 w 1865"/>
                <a:gd name="T19" fmla="*/ 0 h 9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65" h="934">
                  <a:moveTo>
                    <a:pt x="353" y="0"/>
                  </a:moveTo>
                  <a:cubicBezTo>
                    <a:pt x="1512" y="0"/>
                    <a:pt x="1512" y="0"/>
                    <a:pt x="1512" y="0"/>
                  </a:cubicBezTo>
                  <a:cubicBezTo>
                    <a:pt x="1707" y="0"/>
                    <a:pt x="1865" y="159"/>
                    <a:pt x="1865" y="353"/>
                  </a:cubicBezTo>
                  <a:cubicBezTo>
                    <a:pt x="1865" y="547"/>
                    <a:pt x="1707" y="706"/>
                    <a:pt x="1512" y="706"/>
                  </a:cubicBezTo>
                  <a:cubicBezTo>
                    <a:pt x="544" y="706"/>
                    <a:pt x="544" y="706"/>
                    <a:pt x="544" y="706"/>
                  </a:cubicBezTo>
                  <a:cubicBezTo>
                    <a:pt x="544" y="781"/>
                    <a:pt x="561" y="864"/>
                    <a:pt x="595" y="934"/>
                  </a:cubicBezTo>
                  <a:cubicBezTo>
                    <a:pt x="522" y="855"/>
                    <a:pt x="474" y="786"/>
                    <a:pt x="445" y="706"/>
                  </a:cubicBezTo>
                  <a:cubicBezTo>
                    <a:pt x="353" y="706"/>
                    <a:pt x="353" y="706"/>
                    <a:pt x="353" y="706"/>
                  </a:cubicBezTo>
                  <a:cubicBezTo>
                    <a:pt x="159" y="706"/>
                    <a:pt x="0" y="547"/>
                    <a:pt x="0" y="353"/>
                  </a:cubicBezTo>
                  <a:cubicBezTo>
                    <a:pt x="0" y="159"/>
                    <a:pt x="159" y="0"/>
                    <a:pt x="353" y="0"/>
                  </a:cubicBezTo>
                </a:path>
              </a:pathLst>
            </a:custGeom>
            <a:solidFill>
              <a:schemeClr val="accent1"/>
            </a:solidFill>
            <a:ln>
              <a:noFill/>
            </a:ln>
          </p:spPr>
          <p:txBody>
            <a:bodyPr vert="horz" wrap="square" lIns="68598" tIns="34299" rIns="68598" bIns="34299" numCol="1" anchor="t" anchorCtr="0" compatLnSpc="1">
              <a:prstTxWarp prst="textNoShape">
                <a:avLst/>
              </a:prstTxWarp>
            </a:bodyPr>
            <a:ls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pPr marL="0" marR="0" lvl="0" indent="0" algn="l" defTabSz="1218987" rtl="0" eaLnBrk="1" fontAlgn="base" latinLnBrk="0" hangingPunct="1">
                <a:lnSpc>
                  <a:spcPct val="100000"/>
                </a:lnSpc>
                <a:spcBef>
                  <a:spcPct val="0"/>
                </a:spcBef>
                <a:spcAft>
                  <a:spcPct val="0"/>
                </a:spcAft>
                <a:buClrTx/>
                <a:buSzTx/>
                <a:buFontTx/>
                <a:buNone/>
                <a:tabLst/>
                <a:defRPr/>
              </a:pPr>
              <a:endParaRPr kumimoji="0" lang="en-IN" sz="1800" b="0" i="0" u="none" strike="noStrike" kern="1200" cap="none" spc="0" normalizeH="0" baseline="0" noProof="0" dirty="0">
                <a:ln>
                  <a:noFill/>
                </a:ln>
                <a:solidFill>
                  <a:srgbClr val="002277"/>
                </a:solidFill>
                <a:effectLst/>
                <a:uLnTx/>
                <a:uFillTx/>
                <a:latin typeface="Calibri Light"/>
                <a:ea typeface="+mn-ea"/>
                <a:cs typeface="+mn-cs"/>
              </a:endParaRPr>
            </a:p>
          </p:txBody>
        </p:sp>
        <p:sp>
          <p:nvSpPr>
            <p:cNvPr id="17" name="Freeform 43">
              <a:extLst>
                <a:ext uri="{FF2B5EF4-FFF2-40B4-BE49-F238E27FC236}">
                  <a16:creationId xmlns:a16="http://schemas.microsoft.com/office/drawing/2014/main" id="{71D41A27-C526-404E-A50D-CDB691F9C884}"/>
                </a:ext>
              </a:extLst>
            </p:cNvPr>
            <p:cNvSpPr>
              <a:spLocks/>
            </p:cNvSpPr>
            <p:nvPr/>
          </p:nvSpPr>
          <p:spPr bwMode="auto">
            <a:xfrm>
              <a:off x="7501730" y="3021013"/>
              <a:ext cx="1209675" cy="1193800"/>
            </a:xfrm>
            <a:custGeom>
              <a:avLst/>
              <a:gdLst>
                <a:gd name="T0" fmla="*/ 799 w 1599"/>
                <a:gd name="T1" fmla="*/ 0 h 1579"/>
                <a:gd name="T2" fmla="*/ 0 w 1599"/>
                <a:gd name="T3" fmla="*/ 561 h 1579"/>
                <a:gd name="T4" fmla="*/ 799 w 1599"/>
                <a:gd name="T5" fmla="*/ 1121 h 1579"/>
                <a:gd name="T6" fmla="*/ 818 w 1599"/>
                <a:gd name="T7" fmla="*/ 1121 h 1579"/>
                <a:gd name="T8" fmla="*/ 736 w 1599"/>
                <a:gd name="T9" fmla="*/ 1579 h 1579"/>
                <a:gd name="T10" fmla="*/ 1014 w 1599"/>
                <a:gd name="T11" fmla="*/ 1101 h 1579"/>
                <a:gd name="T12" fmla="*/ 1028 w 1599"/>
                <a:gd name="T13" fmla="*/ 1098 h 1579"/>
                <a:gd name="T14" fmla="*/ 1466 w 1599"/>
                <a:gd name="T15" fmla="*/ 870 h 1579"/>
                <a:gd name="T16" fmla="*/ 1599 w 1599"/>
                <a:gd name="T17" fmla="*/ 561 h 1579"/>
                <a:gd name="T18" fmla="*/ 799 w 1599"/>
                <a:gd name="T19" fmla="*/ 0 h 15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99" h="1579">
                  <a:moveTo>
                    <a:pt x="799" y="0"/>
                  </a:moveTo>
                  <a:cubicBezTo>
                    <a:pt x="358" y="0"/>
                    <a:pt x="0" y="251"/>
                    <a:pt x="0" y="561"/>
                  </a:cubicBezTo>
                  <a:cubicBezTo>
                    <a:pt x="0" y="870"/>
                    <a:pt x="358" y="1121"/>
                    <a:pt x="799" y="1121"/>
                  </a:cubicBezTo>
                  <a:cubicBezTo>
                    <a:pt x="805" y="1121"/>
                    <a:pt x="812" y="1121"/>
                    <a:pt x="818" y="1121"/>
                  </a:cubicBezTo>
                  <a:cubicBezTo>
                    <a:pt x="831" y="1264"/>
                    <a:pt x="807" y="1438"/>
                    <a:pt x="736" y="1579"/>
                  </a:cubicBezTo>
                  <a:cubicBezTo>
                    <a:pt x="888" y="1417"/>
                    <a:pt x="973" y="1280"/>
                    <a:pt x="1014" y="1101"/>
                  </a:cubicBezTo>
                  <a:cubicBezTo>
                    <a:pt x="1018" y="1100"/>
                    <a:pt x="1023" y="1099"/>
                    <a:pt x="1028" y="1098"/>
                  </a:cubicBezTo>
                  <a:cubicBezTo>
                    <a:pt x="1188" y="1065"/>
                    <a:pt x="1352" y="991"/>
                    <a:pt x="1466" y="870"/>
                  </a:cubicBezTo>
                  <a:cubicBezTo>
                    <a:pt x="1547" y="785"/>
                    <a:pt x="1599" y="679"/>
                    <a:pt x="1599" y="561"/>
                  </a:cubicBezTo>
                  <a:cubicBezTo>
                    <a:pt x="1599" y="251"/>
                    <a:pt x="1241" y="0"/>
                    <a:pt x="799" y="0"/>
                  </a:cubicBezTo>
                </a:path>
              </a:pathLst>
            </a:custGeom>
            <a:solidFill>
              <a:schemeClr val="bg1">
                <a:lumMod val="85000"/>
                <a:lumOff val="15000"/>
              </a:schemeClr>
            </a:solidFill>
            <a:ln>
              <a:noFill/>
            </a:ln>
          </p:spPr>
          <p:txBody>
            <a:bodyPr vert="horz" wrap="square" lIns="68598" tIns="34299" rIns="68598" bIns="34299" numCol="1" anchor="t" anchorCtr="0" compatLnSpc="1">
              <a:prstTxWarp prst="textNoShape">
                <a:avLst/>
              </a:prstTxWarp>
            </a:bodyPr>
            <a:ls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pPr marL="0" marR="0" lvl="0" indent="0" algn="l" defTabSz="1218987" rtl="0" eaLnBrk="1" fontAlgn="base" latinLnBrk="0" hangingPunct="1">
                <a:lnSpc>
                  <a:spcPct val="100000"/>
                </a:lnSpc>
                <a:spcBef>
                  <a:spcPct val="0"/>
                </a:spcBef>
                <a:spcAft>
                  <a:spcPct val="0"/>
                </a:spcAft>
                <a:buClrTx/>
                <a:buSzTx/>
                <a:buFontTx/>
                <a:buNone/>
                <a:tabLst/>
                <a:defRPr/>
              </a:pPr>
              <a:endParaRPr kumimoji="0" lang="en-IN" sz="1800" b="0" i="0" u="none" strike="noStrike" kern="1200" cap="none" spc="0" normalizeH="0" baseline="0" noProof="0" dirty="0">
                <a:ln>
                  <a:noFill/>
                </a:ln>
                <a:solidFill>
                  <a:srgbClr val="002277"/>
                </a:solidFill>
                <a:effectLst/>
                <a:uLnTx/>
                <a:uFillTx/>
                <a:latin typeface="Calibri Light"/>
                <a:ea typeface="+mn-ea"/>
                <a:cs typeface="+mn-cs"/>
              </a:endParaRPr>
            </a:p>
          </p:txBody>
        </p:sp>
        <p:sp>
          <p:nvSpPr>
            <p:cNvPr id="18" name="Freeform 44">
              <a:extLst>
                <a:ext uri="{FF2B5EF4-FFF2-40B4-BE49-F238E27FC236}">
                  <a16:creationId xmlns:a16="http://schemas.microsoft.com/office/drawing/2014/main" id="{444CB5D0-43F5-44D2-AD07-DEF8D21694CE}"/>
                </a:ext>
              </a:extLst>
            </p:cNvPr>
            <p:cNvSpPr>
              <a:spLocks/>
            </p:cNvSpPr>
            <p:nvPr/>
          </p:nvSpPr>
          <p:spPr bwMode="auto">
            <a:xfrm>
              <a:off x="5098255" y="4089400"/>
              <a:ext cx="860425" cy="1157288"/>
            </a:xfrm>
            <a:custGeom>
              <a:avLst/>
              <a:gdLst>
                <a:gd name="T0" fmla="*/ 968 w 1138"/>
                <a:gd name="T1" fmla="*/ 0 h 1531"/>
                <a:gd name="T2" fmla="*/ 171 w 1138"/>
                <a:gd name="T3" fmla="*/ 0 h 1531"/>
                <a:gd name="T4" fmla="*/ 0 w 1138"/>
                <a:gd name="T5" fmla="*/ 170 h 1531"/>
                <a:gd name="T6" fmla="*/ 0 w 1138"/>
                <a:gd name="T7" fmla="*/ 967 h 1531"/>
                <a:gd name="T8" fmla="*/ 171 w 1138"/>
                <a:gd name="T9" fmla="*/ 1138 h 1531"/>
                <a:gd name="T10" fmla="*/ 519 w 1138"/>
                <a:gd name="T11" fmla="*/ 1138 h 1531"/>
                <a:gd name="T12" fmla="*/ 436 w 1138"/>
                <a:gd name="T13" fmla="*/ 1531 h 1531"/>
                <a:gd name="T14" fmla="*/ 687 w 1138"/>
                <a:gd name="T15" fmla="*/ 1138 h 1531"/>
                <a:gd name="T16" fmla="*/ 968 w 1138"/>
                <a:gd name="T17" fmla="*/ 1138 h 1531"/>
                <a:gd name="T18" fmla="*/ 1138 w 1138"/>
                <a:gd name="T19" fmla="*/ 967 h 1531"/>
                <a:gd name="T20" fmla="*/ 1138 w 1138"/>
                <a:gd name="T21" fmla="*/ 170 h 1531"/>
                <a:gd name="T22" fmla="*/ 968 w 1138"/>
                <a:gd name="T23" fmla="*/ 0 h 15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138" h="1531">
                  <a:moveTo>
                    <a:pt x="968" y="0"/>
                  </a:moveTo>
                  <a:cubicBezTo>
                    <a:pt x="171" y="0"/>
                    <a:pt x="171" y="0"/>
                    <a:pt x="171" y="0"/>
                  </a:cubicBezTo>
                  <a:cubicBezTo>
                    <a:pt x="77" y="0"/>
                    <a:pt x="0" y="77"/>
                    <a:pt x="0" y="170"/>
                  </a:cubicBezTo>
                  <a:cubicBezTo>
                    <a:pt x="0" y="967"/>
                    <a:pt x="0" y="967"/>
                    <a:pt x="0" y="967"/>
                  </a:cubicBezTo>
                  <a:cubicBezTo>
                    <a:pt x="0" y="1061"/>
                    <a:pt x="77" y="1138"/>
                    <a:pt x="171" y="1138"/>
                  </a:cubicBezTo>
                  <a:cubicBezTo>
                    <a:pt x="519" y="1138"/>
                    <a:pt x="519" y="1138"/>
                    <a:pt x="519" y="1138"/>
                  </a:cubicBezTo>
                  <a:cubicBezTo>
                    <a:pt x="522" y="1265"/>
                    <a:pt x="496" y="1410"/>
                    <a:pt x="436" y="1531"/>
                  </a:cubicBezTo>
                  <a:cubicBezTo>
                    <a:pt x="562" y="1395"/>
                    <a:pt x="642" y="1278"/>
                    <a:pt x="687" y="1138"/>
                  </a:cubicBezTo>
                  <a:cubicBezTo>
                    <a:pt x="968" y="1138"/>
                    <a:pt x="968" y="1138"/>
                    <a:pt x="968" y="1138"/>
                  </a:cubicBezTo>
                  <a:cubicBezTo>
                    <a:pt x="1062" y="1138"/>
                    <a:pt x="1138" y="1061"/>
                    <a:pt x="1138" y="967"/>
                  </a:cubicBezTo>
                  <a:cubicBezTo>
                    <a:pt x="1138" y="170"/>
                    <a:pt x="1138" y="170"/>
                    <a:pt x="1138" y="170"/>
                  </a:cubicBezTo>
                  <a:cubicBezTo>
                    <a:pt x="1138" y="77"/>
                    <a:pt x="1062" y="0"/>
                    <a:pt x="968" y="0"/>
                  </a:cubicBezTo>
                </a:path>
              </a:pathLst>
            </a:custGeom>
            <a:solidFill>
              <a:schemeClr val="accent1">
                <a:lumMod val="50000"/>
              </a:schemeClr>
            </a:solidFill>
            <a:ln>
              <a:noFill/>
            </a:ln>
          </p:spPr>
          <p:txBody>
            <a:bodyPr vert="horz" wrap="square" lIns="68598" tIns="34299" rIns="68598" bIns="34299" numCol="1" anchor="t" anchorCtr="0" compatLnSpc="1">
              <a:prstTxWarp prst="textNoShape">
                <a:avLst/>
              </a:prstTxWarp>
            </a:bodyPr>
            <a:ls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pPr marL="0" marR="0" lvl="0" indent="0" algn="l" defTabSz="1218987" rtl="0" eaLnBrk="1" fontAlgn="base" latinLnBrk="0" hangingPunct="1">
                <a:lnSpc>
                  <a:spcPct val="100000"/>
                </a:lnSpc>
                <a:spcBef>
                  <a:spcPct val="0"/>
                </a:spcBef>
                <a:spcAft>
                  <a:spcPct val="0"/>
                </a:spcAft>
                <a:buClrTx/>
                <a:buSzTx/>
                <a:buFontTx/>
                <a:buNone/>
                <a:tabLst/>
                <a:defRPr/>
              </a:pPr>
              <a:endParaRPr kumimoji="0" lang="en-IN" sz="1800" b="0" i="0" u="none" strike="noStrike" kern="1200" cap="none" spc="0" normalizeH="0" baseline="0" noProof="0" dirty="0">
                <a:ln>
                  <a:noFill/>
                </a:ln>
                <a:solidFill>
                  <a:srgbClr val="002277"/>
                </a:solidFill>
                <a:effectLst/>
                <a:uLnTx/>
                <a:uFillTx/>
                <a:latin typeface="Calibri Light"/>
                <a:ea typeface="+mn-ea"/>
                <a:cs typeface="+mn-cs"/>
              </a:endParaRPr>
            </a:p>
          </p:txBody>
        </p:sp>
        <p:sp>
          <p:nvSpPr>
            <p:cNvPr id="19" name="Freeform 45">
              <a:extLst>
                <a:ext uri="{FF2B5EF4-FFF2-40B4-BE49-F238E27FC236}">
                  <a16:creationId xmlns:a16="http://schemas.microsoft.com/office/drawing/2014/main" id="{75B06212-A222-4BAC-B071-A5A4EA7AA0A9}"/>
                </a:ext>
              </a:extLst>
            </p:cNvPr>
            <p:cNvSpPr>
              <a:spLocks/>
            </p:cNvSpPr>
            <p:nvPr/>
          </p:nvSpPr>
          <p:spPr bwMode="auto">
            <a:xfrm>
              <a:off x="5395117" y="4740275"/>
              <a:ext cx="650875" cy="838200"/>
            </a:xfrm>
            <a:custGeom>
              <a:avLst/>
              <a:gdLst>
                <a:gd name="T0" fmla="*/ 431 w 861"/>
                <a:gd name="T1" fmla="*/ 0 h 1109"/>
                <a:gd name="T2" fmla="*/ 861 w 861"/>
                <a:gd name="T3" fmla="*/ 431 h 1109"/>
                <a:gd name="T4" fmla="*/ 507 w 861"/>
                <a:gd name="T5" fmla="*/ 854 h 1109"/>
                <a:gd name="T6" fmla="*/ 567 w 861"/>
                <a:gd name="T7" fmla="*/ 1109 h 1109"/>
                <a:gd name="T8" fmla="*/ 398 w 861"/>
                <a:gd name="T9" fmla="*/ 860 h 1109"/>
                <a:gd name="T10" fmla="*/ 0 w 861"/>
                <a:gd name="T11" fmla="*/ 431 h 1109"/>
                <a:gd name="T12" fmla="*/ 431 w 861"/>
                <a:gd name="T13" fmla="*/ 0 h 1109"/>
              </a:gdLst>
              <a:ahLst/>
              <a:cxnLst>
                <a:cxn ang="0">
                  <a:pos x="T0" y="T1"/>
                </a:cxn>
                <a:cxn ang="0">
                  <a:pos x="T2" y="T3"/>
                </a:cxn>
                <a:cxn ang="0">
                  <a:pos x="T4" y="T5"/>
                </a:cxn>
                <a:cxn ang="0">
                  <a:pos x="T6" y="T7"/>
                </a:cxn>
                <a:cxn ang="0">
                  <a:pos x="T8" y="T9"/>
                </a:cxn>
                <a:cxn ang="0">
                  <a:pos x="T10" y="T11"/>
                </a:cxn>
                <a:cxn ang="0">
                  <a:pos x="T12" y="T13"/>
                </a:cxn>
              </a:cxnLst>
              <a:rect l="0" t="0" r="r" b="b"/>
              <a:pathLst>
                <a:path w="861" h="1109">
                  <a:moveTo>
                    <a:pt x="431" y="0"/>
                  </a:moveTo>
                  <a:cubicBezTo>
                    <a:pt x="668" y="0"/>
                    <a:pt x="861" y="193"/>
                    <a:pt x="861" y="431"/>
                  </a:cubicBezTo>
                  <a:cubicBezTo>
                    <a:pt x="861" y="642"/>
                    <a:pt x="708" y="818"/>
                    <a:pt x="507" y="854"/>
                  </a:cubicBezTo>
                  <a:cubicBezTo>
                    <a:pt x="509" y="939"/>
                    <a:pt x="528" y="1031"/>
                    <a:pt x="567" y="1109"/>
                  </a:cubicBezTo>
                  <a:cubicBezTo>
                    <a:pt x="487" y="1022"/>
                    <a:pt x="432" y="946"/>
                    <a:pt x="398" y="860"/>
                  </a:cubicBezTo>
                  <a:cubicBezTo>
                    <a:pt x="176" y="843"/>
                    <a:pt x="0" y="658"/>
                    <a:pt x="0" y="431"/>
                  </a:cubicBezTo>
                  <a:cubicBezTo>
                    <a:pt x="0" y="193"/>
                    <a:pt x="193" y="0"/>
                    <a:pt x="431" y="0"/>
                  </a:cubicBezTo>
                </a:path>
              </a:pathLst>
            </a:custGeom>
            <a:solidFill>
              <a:srgbClr val="E1EFFC"/>
            </a:solidFill>
            <a:ln>
              <a:noFill/>
            </a:ln>
          </p:spPr>
          <p:txBody>
            <a:bodyPr vert="horz" wrap="square" lIns="68598" tIns="34299" rIns="68598" bIns="34299" numCol="1" anchor="t" anchorCtr="0" compatLnSpc="1">
              <a:prstTxWarp prst="textNoShape">
                <a:avLst/>
              </a:prstTxWarp>
            </a:bodyPr>
            <a:ls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pPr marL="0" marR="0" lvl="0" indent="0" algn="l" defTabSz="1218987" rtl="0" eaLnBrk="1" fontAlgn="base" latinLnBrk="0" hangingPunct="1">
                <a:lnSpc>
                  <a:spcPct val="100000"/>
                </a:lnSpc>
                <a:spcBef>
                  <a:spcPct val="0"/>
                </a:spcBef>
                <a:spcAft>
                  <a:spcPct val="0"/>
                </a:spcAft>
                <a:buClrTx/>
                <a:buSzTx/>
                <a:buFontTx/>
                <a:buNone/>
                <a:tabLst/>
                <a:defRPr/>
              </a:pPr>
              <a:endParaRPr kumimoji="0" lang="en-IN" sz="1800" b="0" i="0" u="none" strike="noStrike" kern="1200" cap="none" spc="0" normalizeH="0" baseline="0" noProof="0" dirty="0">
                <a:ln>
                  <a:noFill/>
                </a:ln>
                <a:solidFill>
                  <a:srgbClr val="002277"/>
                </a:solidFill>
                <a:effectLst/>
                <a:uLnTx/>
                <a:uFillTx/>
                <a:latin typeface="Calibri Light"/>
                <a:ea typeface="+mn-ea"/>
                <a:cs typeface="+mn-cs"/>
              </a:endParaRPr>
            </a:p>
          </p:txBody>
        </p:sp>
        <p:sp>
          <p:nvSpPr>
            <p:cNvPr id="20" name="Freeform 46">
              <a:extLst>
                <a:ext uri="{FF2B5EF4-FFF2-40B4-BE49-F238E27FC236}">
                  <a16:creationId xmlns:a16="http://schemas.microsoft.com/office/drawing/2014/main" id="{7457A145-996D-49BB-9632-F7CF30C68689}"/>
                </a:ext>
              </a:extLst>
            </p:cNvPr>
            <p:cNvSpPr>
              <a:spLocks/>
            </p:cNvSpPr>
            <p:nvPr/>
          </p:nvSpPr>
          <p:spPr bwMode="auto">
            <a:xfrm>
              <a:off x="5541167" y="5276850"/>
              <a:ext cx="473075" cy="466725"/>
            </a:xfrm>
            <a:custGeom>
              <a:avLst/>
              <a:gdLst>
                <a:gd name="T0" fmla="*/ 313 w 626"/>
                <a:gd name="T1" fmla="*/ 0 h 618"/>
                <a:gd name="T2" fmla="*/ 0 w 626"/>
                <a:gd name="T3" fmla="*/ 219 h 618"/>
                <a:gd name="T4" fmla="*/ 313 w 626"/>
                <a:gd name="T5" fmla="*/ 439 h 618"/>
                <a:gd name="T6" fmla="*/ 320 w 626"/>
                <a:gd name="T7" fmla="*/ 439 h 618"/>
                <a:gd name="T8" fmla="*/ 288 w 626"/>
                <a:gd name="T9" fmla="*/ 618 h 618"/>
                <a:gd name="T10" fmla="*/ 397 w 626"/>
                <a:gd name="T11" fmla="*/ 431 h 618"/>
                <a:gd name="T12" fmla="*/ 403 w 626"/>
                <a:gd name="T13" fmla="*/ 430 h 618"/>
                <a:gd name="T14" fmla="*/ 574 w 626"/>
                <a:gd name="T15" fmla="*/ 340 h 618"/>
                <a:gd name="T16" fmla="*/ 626 w 626"/>
                <a:gd name="T17" fmla="*/ 219 h 618"/>
                <a:gd name="T18" fmla="*/ 313 w 626"/>
                <a:gd name="T19" fmla="*/ 0 h 6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6" h="618">
                  <a:moveTo>
                    <a:pt x="313" y="0"/>
                  </a:moveTo>
                  <a:cubicBezTo>
                    <a:pt x="140" y="0"/>
                    <a:pt x="0" y="98"/>
                    <a:pt x="0" y="219"/>
                  </a:cubicBezTo>
                  <a:cubicBezTo>
                    <a:pt x="0" y="341"/>
                    <a:pt x="140" y="439"/>
                    <a:pt x="313" y="439"/>
                  </a:cubicBezTo>
                  <a:cubicBezTo>
                    <a:pt x="316" y="439"/>
                    <a:pt x="318" y="439"/>
                    <a:pt x="320" y="439"/>
                  </a:cubicBezTo>
                  <a:cubicBezTo>
                    <a:pt x="326" y="495"/>
                    <a:pt x="316" y="563"/>
                    <a:pt x="288" y="618"/>
                  </a:cubicBezTo>
                  <a:cubicBezTo>
                    <a:pt x="348" y="554"/>
                    <a:pt x="381" y="501"/>
                    <a:pt x="397" y="431"/>
                  </a:cubicBezTo>
                  <a:cubicBezTo>
                    <a:pt x="399" y="431"/>
                    <a:pt x="401" y="430"/>
                    <a:pt x="403" y="430"/>
                  </a:cubicBezTo>
                  <a:cubicBezTo>
                    <a:pt x="466" y="417"/>
                    <a:pt x="530" y="388"/>
                    <a:pt x="574" y="340"/>
                  </a:cubicBezTo>
                  <a:cubicBezTo>
                    <a:pt x="606" y="307"/>
                    <a:pt x="626" y="266"/>
                    <a:pt x="626" y="219"/>
                  </a:cubicBezTo>
                  <a:cubicBezTo>
                    <a:pt x="626" y="98"/>
                    <a:pt x="486" y="0"/>
                    <a:pt x="313" y="0"/>
                  </a:cubicBezTo>
                </a:path>
              </a:pathLst>
            </a:custGeom>
            <a:solidFill>
              <a:schemeClr val="accent1">
                <a:lumMod val="50000"/>
              </a:schemeClr>
            </a:solidFill>
            <a:ln>
              <a:noFill/>
            </a:ln>
          </p:spPr>
          <p:txBody>
            <a:bodyPr vert="horz" wrap="square" lIns="68598" tIns="34299" rIns="68598" bIns="34299" numCol="1" anchor="t" anchorCtr="0" compatLnSpc="1">
              <a:prstTxWarp prst="textNoShape">
                <a:avLst/>
              </a:prstTxWarp>
            </a:bodyPr>
            <a:ls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pPr marL="0" marR="0" lvl="0" indent="0" algn="l" defTabSz="1218987" rtl="0" eaLnBrk="1" fontAlgn="base" latinLnBrk="0" hangingPunct="1">
                <a:lnSpc>
                  <a:spcPct val="100000"/>
                </a:lnSpc>
                <a:spcBef>
                  <a:spcPct val="0"/>
                </a:spcBef>
                <a:spcAft>
                  <a:spcPct val="0"/>
                </a:spcAft>
                <a:buClrTx/>
                <a:buSzTx/>
                <a:buFontTx/>
                <a:buNone/>
                <a:tabLst/>
                <a:defRPr/>
              </a:pPr>
              <a:endParaRPr kumimoji="0" lang="en-IN" sz="1800" b="0" i="0" u="none" strike="noStrike" kern="1200" cap="none" spc="0" normalizeH="0" baseline="0" noProof="0" dirty="0">
                <a:ln>
                  <a:noFill/>
                </a:ln>
                <a:solidFill>
                  <a:srgbClr val="002277"/>
                </a:solidFill>
                <a:effectLst/>
                <a:uLnTx/>
                <a:uFillTx/>
                <a:latin typeface="Calibri Light"/>
                <a:ea typeface="+mn-ea"/>
                <a:cs typeface="+mn-cs"/>
              </a:endParaRPr>
            </a:p>
          </p:txBody>
        </p:sp>
        <p:sp>
          <p:nvSpPr>
            <p:cNvPr id="21" name="Freeform 47">
              <a:extLst>
                <a:ext uri="{FF2B5EF4-FFF2-40B4-BE49-F238E27FC236}">
                  <a16:creationId xmlns:a16="http://schemas.microsoft.com/office/drawing/2014/main" id="{BF101649-C5C1-4DDD-AB13-B467006776C0}"/>
                </a:ext>
              </a:extLst>
            </p:cNvPr>
            <p:cNvSpPr>
              <a:spLocks/>
            </p:cNvSpPr>
            <p:nvPr/>
          </p:nvSpPr>
          <p:spPr bwMode="auto">
            <a:xfrm>
              <a:off x="5690392" y="5505450"/>
              <a:ext cx="334963" cy="452438"/>
            </a:xfrm>
            <a:custGeom>
              <a:avLst/>
              <a:gdLst>
                <a:gd name="T0" fmla="*/ 66 w 444"/>
                <a:gd name="T1" fmla="*/ 0 h 598"/>
                <a:gd name="T2" fmla="*/ 378 w 444"/>
                <a:gd name="T3" fmla="*/ 0 h 598"/>
                <a:gd name="T4" fmla="*/ 444 w 444"/>
                <a:gd name="T5" fmla="*/ 67 h 598"/>
                <a:gd name="T6" fmla="*/ 444 w 444"/>
                <a:gd name="T7" fmla="*/ 378 h 598"/>
                <a:gd name="T8" fmla="*/ 378 w 444"/>
                <a:gd name="T9" fmla="*/ 445 h 598"/>
                <a:gd name="T10" fmla="*/ 242 w 444"/>
                <a:gd name="T11" fmla="*/ 445 h 598"/>
                <a:gd name="T12" fmla="*/ 274 w 444"/>
                <a:gd name="T13" fmla="*/ 598 h 598"/>
                <a:gd name="T14" fmla="*/ 176 w 444"/>
                <a:gd name="T15" fmla="*/ 445 h 598"/>
                <a:gd name="T16" fmla="*/ 66 w 444"/>
                <a:gd name="T17" fmla="*/ 445 h 598"/>
                <a:gd name="T18" fmla="*/ 0 w 444"/>
                <a:gd name="T19" fmla="*/ 378 h 598"/>
                <a:gd name="T20" fmla="*/ 0 w 444"/>
                <a:gd name="T21" fmla="*/ 67 h 598"/>
                <a:gd name="T22" fmla="*/ 66 w 444"/>
                <a:gd name="T23" fmla="*/ 0 h 5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44" h="598">
                  <a:moveTo>
                    <a:pt x="66" y="0"/>
                  </a:moveTo>
                  <a:cubicBezTo>
                    <a:pt x="378" y="0"/>
                    <a:pt x="378" y="0"/>
                    <a:pt x="378" y="0"/>
                  </a:cubicBezTo>
                  <a:cubicBezTo>
                    <a:pt x="414" y="0"/>
                    <a:pt x="444" y="30"/>
                    <a:pt x="444" y="67"/>
                  </a:cubicBezTo>
                  <a:cubicBezTo>
                    <a:pt x="444" y="378"/>
                    <a:pt x="444" y="378"/>
                    <a:pt x="444" y="378"/>
                  </a:cubicBezTo>
                  <a:cubicBezTo>
                    <a:pt x="444" y="415"/>
                    <a:pt x="414" y="445"/>
                    <a:pt x="378" y="445"/>
                  </a:cubicBezTo>
                  <a:cubicBezTo>
                    <a:pt x="242" y="445"/>
                    <a:pt x="242" y="445"/>
                    <a:pt x="242" y="445"/>
                  </a:cubicBezTo>
                  <a:cubicBezTo>
                    <a:pt x="240" y="495"/>
                    <a:pt x="251" y="551"/>
                    <a:pt x="274" y="598"/>
                  </a:cubicBezTo>
                  <a:cubicBezTo>
                    <a:pt x="225" y="545"/>
                    <a:pt x="194" y="500"/>
                    <a:pt x="176" y="445"/>
                  </a:cubicBezTo>
                  <a:cubicBezTo>
                    <a:pt x="66" y="445"/>
                    <a:pt x="66" y="445"/>
                    <a:pt x="66" y="445"/>
                  </a:cubicBezTo>
                  <a:cubicBezTo>
                    <a:pt x="30" y="445"/>
                    <a:pt x="0" y="415"/>
                    <a:pt x="0" y="378"/>
                  </a:cubicBezTo>
                  <a:cubicBezTo>
                    <a:pt x="0" y="67"/>
                    <a:pt x="0" y="67"/>
                    <a:pt x="0" y="67"/>
                  </a:cubicBezTo>
                  <a:cubicBezTo>
                    <a:pt x="0" y="30"/>
                    <a:pt x="30" y="0"/>
                    <a:pt x="66" y="0"/>
                  </a:cubicBezTo>
                </a:path>
              </a:pathLst>
            </a:custGeom>
            <a:solidFill>
              <a:srgbClr val="070707">
                <a:lumMod val="25000"/>
                <a:lumOff val="75000"/>
              </a:srgbClr>
            </a:solidFill>
            <a:ln>
              <a:noFill/>
            </a:ln>
          </p:spPr>
          <p:txBody>
            <a:bodyPr vert="horz" wrap="square" lIns="68598" tIns="34299" rIns="68598" bIns="34299" numCol="1" anchor="t" anchorCtr="0" compatLnSpc="1">
              <a:prstTxWarp prst="textNoShape">
                <a:avLst/>
              </a:prstTxWarp>
            </a:bodyPr>
            <a:ls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pPr marL="0" marR="0" lvl="0" indent="0" algn="l" defTabSz="1218987" rtl="0" eaLnBrk="1" fontAlgn="base" latinLnBrk="0" hangingPunct="1">
                <a:lnSpc>
                  <a:spcPct val="100000"/>
                </a:lnSpc>
                <a:spcBef>
                  <a:spcPct val="0"/>
                </a:spcBef>
                <a:spcAft>
                  <a:spcPct val="0"/>
                </a:spcAft>
                <a:buClrTx/>
                <a:buSzTx/>
                <a:buFontTx/>
                <a:buNone/>
                <a:tabLst/>
                <a:defRPr/>
              </a:pPr>
              <a:endParaRPr kumimoji="0" lang="en-IN" sz="1800" b="0" i="0" u="none" strike="noStrike" kern="1200" cap="none" spc="0" normalizeH="0" baseline="0" noProof="0" dirty="0">
                <a:ln>
                  <a:noFill/>
                </a:ln>
                <a:solidFill>
                  <a:srgbClr val="002277"/>
                </a:solidFill>
                <a:effectLst/>
                <a:uLnTx/>
                <a:uFillTx/>
                <a:latin typeface="Calibri Light"/>
                <a:ea typeface="+mn-ea"/>
                <a:cs typeface="+mn-cs"/>
              </a:endParaRPr>
            </a:p>
          </p:txBody>
        </p:sp>
        <p:sp>
          <p:nvSpPr>
            <p:cNvPr id="22" name="Freeform 48">
              <a:extLst>
                <a:ext uri="{FF2B5EF4-FFF2-40B4-BE49-F238E27FC236}">
                  <a16:creationId xmlns:a16="http://schemas.microsoft.com/office/drawing/2014/main" id="{FEE06283-0A52-423F-9A77-1A209A06B00E}"/>
                </a:ext>
              </a:extLst>
            </p:cNvPr>
            <p:cNvSpPr>
              <a:spLocks/>
            </p:cNvSpPr>
            <p:nvPr/>
          </p:nvSpPr>
          <p:spPr bwMode="auto">
            <a:xfrm>
              <a:off x="5796755" y="5762625"/>
              <a:ext cx="269875" cy="347663"/>
            </a:xfrm>
            <a:custGeom>
              <a:avLst/>
              <a:gdLst>
                <a:gd name="T0" fmla="*/ 179 w 357"/>
                <a:gd name="T1" fmla="*/ 0 h 459"/>
                <a:gd name="T2" fmla="*/ 0 w 357"/>
                <a:gd name="T3" fmla="*/ 179 h 459"/>
                <a:gd name="T4" fmla="*/ 147 w 357"/>
                <a:gd name="T5" fmla="*/ 354 h 459"/>
                <a:gd name="T6" fmla="*/ 122 w 357"/>
                <a:gd name="T7" fmla="*/ 459 h 459"/>
                <a:gd name="T8" fmla="*/ 192 w 357"/>
                <a:gd name="T9" fmla="*/ 356 h 459"/>
                <a:gd name="T10" fmla="*/ 357 w 357"/>
                <a:gd name="T11" fmla="*/ 179 h 459"/>
                <a:gd name="T12" fmla="*/ 179 w 357"/>
                <a:gd name="T13" fmla="*/ 0 h 459"/>
              </a:gdLst>
              <a:ahLst/>
              <a:cxnLst>
                <a:cxn ang="0">
                  <a:pos x="T0" y="T1"/>
                </a:cxn>
                <a:cxn ang="0">
                  <a:pos x="T2" y="T3"/>
                </a:cxn>
                <a:cxn ang="0">
                  <a:pos x="T4" y="T5"/>
                </a:cxn>
                <a:cxn ang="0">
                  <a:pos x="T6" y="T7"/>
                </a:cxn>
                <a:cxn ang="0">
                  <a:pos x="T8" y="T9"/>
                </a:cxn>
                <a:cxn ang="0">
                  <a:pos x="T10" y="T11"/>
                </a:cxn>
                <a:cxn ang="0">
                  <a:pos x="T12" y="T13"/>
                </a:cxn>
              </a:cxnLst>
              <a:rect l="0" t="0" r="r" b="b"/>
              <a:pathLst>
                <a:path w="357" h="459">
                  <a:moveTo>
                    <a:pt x="179" y="0"/>
                  </a:moveTo>
                  <a:cubicBezTo>
                    <a:pt x="80" y="0"/>
                    <a:pt x="0" y="80"/>
                    <a:pt x="0" y="179"/>
                  </a:cubicBezTo>
                  <a:cubicBezTo>
                    <a:pt x="0" y="266"/>
                    <a:pt x="64" y="339"/>
                    <a:pt x="147" y="354"/>
                  </a:cubicBezTo>
                  <a:cubicBezTo>
                    <a:pt x="146" y="389"/>
                    <a:pt x="138" y="427"/>
                    <a:pt x="122" y="459"/>
                  </a:cubicBezTo>
                  <a:cubicBezTo>
                    <a:pt x="155" y="423"/>
                    <a:pt x="178" y="392"/>
                    <a:pt x="192" y="356"/>
                  </a:cubicBezTo>
                  <a:cubicBezTo>
                    <a:pt x="284" y="349"/>
                    <a:pt x="357" y="272"/>
                    <a:pt x="357" y="179"/>
                  </a:cubicBezTo>
                  <a:cubicBezTo>
                    <a:pt x="357" y="80"/>
                    <a:pt x="277" y="0"/>
                    <a:pt x="179" y="0"/>
                  </a:cubicBezTo>
                </a:path>
              </a:pathLst>
            </a:custGeom>
            <a:solidFill>
              <a:srgbClr val="070707">
                <a:lumMod val="10000"/>
                <a:lumOff val="90000"/>
              </a:srgbClr>
            </a:solidFill>
            <a:ln>
              <a:noFill/>
            </a:ln>
          </p:spPr>
          <p:txBody>
            <a:bodyPr vert="horz" wrap="square" lIns="68598" tIns="34299" rIns="68598" bIns="34299" numCol="1" anchor="t" anchorCtr="0" compatLnSpc="1">
              <a:prstTxWarp prst="textNoShape">
                <a:avLst/>
              </a:prstTxWarp>
            </a:bodyPr>
            <a:ls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pPr marL="0" marR="0" lvl="0" indent="0" algn="l" defTabSz="1218987" rtl="0" eaLnBrk="1" fontAlgn="base" latinLnBrk="0" hangingPunct="1">
                <a:lnSpc>
                  <a:spcPct val="100000"/>
                </a:lnSpc>
                <a:spcBef>
                  <a:spcPct val="0"/>
                </a:spcBef>
                <a:spcAft>
                  <a:spcPct val="0"/>
                </a:spcAft>
                <a:buClrTx/>
                <a:buSzTx/>
                <a:buFontTx/>
                <a:buNone/>
                <a:tabLst/>
                <a:defRPr/>
              </a:pPr>
              <a:endParaRPr kumimoji="0" lang="en-IN" sz="1800" b="0" i="0" u="none" strike="noStrike" kern="1200" cap="none" spc="0" normalizeH="0" baseline="0" noProof="0" dirty="0">
                <a:ln>
                  <a:noFill/>
                </a:ln>
                <a:solidFill>
                  <a:srgbClr val="002277"/>
                </a:solidFill>
                <a:effectLst/>
                <a:uLnTx/>
                <a:uFillTx/>
                <a:latin typeface="Calibri Light"/>
                <a:ea typeface="+mn-ea"/>
                <a:cs typeface="+mn-cs"/>
              </a:endParaRPr>
            </a:p>
          </p:txBody>
        </p:sp>
        <p:sp>
          <p:nvSpPr>
            <p:cNvPr id="23" name="Freeform 49">
              <a:extLst>
                <a:ext uri="{FF2B5EF4-FFF2-40B4-BE49-F238E27FC236}">
                  <a16:creationId xmlns:a16="http://schemas.microsoft.com/office/drawing/2014/main" id="{161217A3-F344-4399-BA54-728813375ACE}"/>
                </a:ext>
              </a:extLst>
            </p:cNvPr>
            <p:cNvSpPr>
              <a:spLocks/>
            </p:cNvSpPr>
            <p:nvPr/>
          </p:nvSpPr>
          <p:spPr bwMode="auto">
            <a:xfrm>
              <a:off x="5874542" y="5986463"/>
              <a:ext cx="233363" cy="231775"/>
            </a:xfrm>
            <a:custGeom>
              <a:avLst/>
              <a:gdLst>
                <a:gd name="T0" fmla="*/ 155 w 310"/>
                <a:gd name="T1" fmla="*/ 0 h 305"/>
                <a:gd name="T2" fmla="*/ 310 w 310"/>
                <a:gd name="T3" fmla="*/ 108 h 305"/>
                <a:gd name="T4" fmla="*/ 155 w 310"/>
                <a:gd name="T5" fmla="*/ 217 h 305"/>
                <a:gd name="T6" fmla="*/ 151 w 310"/>
                <a:gd name="T7" fmla="*/ 217 h 305"/>
                <a:gd name="T8" fmla="*/ 167 w 310"/>
                <a:gd name="T9" fmla="*/ 305 h 305"/>
                <a:gd name="T10" fmla="*/ 114 w 310"/>
                <a:gd name="T11" fmla="*/ 213 h 305"/>
                <a:gd name="T12" fmla="*/ 111 w 310"/>
                <a:gd name="T13" fmla="*/ 212 h 305"/>
                <a:gd name="T14" fmla="*/ 26 w 310"/>
                <a:gd name="T15" fmla="*/ 168 h 305"/>
                <a:gd name="T16" fmla="*/ 0 w 310"/>
                <a:gd name="T17" fmla="*/ 108 h 305"/>
                <a:gd name="T18" fmla="*/ 155 w 310"/>
                <a:gd name="T19" fmla="*/ 0 h 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10" h="305">
                  <a:moveTo>
                    <a:pt x="155" y="0"/>
                  </a:moveTo>
                  <a:cubicBezTo>
                    <a:pt x="240" y="0"/>
                    <a:pt x="310" y="48"/>
                    <a:pt x="310" y="108"/>
                  </a:cubicBezTo>
                  <a:cubicBezTo>
                    <a:pt x="310" y="168"/>
                    <a:pt x="240" y="217"/>
                    <a:pt x="155" y="217"/>
                  </a:cubicBezTo>
                  <a:cubicBezTo>
                    <a:pt x="154" y="217"/>
                    <a:pt x="153" y="217"/>
                    <a:pt x="151" y="217"/>
                  </a:cubicBezTo>
                  <a:cubicBezTo>
                    <a:pt x="149" y="244"/>
                    <a:pt x="154" y="278"/>
                    <a:pt x="167" y="305"/>
                  </a:cubicBezTo>
                  <a:cubicBezTo>
                    <a:pt x="138" y="274"/>
                    <a:pt x="121" y="247"/>
                    <a:pt x="114" y="213"/>
                  </a:cubicBezTo>
                  <a:cubicBezTo>
                    <a:pt x="113" y="212"/>
                    <a:pt x="112" y="212"/>
                    <a:pt x="111" y="212"/>
                  </a:cubicBezTo>
                  <a:cubicBezTo>
                    <a:pt x="80" y="206"/>
                    <a:pt x="48" y="191"/>
                    <a:pt x="26" y="168"/>
                  </a:cubicBezTo>
                  <a:cubicBezTo>
                    <a:pt x="11" y="152"/>
                    <a:pt x="0" y="131"/>
                    <a:pt x="0" y="108"/>
                  </a:cubicBezTo>
                  <a:cubicBezTo>
                    <a:pt x="0" y="48"/>
                    <a:pt x="70" y="0"/>
                    <a:pt x="155" y="0"/>
                  </a:cubicBezTo>
                </a:path>
              </a:pathLst>
            </a:custGeom>
            <a:solidFill>
              <a:schemeClr val="bg1">
                <a:lumMod val="85000"/>
                <a:lumOff val="15000"/>
              </a:schemeClr>
            </a:solidFill>
            <a:ln>
              <a:noFill/>
            </a:ln>
          </p:spPr>
          <p:txBody>
            <a:bodyPr vert="horz" wrap="square" lIns="68598" tIns="34299" rIns="68598" bIns="34299" numCol="1" anchor="t" anchorCtr="0" compatLnSpc="1">
              <a:prstTxWarp prst="textNoShape">
                <a:avLst/>
              </a:prstTxWarp>
            </a:bodyPr>
            <a:ls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pPr marL="0" marR="0" lvl="0" indent="0" algn="l" defTabSz="1218987" rtl="0" eaLnBrk="1" fontAlgn="base" latinLnBrk="0" hangingPunct="1">
                <a:lnSpc>
                  <a:spcPct val="100000"/>
                </a:lnSpc>
                <a:spcBef>
                  <a:spcPct val="0"/>
                </a:spcBef>
                <a:spcAft>
                  <a:spcPct val="0"/>
                </a:spcAft>
                <a:buClrTx/>
                <a:buSzTx/>
                <a:buFontTx/>
                <a:buNone/>
                <a:tabLst/>
                <a:defRPr/>
              </a:pPr>
              <a:endParaRPr kumimoji="0" lang="en-IN" sz="1800" b="0" i="0" u="none" strike="noStrike" kern="1200" cap="none" spc="0" normalizeH="0" baseline="0" noProof="0" dirty="0">
                <a:ln>
                  <a:noFill/>
                </a:ln>
                <a:solidFill>
                  <a:srgbClr val="002277"/>
                </a:solidFill>
                <a:effectLst/>
                <a:uLnTx/>
                <a:uFillTx/>
                <a:latin typeface="Calibri Light"/>
                <a:ea typeface="+mn-ea"/>
                <a:cs typeface="+mn-cs"/>
              </a:endParaRPr>
            </a:p>
          </p:txBody>
        </p:sp>
        <p:sp>
          <p:nvSpPr>
            <p:cNvPr id="24" name="Freeform 50">
              <a:extLst>
                <a:ext uri="{FF2B5EF4-FFF2-40B4-BE49-F238E27FC236}">
                  <a16:creationId xmlns:a16="http://schemas.microsoft.com/office/drawing/2014/main" id="{5007879C-8A43-4F4D-9573-BE7A3B3E6BAE}"/>
                </a:ext>
              </a:extLst>
            </p:cNvPr>
            <p:cNvSpPr>
              <a:spLocks/>
            </p:cNvSpPr>
            <p:nvPr/>
          </p:nvSpPr>
          <p:spPr bwMode="auto">
            <a:xfrm>
              <a:off x="5966617" y="6081713"/>
              <a:ext cx="150813" cy="203200"/>
            </a:xfrm>
            <a:custGeom>
              <a:avLst/>
              <a:gdLst>
                <a:gd name="T0" fmla="*/ 169 w 199"/>
                <a:gd name="T1" fmla="*/ 0 h 268"/>
                <a:gd name="T2" fmla="*/ 30 w 199"/>
                <a:gd name="T3" fmla="*/ 0 h 268"/>
                <a:gd name="T4" fmla="*/ 0 w 199"/>
                <a:gd name="T5" fmla="*/ 30 h 268"/>
                <a:gd name="T6" fmla="*/ 0 w 199"/>
                <a:gd name="T7" fmla="*/ 169 h 268"/>
                <a:gd name="T8" fmla="*/ 30 w 199"/>
                <a:gd name="T9" fmla="*/ 199 h 268"/>
                <a:gd name="T10" fmla="*/ 91 w 199"/>
                <a:gd name="T11" fmla="*/ 199 h 268"/>
                <a:gd name="T12" fmla="*/ 76 w 199"/>
                <a:gd name="T13" fmla="*/ 268 h 268"/>
                <a:gd name="T14" fmla="*/ 120 w 199"/>
                <a:gd name="T15" fmla="*/ 199 h 268"/>
                <a:gd name="T16" fmla="*/ 169 w 199"/>
                <a:gd name="T17" fmla="*/ 199 h 268"/>
                <a:gd name="T18" fmla="*/ 199 w 199"/>
                <a:gd name="T19" fmla="*/ 169 h 268"/>
                <a:gd name="T20" fmla="*/ 199 w 199"/>
                <a:gd name="T21" fmla="*/ 30 h 268"/>
                <a:gd name="T22" fmla="*/ 169 w 199"/>
                <a:gd name="T23" fmla="*/ 0 h 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9" h="268">
                  <a:moveTo>
                    <a:pt x="169" y="0"/>
                  </a:moveTo>
                  <a:cubicBezTo>
                    <a:pt x="30" y="0"/>
                    <a:pt x="30" y="0"/>
                    <a:pt x="30" y="0"/>
                  </a:cubicBezTo>
                  <a:cubicBezTo>
                    <a:pt x="13" y="0"/>
                    <a:pt x="0" y="13"/>
                    <a:pt x="0" y="30"/>
                  </a:cubicBezTo>
                  <a:cubicBezTo>
                    <a:pt x="0" y="169"/>
                    <a:pt x="0" y="169"/>
                    <a:pt x="0" y="169"/>
                  </a:cubicBezTo>
                  <a:cubicBezTo>
                    <a:pt x="0" y="186"/>
                    <a:pt x="13" y="199"/>
                    <a:pt x="30" y="199"/>
                  </a:cubicBezTo>
                  <a:cubicBezTo>
                    <a:pt x="91" y="199"/>
                    <a:pt x="91" y="199"/>
                    <a:pt x="91" y="199"/>
                  </a:cubicBezTo>
                  <a:cubicBezTo>
                    <a:pt x="91" y="222"/>
                    <a:pt x="87" y="247"/>
                    <a:pt x="76" y="268"/>
                  </a:cubicBezTo>
                  <a:cubicBezTo>
                    <a:pt x="98" y="244"/>
                    <a:pt x="112" y="224"/>
                    <a:pt x="120" y="199"/>
                  </a:cubicBezTo>
                  <a:cubicBezTo>
                    <a:pt x="169" y="199"/>
                    <a:pt x="169" y="199"/>
                    <a:pt x="169" y="199"/>
                  </a:cubicBezTo>
                  <a:cubicBezTo>
                    <a:pt x="186" y="199"/>
                    <a:pt x="199" y="186"/>
                    <a:pt x="199" y="169"/>
                  </a:cubicBezTo>
                  <a:cubicBezTo>
                    <a:pt x="199" y="30"/>
                    <a:pt x="199" y="30"/>
                    <a:pt x="199" y="30"/>
                  </a:cubicBezTo>
                  <a:cubicBezTo>
                    <a:pt x="199" y="13"/>
                    <a:pt x="186" y="0"/>
                    <a:pt x="169" y="0"/>
                  </a:cubicBezTo>
                </a:path>
              </a:pathLst>
            </a:custGeom>
            <a:solidFill>
              <a:schemeClr val="accent1"/>
            </a:solidFill>
            <a:ln>
              <a:noFill/>
            </a:ln>
          </p:spPr>
          <p:txBody>
            <a:bodyPr vert="horz" wrap="square" lIns="68598" tIns="34299" rIns="68598" bIns="34299" numCol="1" anchor="t" anchorCtr="0" compatLnSpc="1">
              <a:prstTxWarp prst="textNoShape">
                <a:avLst/>
              </a:prstTxWarp>
            </a:bodyPr>
            <a:ls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pPr marL="0" marR="0" lvl="0" indent="0" algn="l" defTabSz="1218987" rtl="0" eaLnBrk="1" fontAlgn="base" latinLnBrk="0" hangingPunct="1">
                <a:lnSpc>
                  <a:spcPct val="100000"/>
                </a:lnSpc>
                <a:spcBef>
                  <a:spcPct val="0"/>
                </a:spcBef>
                <a:spcAft>
                  <a:spcPct val="0"/>
                </a:spcAft>
                <a:buClrTx/>
                <a:buSzTx/>
                <a:buFontTx/>
                <a:buNone/>
                <a:tabLst/>
                <a:defRPr/>
              </a:pPr>
              <a:endParaRPr kumimoji="0" lang="en-IN" sz="1800" b="0" i="0" u="none" strike="noStrike" kern="1200" cap="none" spc="0" normalizeH="0" baseline="0" noProof="0" dirty="0">
                <a:ln>
                  <a:noFill/>
                </a:ln>
                <a:solidFill>
                  <a:srgbClr val="002277"/>
                </a:solidFill>
                <a:effectLst/>
                <a:uLnTx/>
                <a:uFillTx/>
                <a:latin typeface="Calibri Light"/>
                <a:ea typeface="+mn-ea"/>
                <a:cs typeface="+mn-cs"/>
              </a:endParaRPr>
            </a:p>
          </p:txBody>
        </p:sp>
        <p:sp>
          <p:nvSpPr>
            <p:cNvPr id="25" name="Freeform 51">
              <a:extLst>
                <a:ext uri="{FF2B5EF4-FFF2-40B4-BE49-F238E27FC236}">
                  <a16:creationId xmlns:a16="http://schemas.microsoft.com/office/drawing/2014/main" id="{CF8931D6-EC03-4252-9BB1-F8FF41A9FFCF}"/>
                </a:ext>
              </a:extLst>
            </p:cNvPr>
            <p:cNvSpPr>
              <a:spLocks/>
            </p:cNvSpPr>
            <p:nvPr/>
          </p:nvSpPr>
          <p:spPr bwMode="auto">
            <a:xfrm>
              <a:off x="6022180" y="6180138"/>
              <a:ext cx="133350" cy="171450"/>
            </a:xfrm>
            <a:custGeom>
              <a:avLst/>
              <a:gdLst>
                <a:gd name="T0" fmla="*/ 88 w 175"/>
                <a:gd name="T1" fmla="*/ 0 h 226"/>
                <a:gd name="T2" fmla="*/ 175 w 175"/>
                <a:gd name="T3" fmla="*/ 88 h 226"/>
                <a:gd name="T4" fmla="*/ 103 w 175"/>
                <a:gd name="T5" fmla="*/ 174 h 226"/>
                <a:gd name="T6" fmla="*/ 115 w 175"/>
                <a:gd name="T7" fmla="*/ 226 h 226"/>
                <a:gd name="T8" fmla="*/ 81 w 175"/>
                <a:gd name="T9" fmla="*/ 175 h 226"/>
                <a:gd name="T10" fmla="*/ 0 w 175"/>
                <a:gd name="T11" fmla="*/ 88 h 226"/>
                <a:gd name="T12" fmla="*/ 88 w 175"/>
                <a:gd name="T13" fmla="*/ 0 h 226"/>
              </a:gdLst>
              <a:ahLst/>
              <a:cxnLst>
                <a:cxn ang="0">
                  <a:pos x="T0" y="T1"/>
                </a:cxn>
                <a:cxn ang="0">
                  <a:pos x="T2" y="T3"/>
                </a:cxn>
                <a:cxn ang="0">
                  <a:pos x="T4" y="T5"/>
                </a:cxn>
                <a:cxn ang="0">
                  <a:pos x="T6" y="T7"/>
                </a:cxn>
                <a:cxn ang="0">
                  <a:pos x="T8" y="T9"/>
                </a:cxn>
                <a:cxn ang="0">
                  <a:pos x="T10" y="T11"/>
                </a:cxn>
                <a:cxn ang="0">
                  <a:pos x="T12" y="T13"/>
                </a:cxn>
              </a:cxnLst>
              <a:rect l="0" t="0" r="r" b="b"/>
              <a:pathLst>
                <a:path w="175" h="226">
                  <a:moveTo>
                    <a:pt x="88" y="0"/>
                  </a:moveTo>
                  <a:cubicBezTo>
                    <a:pt x="136" y="0"/>
                    <a:pt x="175" y="40"/>
                    <a:pt x="175" y="88"/>
                  </a:cubicBezTo>
                  <a:cubicBezTo>
                    <a:pt x="175" y="131"/>
                    <a:pt x="144" y="167"/>
                    <a:pt x="103" y="174"/>
                  </a:cubicBezTo>
                  <a:cubicBezTo>
                    <a:pt x="104" y="191"/>
                    <a:pt x="108" y="210"/>
                    <a:pt x="115" y="226"/>
                  </a:cubicBezTo>
                  <a:cubicBezTo>
                    <a:pt x="99" y="208"/>
                    <a:pt x="88" y="193"/>
                    <a:pt x="81" y="175"/>
                  </a:cubicBezTo>
                  <a:cubicBezTo>
                    <a:pt x="36" y="172"/>
                    <a:pt x="0" y="134"/>
                    <a:pt x="0" y="88"/>
                  </a:cubicBezTo>
                  <a:cubicBezTo>
                    <a:pt x="0" y="40"/>
                    <a:pt x="39" y="0"/>
                    <a:pt x="88" y="0"/>
                  </a:cubicBezTo>
                </a:path>
              </a:pathLst>
            </a:custGeom>
            <a:solidFill>
              <a:schemeClr val="accent1">
                <a:lumMod val="50000"/>
              </a:schemeClr>
            </a:solidFill>
            <a:ln>
              <a:noFill/>
            </a:ln>
          </p:spPr>
          <p:txBody>
            <a:bodyPr vert="horz" wrap="square" lIns="68598" tIns="34299" rIns="68598" bIns="34299" numCol="1" anchor="t" anchorCtr="0" compatLnSpc="1">
              <a:prstTxWarp prst="textNoShape">
                <a:avLst/>
              </a:prstTxWarp>
            </a:bodyPr>
            <a:ls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pPr marL="0" marR="0" lvl="0" indent="0" algn="l" defTabSz="1218987" rtl="0" eaLnBrk="1" fontAlgn="base" latinLnBrk="0" hangingPunct="1">
                <a:lnSpc>
                  <a:spcPct val="100000"/>
                </a:lnSpc>
                <a:spcBef>
                  <a:spcPct val="0"/>
                </a:spcBef>
                <a:spcAft>
                  <a:spcPct val="0"/>
                </a:spcAft>
                <a:buClrTx/>
                <a:buSzTx/>
                <a:buFontTx/>
                <a:buNone/>
                <a:tabLst/>
                <a:defRPr/>
              </a:pPr>
              <a:endParaRPr kumimoji="0" lang="en-IN" sz="1800" b="0" i="0" u="none" strike="noStrike" kern="1200" cap="none" spc="0" normalizeH="0" baseline="0" noProof="0" dirty="0">
                <a:ln>
                  <a:noFill/>
                </a:ln>
                <a:solidFill>
                  <a:srgbClr val="002277"/>
                </a:solidFill>
                <a:effectLst/>
                <a:uLnTx/>
                <a:uFillTx/>
                <a:latin typeface="Calibri Light"/>
                <a:ea typeface="+mn-ea"/>
                <a:cs typeface="+mn-cs"/>
              </a:endParaRPr>
            </a:p>
          </p:txBody>
        </p:sp>
        <p:sp>
          <p:nvSpPr>
            <p:cNvPr id="26" name="Freeform 52">
              <a:extLst>
                <a:ext uri="{FF2B5EF4-FFF2-40B4-BE49-F238E27FC236}">
                  <a16:creationId xmlns:a16="http://schemas.microsoft.com/office/drawing/2014/main" id="{FE47480C-492E-435A-8FB9-B98337028B01}"/>
                </a:ext>
              </a:extLst>
            </p:cNvPr>
            <p:cNvSpPr>
              <a:spLocks/>
            </p:cNvSpPr>
            <p:nvPr/>
          </p:nvSpPr>
          <p:spPr bwMode="auto">
            <a:xfrm>
              <a:off x="8244680" y="2805113"/>
              <a:ext cx="531813" cy="685800"/>
            </a:xfrm>
            <a:custGeom>
              <a:avLst/>
              <a:gdLst>
                <a:gd name="T0" fmla="*/ 352 w 704"/>
                <a:gd name="T1" fmla="*/ 0 h 906"/>
                <a:gd name="T2" fmla="*/ 0 w 704"/>
                <a:gd name="T3" fmla="*/ 352 h 906"/>
                <a:gd name="T4" fmla="*/ 289 w 704"/>
                <a:gd name="T5" fmla="*/ 698 h 906"/>
                <a:gd name="T6" fmla="*/ 240 w 704"/>
                <a:gd name="T7" fmla="*/ 906 h 906"/>
                <a:gd name="T8" fmla="*/ 379 w 704"/>
                <a:gd name="T9" fmla="*/ 703 h 906"/>
                <a:gd name="T10" fmla="*/ 704 w 704"/>
                <a:gd name="T11" fmla="*/ 352 h 906"/>
                <a:gd name="T12" fmla="*/ 352 w 704"/>
                <a:gd name="T13" fmla="*/ 0 h 906"/>
              </a:gdLst>
              <a:ahLst/>
              <a:cxnLst>
                <a:cxn ang="0">
                  <a:pos x="T0" y="T1"/>
                </a:cxn>
                <a:cxn ang="0">
                  <a:pos x="T2" y="T3"/>
                </a:cxn>
                <a:cxn ang="0">
                  <a:pos x="T4" y="T5"/>
                </a:cxn>
                <a:cxn ang="0">
                  <a:pos x="T6" y="T7"/>
                </a:cxn>
                <a:cxn ang="0">
                  <a:pos x="T8" y="T9"/>
                </a:cxn>
                <a:cxn ang="0">
                  <a:pos x="T10" y="T11"/>
                </a:cxn>
                <a:cxn ang="0">
                  <a:pos x="T12" y="T13"/>
                </a:cxn>
              </a:cxnLst>
              <a:rect l="0" t="0" r="r" b="b"/>
              <a:pathLst>
                <a:path w="704" h="906">
                  <a:moveTo>
                    <a:pt x="352" y="0"/>
                  </a:moveTo>
                  <a:cubicBezTo>
                    <a:pt x="158" y="0"/>
                    <a:pt x="0" y="158"/>
                    <a:pt x="0" y="352"/>
                  </a:cubicBezTo>
                  <a:cubicBezTo>
                    <a:pt x="0" y="525"/>
                    <a:pt x="125" y="669"/>
                    <a:pt x="289" y="698"/>
                  </a:cubicBezTo>
                  <a:cubicBezTo>
                    <a:pt x="288" y="767"/>
                    <a:pt x="272" y="842"/>
                    <a:pt x="240" y="906"/>
                  </a:cubicBezTo>
                  <a:cubicBezTo>
                    <a:pt x="306" y="835"/>
                    <a:pt x="351" y="773"/>
                    <a:pt x="379" y="703"/>
                  </a:cubicBezTo>
                  <a:cubicBezTo>
                    <a:pt x="560" y="689"/>
                    <a:pt x="704" y="537"/>
                    <a:pt x="704" y="352"/>
                  </a:cubicBezTo>
                  <a:cubicBezTo>
                    <a:pt x="704" y="158"/>
                    <a:pt x="546" y="0"/>
                    <a:pt x="352" y="0"/>
                  </a:cubicBezTo>
                </a:path>
              </a:pathLst>
            </a:custGeom>
            <a:solidFill>
              <a:schemeClr val="accent1">
                <a:lumMod val="50000"/>
              </a:schemeClr>
            </a:solidFill>
            <a:ln>
              <a:noFill/>
            </a:ln>
          </p:spPr>
          <p:txBody>
            <a:bodyPr vert="horz" wrap="square" lIns="68598" tIns="34299" rIns="68598" bIns="34299" numCol="1" anchor="t" anchorCtr="0" compatLnSpc="1">
              <a:prstTxWarp prst="textNoShape">
                <a:avLst/>
              </a:prstTxWarp>
            </a:bodyPr>
            <a:ls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pPr marL="0" marR="0" lvl="0" indent="0" algn="l" defTabSz="1218987" rtl="0" eaLnBrk="1" fontAlgn="base" latinLnBrk="0" hangingPunct="1">
                <a:lnSpc>
                  <a:spcPct val="100000"/>
                </a:lnSpc>
                <a:spcBef>
                  <a:spcPct val="0"/>
                </a:spcBef>
                <a:spcAft>
                  <a:spcPct val="0"/>
                </a:spcAft>
                <a:buClrTx/>
                <a:buSzTx/>
                <a:buFontTx/>
                <a:buNone/>
                <a:tabLst/>
                <a:defRPr/>
              </a:pPr>
              <a:endParaRPr kumimoji="0" lang="en-IN" sz="1800" b="0" i="0" u="none" strike="noStrike" kern="1200" cap="none" spc="0" normalizeH="0" baseline="0" noProof="0" dirty="0">
                <a:ln>
                  <a:noFill/>
                </a:ln>
                <a:solidFill>
                  <a:srgbClr val="002277"/>
                </a:solidFill>
                <a:effectLst/>
                <a:uLnTx/>
                <a:uFillTx/>
                <a:latin typeface="Calibri Light"/>
                <a:ea typeface="+mn-ea"/>
                <a:cs typeface="+mn-cs"/>
              </a:endParaRPr>
            </a:p>
          </p:txBody>
        </p:sp>
        <p:sp>
          <p:nvSpPr>
            <p:cNvPr id="27" name="Freeform 54">
              <a:extLst>
                <a:ext uri="{FF2B5EF4-FFF2-40B4-BE49-F238E27FC236}">
                  <a16:creationId xmlns:a16="http://schemas.microsoft.com/office/drawing/2014/main" id="{B3EDDCC7-0187-431A-896F-02F8A0BA3744}"/>
                </a:ext>
              </a:extLst>
            </p:cNvPr>
            <p:cNvSpPr>
              <a:spLocks/>
            </p:cNvSpPr>
            <p:nvPr/>
          </p:nvSpPr>
          <p:spPr bwMode="auto">
            <a:xfrm>
              <a:off x="3705943" y="3571555"/>
              <a:ext cx="1930399" cy="965201"/>
            </a:xfrm>
            <a:custGeom>
              <a:avLst/>
              <a:gdLst>
                <a:gd name="T0" fmla="*/ 483 w 2551"/>
                <a:gd name="T1" fmla="*/ 0 h 1277"/>
                <a:gd name="T2" fmla="*/ 2068 w 2551"/>
                <a:gd name="T3" fmla="*/ 0 h 1277"/>
                <a:gd name="T4" fmla="*/ 2551 w 2551"/>
                <a:gd name="T5" fmla="*/ 483 h 1277"/>
                <a:gd name="T6" fmla="*/ 2068 w 2551"/>
                <a:gd name="T7" fmla="*/ 966 h 1277"/>
                <a:gd name="T8" fmla="*/ 744 w 2551"/>
                <a:gd name="T9" fmla="*/ 966 h 1277"/>
                <a:gd name="T10" fmla="*/ 815 w 2551"/>
                <a:gd name="T11" fmla="*/ 1277 h 1277"/>
                <a:gd name="T12" fmla="*/ 609 w 2551"/>
                <a:gd name="T13" fmla="*/ 966 h 1277"/>
                <a:gd name="T14" fmla="*/ 483 w 2551"/>
                <a:gd name="T15" fmla="*/ 966 h 1277"/>
                <a:gd name="T16" fmla="*/ 0 w 2551"/>
                <a:gd name="T17" fmla="*/ 483 h 1277"/>
                <a:gd name="T18" fmla="*/ 483 w 2551"/>
                <a:gd name="T19" fmla="*/ 0 h 1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51" h="1277">
                  <a:moveTo>
                    <a:pt x="483" y="0"/>
                  </a:moveTo>
                  <a:cubicBezTo>
                    <a:pt x="2068" y="0"/>
                    <a:pt x="2068" y="0"/>
                    <a:pt x="2068" y="0"/>
                  </a:cubicBezTo>
                  <a:cubicBezTo>
                    <a:pt x="2334" y="0"/>
                    <a:pt x="2551" y="218"/>
                    <a:pt x="2551" y="483"/>
                  </a:cubicBezTo>
                  <a:cubicBezTo>
                    <a:pt x="2551" y="749"/>
                    <a:pt x="2334" y="966"/>
                    <a:pt x="2068" y="966"/>
                  </a:cubicBezTo>
                  <a:cubicBezTo>
                    <a:pt x="744" y="966"/>
                    <a:pt x="744" y="966"/>
                    <a:pt x="744" y="966"/>
                  </a:cubicBezTo>
                  <a:cubicBezTo>
                    <a:pt x="745" y="1069"/>
                    <a:pt x="767" y="1182"/>
                    <a:pt x="815" y="1277"/>
                  </a:cubicBezTo>
                  <a:cubicBezTo>
                    <a:pt x="714" y="1169"/>
                    <a:pt x="648" y="1076"/>
                    <a:pt x="609" y="966"/>
                  </a:cubicBezTo>
                  <a:cubicBezTo>
                    <a:pt x="483" y="966"/>
                    <a:pt x="483" y="966"/>
                    <a:pt x="483" y="966"/>
                  </a:cubicBezTo>
                  <a:cubicBezTo>
                    <a:pt x="217" y="966"/>
                    <a:pt x="0" y="749"/>
                    <a:pt x="0" y="483"/>
                  </a:cubicBezTo>
                  <a:cubicBezTo>
                    <a:pt x="0" y="218"/>
                    <a:pt x="217" y="0"/>
                    <a:pt x="483" y="0"/>
                  </a:cubicBezTo>
                </a:path>
              </a:pathLst>
            </a:custGeom>
            <a:solidFill>
              <a:srgbClr val="E1EFFC"/>
            </a:solidFill>
            <a:ln>
              <a:noFill/>
            </a:ln>
          </p:spPr>
          <p:txBody>
            <a:bodyPr vert="horz" wrap="square" lIns="68598" tIns="34299" rIns="68598" bIns="34299" numCol="1" anchor="t" anchorCtr="0" compatLnSpc="1">
              <a:prstTxWarp prst="textNoShape">
                <a:avLst/>
              </a:prstTxWarp>
            </a:bodyPr>
            <a:ls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pPr marL="0" marR="0" lvl="0" indent="0" algn="l" defTabSz="1218987" rtl="0" eaLnBrk="1" fontAlgn="base" latinLnBrk="0" hangingPunct="1">
                <a:lnSpc>
                  <a:spcPct val="100000"/>
                </a:lnSpc>
                <a:spcBef>
                  <a:spcPct val="0"/>
                </a:spcBef>
                <a:spcAft>
                  <a:spcPct val="0"/>
                </a:spcAft>
                <a:buClrTx/>
                <a:buSzTx/>
                <a:buFontTx/>
                <a:buNone/>
                <a:tabLst/>
                <a:defRPr/>
              </a:pPr>
              <a:endParaRPr kumimoji="0" lang="en-IN" sz="1800" b="0" i="0" u="none" strike="noStrike" kern="1200" cap="none" spc="0" normalizeH="0" baseline="0" noProof="0" dirty="0">
                <a:ln>
                  <a:noFill/>
                </a:ln>
                <a:solidFill>
                  <a:srgbClr val="002277"/>
                </a:solidFill>
                <a:effectLst/>
                <a:uLnTx/>
                <a:uFillTx/>
                <a:latin typeface="Calibri Light"/>
                <a:ea typeface="+mn-ea"/>
                <a:cs typeface="+mn-cs"/>
              </a:endParaRPr>
            </a:p>
          </p:txBody>
        </p:sp>
        <p:sp>
          <p:nvSpPr>
            <p:cNvPr id="28" name="Freeform 55">
              <a:extLst>
                <a:ext uri="{FF2B5EF4-FFF2-40B4-BE49-F238E27FC236}">
                  <a16:creationId xmlns:a16="http://schemas.microsoft.com/office/drawing/2014/main" id="{95C62179-6459-4530-9F5F-45B930849DA6}"/>
                </a:ext>
              </a:extLst>
            </p:cNvPr>
            <p:cNvSpPr>
              <a:spLocks/>
            </p:cNvSpPr>
            <p:nvPr/>
          </p:nvSpPr>
          <p:spPr bwMode="auto">
            <a:xfrm>
              <a:off x="6738142" y="4067175"/>
              <a:ext cx="627063" cy="844550"/>
            </a:xfrm>
            <a:custGeom>
              <a:avLst/>
              <a:gdLst>
                <a:gd name="T0" fmla="*/ 124 w 829"/>
                <a:gd name="T1" fmla="*/ 0 h 1116"/>
                <a:gd name="T2" fmla="*/ 705 w 829"/>
                <a:gd name="T3" fmla="*/ 0 h 1116"/>
                <a:gd name="T4" fmla="*/ 829 w 829"/>
                <a:gd name="T5" fmla="*/ 124 h 1116"/>
                <a:gd name="T6" fmla="*/ 829 w 829"/>
                <a:gd name="T7" fmla="*/ 705 h 1116"/>
                <a:gd name="T8" fmla="*/ 705 w 829"/>
                <a:gd name="T9" fmla="*/ 829 h 1116"/>
                <a:gd name="T10" fmla="*/ 451 w 829"/>
                <a:gd name="T11" fmla="*/ 829 h 1116"/>
                <a:gd name="T12" fmla="*/ 512 w 829"/>
                <a:gd name="T13" fmla="*/ 1116 h 1116"/>
                <a:gd name="T14" fmla="*/ 329 w 829"/>
                <a:gd name="T15" fmla="*/ 829 h 1116"/>
                <a:gd name="T16" fmla="*/ 124 w 829"/>
                <a:gd name="T17" fmla="*/ 829 h 1116"/>
                <a:gd name="T18" fmla="*/ 0 w 829"/>
                <a:gd name="T19" fmla="*/ 705 h 1116"/>
                <a:gd name="T20" fmla="*/ 0 w 829"/>
                <a:gd name="T21" fmla="*/ 124 h 1116"/>
                <a:gd name="T22" fmla="*/ 124 w 829"/>
                <a:gd name="T23" fmla="*/ 0 h 1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29" h="1116">
                  <a:moveTo>
                    <a:pt x="124" y="0"/>
                  </a:moveTo>
                  <a:cubicBezTo>
                    <a:pt x="705" y="0"/>
                    <a:pt x="705" y="0"/>
                    <a:pt x="705" y="0"/>
                  </a:cubicBezTo>
                  <a:cubicBezTo>
                    <a:pt x="773" y="0"/>
                    <a:pt x="829" y="56"/>
                    <a:pt x="829" y="124"/>
                  </a:cubicBezTo>
                  <a:cubicBezTo>
                    <a:pt x="829" y="705"/>
                    <a:pt x="829" y="705"/>
                    <a:pt x="829" y="705"/>
                  </a:cubicBezTo>
                  <a:cubicBezTo>
                    <a:pt x="829" y="773"/>
                    <a:pt x="773" y="829"/>
                    <a:pt x="705" y="829"/>
                  </a:cubicBezTo>
                  <a:cubicBezTo>
                    <a:pt x="451" y="829"/>
                    <a:pt x="451" y="829"/>
                    <a:pt x="451" y="829"/>
                  </a:cubicBezTo>
                  <a:cubicBezTo>
                    <a:pt x="449" y="923"/>
                    <a:pt x="468" y="1028"/>
                    <a:pt x="512" y="1116"/>
                  </a:cubicBezTo>
                  <a:cubicBezTo>
                    <a:pt x="419" y="1017"/>
                    <a:pt x="361" y="932"/>
                    <a:pt x="329" y="829"/>
                  </a:cubicBezTo>
                  <a:cubicBezTo>
                    <a:pt x="124" y="829"/>
                    <a:pt x="124" y="829"/>
                    <a:pt x="124" y="829"/>
                  </a:cubicBezTo>
                  <a:cubicBezTo>
                    <a:pt x="56" y="829"/>
                    <a:pt x="0" y="773"/>
                    <a:pt x="0" y="705"/>
                  </a:cubicBezTo>
                  <a:cubicBezTo>
                    <a:pt x="0" y="124"/>
                    <a:pt x="0" y="124"/>
                    <a:pt x="0" y="124"/>
                  </a:cubicBezTo>
                  <a:cubicBezTo>
                    <a:pt x="0" y="56"/>
                    <a:pt x="56" y="0"/>
                    <a:pt x="124" y="0"/>
                  </a:cubicBezTo>
                </a:path>
              </a:pathLst>
            </a:custGeom>
            <a:solidFill>
              <a:schemeClr val="accent1">
                <a:lumMod val="50000"/>
              </a:schemeClr>
            </a:solidFill>
            <a:ln>
              <a:noFill/>
            </a:ln>
          </p:spPr>
          <p:txBody>
            <a:bodyPr vert="horz" wrap="square" lIns="68598" tIns="34299" rIns="68598" bIns="34299" numCol="1" anchor="t" anchorCtr="0" compatLnSpc="1">
              <a:prstTxWarp prst="textNoShape">
                <a:avLst/>
              </a:prstTxWarp>
            </a:bodyPr>
            <a:ls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pPr marL="0" marR="0" lvl="0" indent="0" algn="l" defTabSz="1218987" rtl="0" eaLnBrk="1" fontAlgn="base" latinLnBrk="0" hangingPunct="1">
                <a:lnSpc>
                  <a:spcPct val="100000"/>
                </a:lnSpc>
                <a:spcBef>
                  <a:spcPct val="0"/>
                </a:spcBef>
                <a:spcAft>
                  <a:spcPct val="0"/>
                </a:spcAft>
                <a:buClrTx/>
                <a:buSzTx/>
                <a:buFontTx/>
                <a:buNone/>
                <a:tabLst/>
                <a:defRPr/>
              </a:pPr>
              <a:endParaRPr kumimoji="0" lang="en-IN" sz="1800" b="0" i="0" u="none" strike="noStrike" kern="1200" cap="none" spc="0" normalizeH="0" baseline="0" noProof="0" dirty="0">
                <a:ln>
                  <a:noFill/>
                </a:ln>
                <a:solidFill>
                  <a:srgbClr val="002277"/>
                </a:solidFill>
                <a:effectLst/>
                <a:uLnTx/>
                <a:uFillTx/>
                <a:latin typeface="Calibri Light"/>
                <a:ea typeface="+mn-ea"/>
                <a:cs typeface="+mn-cs"/>
              </a:endParaRPr>
            </a:p>
          </p:txBody>
        </p:sp>
        <p:sp>
          <p:nvSpPr>
            <p:cNvPr id="29" name="Freeform 56">
              <a:extLst>
                <a:ext uri="{FF2B5EF4-FFF2-40B4-BE49-F238E27FC236}">
                  <a16:creationId xmlns:a16="http://schemas.microsoft.com/office/drawing/2014/main" id="{4DE6F999-6B93-443A-A1B5-DB9E720B2366}"/>
                </a:ext>
              </a:extLst>
            </p:cNvPr>
            <p:cNvSpPr>
              <a:spLocks/>
            </p:cNvSpPr>
            <p:nvPr/>
          </p:nvSpPr>
          <p:spPr bwMode="auto">
            <a:xfrm>
              <a:off x="6590506" y="1325785"/>
              <a:ext cx="760412" cy="979487"/>
            </a:xfrm>
            <a:custGeom>
              <a:avLst/>
              <a:gdLst>
                <a:gd name="T0" fmla="*/ 503 w 1006"/>
                <a:gd name="T1" fmla="*/ 0 h 1294"/>
                <a:gd name="T2" fmla="*/ 1006 w 1006"/>
                <a:gd name="T3" fmla="*/ 503 h 1294"/>
                <a:gd name="T4" fmla="*/ 592 w 1006"/>
                <a:gd name="T5" fmla="*/ 997 h 1294"/>
                <a:gd name="T6" fmla="*/ 663 w 1006"/>
                <a:gd name="T7" fmla="*/ 1294 h 1294"/>
                <a:gd name="T8" fmla="*/ 465 w 1006"/>
                <a:gd name="T9" fmla="*/ 1004 h 1294"/>
                <a:gd name="T10" fmla="*/ 0 w 1006"/>
                <a:gd name="T11" fmla="*/ 503 h 1294"/>
                <a:gd name="T12" fmla="*/ 503 w 1006"/>
                <a:gd name="T13" fmla="*/ 0 h 1294"/>
              </a:gdLst>
              <a:ahLst/>
              <a:cxnLst>
                <a:cxn ang="0">
                  <a:pos x="T0" y="T1"/>
                </a:cxn>
                <a:cxn ang="0">
                  <a:pos x="T2" y="T3"/>
                </a:cxn>
                <a:cxn ang="0">
                  <a:pos x="T4" y="T5"/>
                </a:cxn>
                <a:cxn ang="0">
                  <a:pos x="T6" y="T7"/>
                </a:cxn>
                <a:cxn ang="0">
                  <a:pos x="T8" y="T9"/>
                </a:cxn>
                <a:cxn ang="0">
                  <a:pos x="T10" y="T11"/>
                </a:cxn>
                <a:cxn ang="0">
                  <a:pos x="T12" y="T13"/>
                </a:cxn>
              </a:cxnLst>
              <a:rect l="0" t="0" r="r" b="b"/>
              <a:pathLst>
                <a:path w="1006" h="1294">
                  <a:moveTo>
                    <a:pt x="503" y="0"/>
                  </a:moveTo>
                  <a:cubicBezTo>
                    <a:pt x="781" y="0"/>
                    <a:pt x="1006" y="225"/>
                    <a:pt x="1006" y="503"/>
                  </a:cubicBezTo>
                  <a:cubicBezTo>
                    <a:pt x="1006" y="750"/>
                    <a:pt x="827" y="955"/>
                    <a:pt x="592" y="997"/>
                  </a:cubicBezTo>
                  <a:cubicBezTo>
                    <a:pt x="595" y="1096"/>
                    <a:pt x="617" y="1203"/>
                    <a:pt x="663" y="1294"/>
                  </a:cubicBezTo>
                  <a:cubicBezTo>
                    <a:pt x="568" y="1193"/>
                    <a:pt x="505" y="1105"/>
                    <a:pt x="465" y="1004"/>
                  </a:cubicBezTo>
                  <a:cubicBezTo>
                    <a:pt x="205" y="984"/>
                    <a:pt x="0" y="767"/>
                    <a:pt x="0" y="503"/>
                  </a:cubicBezTo>
                  <a:cubicBezTo>
                    <a:pt x="0" y="225"/>
                    <a:pt x="225" y="0"/>
                    <a:pt x="503" y="0"/>
                  </a:cubicBezTo>
                </a:path>
              </a:pathLst>
            </a:custGeom>
            <a:solidFill>
              <a:schemeClr val="bg1">
                <a:lumMod val="85000"/>
                <a:lumOff val="15000"/>
              </a:schemeClr>
            </a:solidFill>
            <a:ln>
              <a:noFill/>
            </a:ln>
          </p:spPr>
          <p:txBody>
            <a:bodyPr vert="horz" wrap="square" lIns="68598" tIns="34299" rIns="68598" bIns="34299" numCol="1" anchor="t" anchorCtr="0" compatLnSpc="1">
              <a:prstTxWarp prst="textNoShape">
                <a:avLst/>
              </a:prstTxWarp>
            </a:bodyPr>
            <a:ls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pPr marL="0" marR="0" lvl="0" indent="0" algn="l" defTabSz="1218987" rtl="0" eaLnBrk="1" fontAlgn="base" latinLnBrk="0" hangingPunct="1">
                <a:lnSpc>
                  <a:spcPct val="100000"/>
                </a:lnSpc>
                <a:spcBef>
                  <a:spcPct val="0"/>
                </a:spcBef>
                <a:spcAft>
                  <a:spcPct val="0"/>
                </a:spcAft>
                <a:buClrTx/>
                <a:buSzTx/>
                <a:buFontTx/>
                <a:buNone/>
                <a:tabLst/>
                <a:defRPr/>
              </a:pPr>
              <a:endParaRPr kumimoji="0" lang="en-IN" sz="1800" b="0" i="0" u="none" strike="noStrike" kern="1200" cap="none" spc="0" normalizeH="0" baseline="0" noProof="0" dirty="0">
                <a:ln>
                  <a:noFill/>
                </a:ln>
                <a:solidFill>
                  <a:srgbClr val="002277"/>
                </a:solidFill>
                <a:effectLst/>
                <a:uLnTx/>
                <a:uFillTx/>
                <a:latin typeface="Calibri Light"/>
                <a:ea typeface="+mn-ea"/>
                <a:cs typeface="+mn-cs"/>
              </a:endParaRPr>
            </a:p>
          </p:txBody>
        </p:sp>
        <p:sp>
          <p:nvSpPr>
            <p:cNvPr id="30" name="Freeform 57">
              <a:extLst>
                <a:ext uri="{FF2B5EF4-FFF2-40B4-BE49-F238E27FC236}">
                  <a16:creationId xmlns:a16="http://schemas.microsoft.com/office/drawing/2014/main" id="{11352CAF-A390-4704-B470-5A70C317C8B2}"/>
                </a:ext>
              </a:extLst>
            </p:cNvPr>
            <p:cNvSpPr>
              <a:spLocks/>
            </p:cNvSpPr>
            <p:nvPr/>
          </p:nvSpPr>
          <p:spPr bwMode="auto">
            <a:xfrm>
              <a:off x="6912767" y="1698625"/>
              <a:ext cx="963613" cy="485775"/>
            </a:xfrm>
            <a:custGeom>
              <a:avLst/>
              <a:gdLst>
                <a:gd name="T0" fmla="*/ 1201 w 1273"/>
                <a:gd name="T1" fmla="*/ 0 h 641"/>
                <a:gd name="T2" fmla="*/ 72 w 1273"/>
                <a:gd name="T3" fmla="*/ 0 h 641"/>
                <a:gd name="T4" fmla="*/ 0 w 1273"/>
                <a:gd name="T5" fmla="*/ 73 h 641"/>
                <a:gd name="T6" fmla="*/ 0 w 1273"/>
                <a:gd name="T7" fmla="*/ 410 h 641"/>
                <a:gd name="T8" fmla="*/ 72 w 1273"/>
                <a:gd name="T9" fmla="*/ 482 h 641"/>
                <a:gd name="T10" fmla="*/ 981 w 1273"/>
                <a:gd name="T11" fmla="*/ 482 h 641"/>
                <a:gd name="T12" fmla="*/ 946 w 1273"/>
                <a:gd name="T13" fmla="*/ 641 h 641"/>
                <a:gd name="T14" fmla="*/ 1050 w 1273"/>
                <a:gd name="T15" fmla="*/ 482 h 641"/>
                <a:gd name="T16" fmla="*/ 1201 w 1273"/>
                <a:gd name="T17" fmla="*/ 482 h 641"/>
                <a:gd name="T18" fmla="*/ 1273 w 1273"/>
                <a:gd name="T19" fmla="*/ 410 h 641"/>
                <a:gd name="T20" fmla="*/ 1273 w 1273"/>
                <a:gd name="T21" fmla="*/ 73 h 641"/>
                <a:gd name="T22" fmla="*/ 1201 w 1273"/>
                <a:gd name="T23" fmla="*/ 0 h 6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73" h="641">
                  <a:moveTo>
                    <a:pt x="1201" y="0"/>
                  </a:moveTo>
                  <a:cubicBezTo>
                    <a:pt x="72" y="0"/>
                    <a:pt x="72" y="0"/>
                    <a:pt x="72" y="0"/>
                  </a:cubicBezTo>
                  <a:cubicBezTo>
                    <a:pt x="33" y="0"/>
                    <a:pt x="0" y="33"/>
                    <a:pt x="0" y="73"/>
                  </a:cubicBezTo>
                  <a:cubicBezTo>
                    <a:pt x="0" y="410"/>
                    <a:pt x="0" y="410"/>
                    <a:pt x="0" y="410"/>
                  </a:cubicBezTo>
                  <a:cubicBezTo>
                    <a:pt x="0" y="450"/>
                    <a:pt x="33" y="482"/>
                    <a:pt x="72" y="482"/>
                  </a:cubicBezTo>
                  <a:cubicBezTo>
                    <a:pt x="981" y="482"/>
                    <a:pt x="981" y="482"/>
                    <a:pt x="981" y="482"/>
                  </a:cubicBezTo>
                  <a:cubicBezTo>
                    <a:pt x="982" y="535"/>
                    <a:pt x="971" y="593"/>
                    <a:pt x="946" y="641"/>
                  </a:cubicBezTo>
                  <a:cubicBezTo>
                    <a:pt x="998" y="586"/>
                    <a:pt x="1031" y="539"/>
                    <a:pt x="1050" y="482"/>
                  </a:cubicBezTo>
                  <a:cubicBezTo>
                    <a:pt x="1201" y="482"/>
                    <a:pt x="1201" y="482"/>
                    <a:pt x="1201" y="482"/>
                  </a:cubicBezTo>
                  <a:cubicBezTo>
                    <a:pt x="1241" y="482"/>
                    <a:pt x="1273" y="450"/>
                    <a:pt x="1273" y="410"/>
                  </a:cubicBezTo>
                  <a:cubicBezTo>
                    <a:pt x="1273" y="73"/>
                    <a:pt x="1273" y="73"/>
                    <a:pt x="1273" y="73"/>
                  </a:cubicBezTo>
                  <a:cubicBezTo>
                    <a:pt x="1273" y="33"/>
                    <a:pt x="1241" y="0"/>
                    <a:pt x="1201" y="0"/>
                  </a:cubicBezTo>
                </a:path>
              </a:pathLst>
            </a:custGeom>
            <a:solidFill>
              <a:srgbClr val="E1EFFC"/>
            </a:solidFill>
            <a:ln>
              <a:noFill/>
            </a:ln>
          </p:spPr>
          <p:txBody>
            <a:bodyPr vert="horz" wrap="square" lIns="68598" tIns="34299" rIns="68598" bIns="34299" numCol="1" anchor="t" anchorCtr="0" compatLnSpc="1">
              <a:prstTxWarp prst="textNoShape">
                <a:avLst/>
              </a:prstTxWarp>
            </a:bodyPr>
            <a:ls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pPr marL="0" marR="0" lvl="0" indent="0" algn="l" defTabSz="1218987" rtl="0" eaLnBrk="1" fontAlgn="base" latinLnBrk="0" hangingPunct="1">
                <a:lnSpc>
                  <a:spcPct val="100000"/>
                </a:lnSpc>
                <a:spcBef>
                  <a:spcPct val="0"/>
                </a:spcBef>
                <a:spcAft>
                  <a:spcPct val="0"/>
                </a:spcAft>
                <a:buClrTx/>
                <a:buSzTx/>
                <a:buFontTx/>
                <a:buNone/>
                <a:tabLst/>
                <a:defRPr/>
              </a:pPr>
              <a:endParaRPr kumimoji="0" lang="en-IN" sz="1800" b="0" i="0" u="none" strike="noStrike" kern="1200" cap="none" spc="0" normalizeH="0" baseline="0" noProof="0" dirty="0">
                <a:ln>
                  <a:noFill/>
                </a:ln>
                <a:solidFill>
                  <a:srgbClr val="002277"/>
                </a:solidFill>
                <a:effectLst/>
                <a:uLnTx/>
                <a:uFillTx/>
                <a:latin typeface="Calibri Light"/>
                <a:ea typeface="+mn-ea"/>
                <a:cs typeface="+mn-cs"/>
              </a:endParaRPr>
            </a:p>
          </p:txBody>
        </p:sp>
        <p:sp>
          <p:nvSpPr>
            <p:cNvPr id="31" name="Freeform 58">
              <a:extLst>
                <a:ext uri="{FF2B5EF4-FFF2-40B4-BE49-F238E27FC236}">
                  <a16:creationId xmlns:a16="http://schemas.microsoft.com/office/drawing/2014/main" id="{717BAB48-BA5E-48F0-80A5-0AE467A53ECC}"/>
                </a:ext>
              </a:extLst>
            </p:cNvPr>
            <p:cNvSpPr>
              <a:spLocks/>
            </p:cNvSpPr>
            <p:nvPr/>
          </p:nvSpPr>
          <p:spPr bwMode="auto">
            <a:xfrm>
              <a:off x="7200105" y="1919288"/>
              <a:ext cx="1190625" cy="1176338"/>
            </a:xfrm>
            <a:custGeom>
              <a:avLst/>
              <a:gdLst>
                <a:gd name="T0" fmla="*/ 787 w 1574"/>
                <a:gd name="T1" fmla="*/ 0 h 1555"/>
                <a:gd name="T2" fmla="*/ 0 w 1574"/>
                <a:gd name="T3" fmla="*/ 552 h 1555"/>
                <a:gd name="T4" fmla="*/ 787 w 1574"/>
                <a:gd name="T5" fmla="*/ 1104 h 1555"/>
                <a:gd name="T6" fmla="*/ 805 w 1574"/>
                <a:gd name="T7" fmla="*/ 1104 h 1555"/>
                <a:gd name="T8" fmla="*/ 725 w 1574"/>
                <a:gd name="T9" fmla="*/ 1555 h 1555"/>
                <a:gd name="T10" fmla="*/ 998 w 1574"/>
                <a:gd name="T11" fmla="*/ 1084 h 1555"/>
                <a:gd name="T12" fmla="*/ 1012 w 1574"/>
                <a:gd name="T13" fmla="*/ 1081 h 1555"/>
                <a:gd name="T14" fmla="*/ 1443 w 1574"/>
                <a:gd name="T15" fmla="*/ 857 h 1555"/>
                <a:gd name="T16" fmla="*/ 1574 w 1574"/>
                <a:gd name="T17" fmla="*/ 552 h 1555"/>
                <a:gd name="T18" fmla="*/ 787 w 1574"/>
                <a:gd name="T19" fmla="*/ 0 h 15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74" h="1555">
                  <a:moveTo>
                    <a:pt x="787" y="0"/>
                  </a:moveTo>
                  <a:cubicBezTo>
                    <a:pt x="352" y="0"/>
                    <a:pt x="0" y="247"/>
                    <a:pt x="0" y="552"/>
                  </a:cubicBezTo>
                  <a:cubicBezTo>
                    <a:pt x="0" y="857"/>
                    <a:pt x="352" y="1104"/>
                    <a:pt x="787" y="1104"/>
                  </a:cubicBezTo>
                  <a:cubicBezTo>
                    <a:pt x="793" y="1104"/>
                    <a:pt x="799" y="1104"/>
                    <a:pt x="805" y="1104"/>
                  </a:cubicBezTo>
                  <a:cubicBezTo>
                    <a:pt x="819" y="1245"/>
                    <a:pt x="794" y="1415"/>
                    <a:pt x="725" y="1555"/>
                  </a:cubicBezTo>
                  <a:cubicBezTo>
                    <a:pt x="874" y="1395"/>
                    <a:pt x="959" y="1260"/>
                    <a:pt x="998" y="1084"/>
                  </a:cubicBezTo>
                  <a:cubicBezTo>
                    <a:pt x="1003" y="1083"/>
                    <a:pt x="1007" y="1082"/>
                    <a:pt x="1012" y="1081"/>
                  </a:cubicBezTo>
                  <a:cubicBezTo>
                    <a:pt x="1170" y="1048"/>
                    <a:pt x="1331" y="976"/>
                    <a:pt x="1443" y="857"/>
                  </a:cubicBezTo>
                  <a:cubicBezTo>
                    <a:pt x="1523" y="773"/>
                    <a:pt x="1574" y="669"/>
                    <a:pt x="1574" y="552"/>
                  </a:cubicBezTo>
                  <a:cubicBezTo>
                    <a:pt x="1574" y="247"/>
                    <a:pt x="1222" y="0"/>
                    <a:pt x="787" y="0"/>
                  </a:cubicBezTo>
                </a:path>
              </a:pathLst>
            </a:custGeom>
            <a:solidFill>
              <a:schemeClr val="bg1">
                <a:lumMod val="85000"/>
                <a:lumOff val="15000"/>
              </a:schemeClr>
            </a:solidFill>
            <a:ln>
              <a:noFill/>
            </a:ln>
          </p:spPr>
          <p:txBody>
            <a:bodyPr vert="horz" wrap="square" lIns="68598" tIns="34299" rIns="68598" bIns="34299" numCol="1" anchor="t" anchorCtr="0" compatLnSpc="1">
              <a:prstTxWarp prst="textNoShape">
                <a:avLst/>
              </a:prstTxWarp>
            </a:bodyPr>
            <a:ls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pPr marL="0" marR="0" lvl="0" indent="0" algn="l" defTabSz="1218987" rtl="0" eaLnBrk="1" fontAlgn="base" latinLnBrk="0" hangingPunct="1">
                <a:lnSpc>
                  <a:spcPct val="100000"/>
                </a:lnSpc>
                <a:spcBef>
                  <a:spcPct val="0"/>
                </a:spcBef>
                <a:spcAft>
                  <a:spcPct val="0"/>
                </a:spcAft>
                <a:buClrTx/>
                <a:buSzTx/>
                <a:buFontTx/>
                <a:buNone/>
                <a:tabLst/>
                <a:defRPr/>
              </a:pPr>
              <a:endParaRPr kumimoji="0" lang="en-IN" sz="1800" b="0" i="0" u="none" strike="noStrike" kern="1200" cap="none" spc="0" normalizeH="0" baseline="0" noProof="0" dirty="0">
                <a:ln>
                  <a:noFill/>
                </a:ln>
                <a:solidFill>
                  <a:srgbClr val="002277"/>
                </a:solidFill>
                <a:effectLst/>
                <a:uLnTx/>
                <a:uFillTx/>
                <a:latin typeface="Calibri Light"/>
                <a:ea typeface="+mn-ea"/>
                <a:cs typeface="+mn-cs"/>
              </a:endParaRPr>
            </a:p>
          </p:txBody>
        </p:sp>
        <p:sp>
          <p:nvSpPr>
            <p:cNvPr id="32" name="Freeform 59">
              <a:extLst>
                <a:ext uri="{FF2B5EF4-FFF2-40B4-BE49-F238E27FC236}">
                  <a16:creationId xmlns:a16="http://schemas.microsoft.com/office/drawing/2014/main" id="{841749F6-FAB4-4EE5-9EC7-EAC99B3D7AAA}"/>
                </a:ext>
              </a:extLst>
            </p:cNvPr>
            <p:cNvSpPr>
              <a:spLocks/>
            </p:cNvSpPr>
            <p:nvPr/>
          </p:nvSpPr>
          <p:spPr bwMode="auto">
            <a:xfrm>
              <a:off x="7160417" y="3154363"/>
              <a:ext cx="609600" cy="785813"/>
            </a:xfrm>
            <a:custGeom>
              <a:avLst/>
              <a:gdLst>
                <a:gd name="T0" fmla="*/ 404 w 807"/>
                <a:gd name="T1" fmla="*/ 0 h 1039"/>
                <a:gd name="T2" fmla="*/ 807 w 807"/>
                <a:gd name="T3" fmla="*/ 403 h 1039"/>
                <a:gd name="T4" fmla="*/ 475 w 807"/>
                <a:gd name="T5" fmla="*/ 800 h 1039"/>
                <a:gd name="T6" fmla="*/ 532 w 807"/>
                <a:gd name="T7" fmla="*/ 1039 h 1039"/>
                <a:gd name="T8" fmla="*/ 373 w 807"/>
                <a:gd name="T9" fmla="*/ 805 h 1039"/>
                <a:gd name="T10" fmla="*/ 0 w 807"/>
                <a:gd name="T11" fmla="*/ 403 h 1039"/>
                <a:gd name="T12" fmla="*/ 404 w 807"/>
                <a:gd name="T13" fmla="*/ 0 h 1039"/>
              </a:gdLst>
              <a:ahLst/>
              <a:cxnLst>
                <a:cxn ang="0">
                  <a:pos x="T0" y="T1"/>
                </a:cxn>
                <a:cxn ang="0">
                  <a:pos x="T2" y="T3"/>
                </a:cxn>
                <a:cxn ang="0">
                  <a:pos x="T4" y="T5"/>
                </a:cxn>
                <a:cxn ang="0">
                  <a:pos x="T6" y="T7"/>
                </a:cxn>
                <a:cxn ang="0">
                  <a:pos x="T8" y="T9"/>
                </a:cxn>
                <a:cxn ang="0">
                  <a:pos x="T10" y="T11"/>
                </a:cxn>
                <a:cxn ang="0">
                  <a:pos x="T12" y="T13"/>
                </a:cxn>
              </a:cxnLst>
              <a:rect l="0" t="0" r="r" b="b"/>
              <a:pathLst>
                <a:path w="807" h="1039">
                  <a:moveTo>
                    <a:pt x="404" y="0"/>
                  </a:moveTo>
                  <a:cubicBezTo>
                    <a:pt x="626" y="0"/>
                    <a:pt x="807" y="180"/>
                    <a:pt x="807" y="403"/>
                  </a:cubicBezTo>
                  <a:cubicBezTo>
                    <a:pt x="807" y="602"/>
                    <a:pt x="664" y="766"/>
                    <a:pt x="475" y="800"/>
                  </a:cubicBezTo>
                  <a:cubicBezTo>
                    <a:pt x="477" y="879"/>
                    <a:pt x="495" y="965"/>
                    <a:pt x="532" y="1039"/>
                  </a:cubicBezTo>
                  <a:cubicBezTo>
                    <a:pt x="456" y="957"/>
                    <a:pt x="405" y="886"/>
                    <a:pt x="373" y="805"/>
                  </a:cubicBezTo>
                  <a:cubicBezTo>
                    <a:pt x="165" y="790"/>
                    <a:pt x="0" y="616"/>
                    <a:pt x="0" y="403"/>
                  </a:cubicBezTo>
                  <a:cubicBezTo>
                    <a:pt x="0" y="180"/>
                    <a:pt x="181" y="0"/>
                    <a:pt x="404" y="0"/>
                  </a:cubicBezTo>
                </a:path>
              </a:pathLst>
            </a:custGeom>
            <a:solidFill>
              <a:srgbClr val="E1EFFC"/>
            </a:solidFill>
            <a:ln>
              <a:noFill/>
            </a:ln>
          </p:spPr>
          <p:txBody>
            <a:bodyPr vert="horz" wrap="square" lIns="68598" tIns="34299" rIns="68598" bIns="34299" numCol="1" anchor="t" anchorCtr="0" compatLnSpc="1">
              <a:prstTxWarp prst="textNoShape">
                <a:avLst/>
              </a:prstTxWarp>
            </a:bodyPr>
            <a:ls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pPr marL="0" marR="0" lvl="0" indent="0" algn="l" defTabSz="1218987" rtl="0" eaLnBrk="1" fontAlgn="base" latinLnBrk="0" hangingPunct="1">
                <a:lnSpc>
                  <a:spcPct val="100000"/>
                </a:lnSpc>
                <a:spcBef>
                  <a:spcPct val="0"/>
                </a:spcBef>
                <a:spcAft>
                  <a:spcPct val="0"/>
                </a:spcAft>
                <a:buClrTx/>
                <a:buSzTx/>
                <a:buFontTx/>
                <a:buNone/>
                <a:tabLst/>
                <a:defRPr/>
              </a:pPr>
              <a:endParaRPr kumimoji="0" lang="en-IN" sz="1800" b="0" i="0" u="none" strike="noStrike" kern="1200" cap="none" spc="0" normalizeH="0" baseline="0" noProof="0" dirty="0">
                <a:ln>
                  <a:noFill/>
                </a:ln>
                <a:solidFill>
                  <a:srgbClr val="002277"/>
                </a:solidFill>
                <a:effectLst/>
                <a:uLnTx/>
                <a:uFillTx/>
                <a:latin typeface="Calibri Light"/>
                <a:ea typeface="+mn-ea"/>
                <a:cs typeface="+mn-cs"/>
              </a:endParaRPr>
            </a:p>
          </p:txBody>
        </p:sp>
        <p:sp>
          <p:nvSpPr>
            <p:cNvPr id="33" name="Freeform 60">
              <a:extLst>
                <a:ext uri="{FF2B5EF4-FFF2-40B4-BE49-F238E27FC236}">
                  <a16:creationId xmlns:a16="http://schemas.microsoft.com/office/drawing/2014/main" id="{8B4DBD94-C104-428F-9B7B-138E35D69B83}"/>
                </a:ext>
              </a:extLst>
            </p:cNvPr>
            <p:cNvSpPr>
              <a:spLocks/>
            </p:cNvSpPr>
            <p:nvPr/>
          </p:nvSpPr>
          <p:spPr bwMode="auto">
            <a:xfrm>
              <a:off x="8065292" y="2314575"/>
              <a:ext cx="468313" cy="630238"/>
            </a:xfrm>
            <a:custGeom>
              <a:avLst/>
              <a:gdLst>
                <a:gd name="T0" fmla="*/ 527 w 619"/>
                <a:gd name="T1" fmla="*/ 0 h 834"/>
                <a:gd name="T2" fmla="*/ 93 w 619"/>
                <a:gd name="T3" fmla="*/ 0 h 834"/>
                <a:gd name="T4" fmla="*/ 0 w 619"/>
                <a:gd name="T5" fmla="*/ 93 h 834"/>
                <a:gd name="T6" fmla="*/ 0 w 619"/>
                <a:gd name="T7" fmla="*/ 527 h 834"/>
                <a:gd name="T8" fmla="*/ 93 w 619"/>
                <a:gd name="T9" fmla="*/ 620 h 834"/>
                <a:gd name="T10" fmla="*/ 282 w 619"/>
                <a:gd name="T11" fmla="*/ 620 h 834"/>
                <a:gd name="T12" fmla="*/ 237 w 619"/>
                <a:gd name="T13" fmla="*/ 834 h 834"/>
                <a:gd name="T14" fmla="*/ 374 w 619"/>
                <a:gd name="T15" fmla="*/ 620 h 834"/>
                <a:gd name="T16" fmla="*/ 527 w 619"/>
                <a:gd name="T17" fmla="*/ 620 h 834"/>
                <a:gd name="T18" fmla="*/ 619 w 619"/>
                <a:gd name="T19" fmla="*/ 527 h 834"/>
                <a:gd name="T20" fmla="*/ 619 w 619"/>
                <a:gd name="T21" fmla="*/ 93 h 834"/>
                <a:gd name="T22" fmla="*/ 527 w 619"/>
                <a:gd name="T23" fmla="*/ 0 h 8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19" h="834">
                  <a:moveTo>
                    <a:pt x="527" y="0"/>
                  </a:moveTo>
                  <a:cubicBezTo>
                    <a:pt x="93" y="0"/>
                    <a:pt x="93" y="0"/>
                    <a:pt x="93" y="0"/>
                  </a:cubicBezTo>
                  <a:cubicBezTo>
                    <a:pt x="42" y="0"/>
                    <a:pt x="0" y="42"/>
                    <a:pt x="0" y="93"/>
                  </a:cubicBezTo>
                  <a:cubicBezTo>
                    <a:pt x="0" y="527"/>
                    <a:pt x="0" y="527"/>
                    <a:pt x="0" y="527"/>
                  </a:cubicBezTo>
                  <a:cubicBezTo>
                    <a:pt x="0" y="578"/>
                    <a:pt x="42" y="620"/>
                    <a:pt x="93" y="620"/>
                  </a:cubicBezTo>
                  <a:cubicBezTo>
                    <a:pt x="282" y="620"/>
                    <a:pt x="282" y="620"/>
                    <a:pt x="282" y="620"/>
                  </a:cubicBezTo>
                  <a:cubicBezTo>
                    <a:pt x="284" y="690"/>
                    <a:pt x="270" y="768"/>
                    <a:pt x="237" y="834"/>
                  </a:cubicBezTo>
                  <a:cubicBezTo>
                    <a:pt x="306" y="760"/>
                    <a:pt x="349" y="696"/>
                    <a:pt x="374" y="620"/>
                  </a:cubicBezTo>
                  <a:cubicBezTo>
                    <a:pt x="527" y="620"/>
                    <a:pt x="527" y="620"/>
                    <a:pt x="527" y="620"/>
                  </a:cubicBezTo>
                  <a:cubicBezTo>
                    <a:pt x="578" y="620"/>
                    <a:pt x="619" y="578"/>
                    <a:pt x="619" y="527"/>
                  </a:cubicBezTo>
                  <a:cubicBezTo>
                    <a:pt x="619" y="93"/>
                    <a:pt x="619" y="93"/>
                    <a:pt x="619" y="93"/>
                  </a:cubicBezTo>
                  <a:cubicBezTo>
                    <a:pt x="619" y="42"/>
                    <a:pt x="578" y="0"/>
                    <a:pt x="527" y="0"/>
                  </a:cubicBezTo>
                </a:path>
              </a:pathLst>
            </a:custGeom>
            <a:solidFill>
              <a:srgbClr val="E1EFFC"/>
            </a:solidFill>
            <a:ln>
              <a:noFill/>
            </a:ln>
          </p:spPr>
          <p:txBody>
            <a:bodyPr vert="horz" wrap="square" lIns="68598" tIns="34299" rIns="68598" bIns="34299" numCol="1" anchor="t" anchorCtr="0" compatLnSpc="1">
              <a:prstTxWarp prst="textNoShape">
                <a:avLst/>
              </a:prstTxWarp>
            </a:bodyPr>
            <a:ls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pPr marL="0" marR="0" lvl="0" indent="0" algn="l" defTabSz="1218987" rtl="0" eaLnBrk="1" fontAlgn="base" latinLnBrk="0" hangingPunct="1">
                <a:lnSpc>
                  <a:spcPct val="100000"/>
                </a:lnSpc>
                <a:spcBef>
                  <a:spcPct val="0"/>
                </a:spcBef>
                <a:spcAft>
                  <a:spcPct val="0"/>
                </a:spcAft>
                <a:buClrTx/>
                <a:buSzTx/>
                <a:buFontTx/>
                <a:buNone/>
                <a:tabLst/>
                <a:defRPr/>
              </a:pPr>
              <a:endParaRPr kumimoji="0" lang="en-IN" sz="1800" b="0" i="0" u="none" strike="noStrike" kern="1200" cap="none" spc="0" normalizeH="0" baseline="0" noProof="0" dirty="0">
                <a:ln>
                  <a:noFill/>
                </a:ln>
                <a:solidFill>
                  <a:srgbClr val="002277"/>
                </a:solidFill>
                <a:effectLst/>
                <a:uLnTx/>
                <a:uFillTx/>
                <a:latin typeface="Calibri Light"/>
                <a:ea typeface="+mn-ea"/>
                <a:cs typeface="+mn-cs"/>
              </a:endParaRPr>
            </a:p>
          </p:txBody>
        </p:sp>
        <p:sp>
          <p:nvSpPr>
            <p:cNvPr id="34" name="Freeform 61">
              <a:extLst>
                <a:ext uri="{FF2B5EF4-FFF2-40B4-BE49-F238E27FC236}">
                  <a16:creationId xmlns:a16="http://schemas.microsoft.com/office/drawing/2014/main" id="{606B3442-3B61-4F6E-8480-82C4BF746D75}"/>
                </a:ext>
              </a:extLst>
            </p:cNvPr>
            <p:cNvSpPr>
              <a:spLocks/>
            </p:cNvSpPr>
            <p:nvPr/>
          </p:nvSpPr>
          <p:spPr bwMode="auto">
            <a:xfrm>
              <a:off x="4082255" y="1844675"/>
              <a:ext cx="468313" cy="630238"/>
            </a:xfrm>
            <a:custGeom>
              <a:avLst/>
              <a:gdLst>
                <a:gd name="T0" fmla="*/ 93 w 620"/>
                <a:gd name="T1" fmla="*/ 0 h 834"/>
                <a:gd name="T2" fmla="*/ 527 w 620"/>
                <a:gd name="T3" fmla="*/ 0 h 834"/>
                <a:gd name="T4" fmla="*/ 620 w 620"/>
                <a:gd name="T5" fmla="*/ 93 h 834"/>
                <a:gd name="T6" fmla="*/ 620 w 620"/>
                <a:gd name="T7" fmla="*/ 527 h 834"/>
                <a:gd name="T8" fmla="*/ 527 w 620"/>
                <a:gd name="T9" fmla="*/ 620 h 834"/>
                <a:gd name="T10" fmla="*/ 338 w 620"/>
                <a:gd name="T11" fmla="*/ 620 h 834"/>
                <a:gd name="T12" fmla="*/ 383 w 620"/>
                <a:gd name="T13" fmla="*/ 834 h 834"/>
                <a:gd name="T14" fmla="*/ 246 w 620"/>
                <a:gd name="T15" fmla="*/ 620 h 834"/>
                <a:gd name="T16" fmla="*/ 93 w 620"/>
                <a:gd name="T17" fmla="*/ 620 h 834"/>
                <a:gd name="T18" fmla="*/ 0 w 620"/>
                <a:gd name="T19" fmla="*/ 527 h 834"/>
                <a:gd name="T20" fmla="*/ 0 w 620"/>
                <a:gd name="T21" fmla="*/ 93 h 834"/>
                <a:gd name="T22" fmla="*/ 93 w 620"/>
                <a:gd name="T23" fmla="*/ 0 h 8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20" h="834">
                  <a:moveTo>
                    <a:pt x="93" y="0"/>
                  </a:moveTo>
                  <a:cubicBezTo>
                    <a:pt x="527" y="0"/>
                    <a:pt x="527" y="0"/>
                    <a:pt x="527" y="0"/>
                  </a:cubicBezTo>
                  <a:cubicBezTo>
                    <a:pt x="578" y="0"/>
                    <a:pt x="620" y="42"/>
                    <a:pt x="620" y="93"/>
                  </a:cubicBezTo>
                  <a:cubicBezTo>
                    <a:pt x="620" y="527"/>
                    <a:pt x="620" y="527"/>
                    <a:pt x="620" y="527"/>
                  </a:cubicBezTo>
                  <a:cubicBezTo>
                    <a:pt x="620" y="578"/>
                    <a:pt x="578" y="620"/>
                    <a:pt x="527" y="620"/>
                  </a:cubicBezTo>
                  <a:cubicBezTo>
                    <a:pt x="338" y="620"/>
                    <a:pt x="338" y="620"/>
                    <a:pt x="338" y="620"/>
                  </a:cubicBezTo>
                  <a:cubicBezTo>
                    <a:pt x="336" y="689"/>
                    <a:pt x="350" y="768"/>
                    <a:pt x="383" y="834"/>
                  </a:cubicBezTo>
                  <a:cubicBezTo>
                    <a:pt x="314" y="760"/>
                    <a:pt x="271" y="696"/>
                    <a:pt x="246" y="620"/>
                  </a:cubicBezTo>
                  <a:cubicBezTo>
                    <a:pt x="93" y="620"/>
                    <a:pt x="93" y="620"/>
                    <a:pt x="93" y="620"/>
                  </a:cubicBezTo>
                  <a:cubicBezTo>
                    <a:pt x="42" y="620"/>
                    <a:pt x="0" y="578"/>
                    <a:pt x="0" y="527"/>
                  </a:cubicBezTo>
                  <a:cubicBezTo>
                    <a:pt x="0" y="93"/>
                    <a:pt x="0" y="93"/>
                    <a:pt x="0" y="93"/>
                  </a:cubicBezTo>
                  <a:cubicBezTo>
                    <a:pt x="0" y="42"/>
                    <a:pt x="42" y="0"/>
                    <a:pt x="93" y="0"/>
                  </a:cubicBezTo>
                </a:path>
              </a:pathLst>
            </a:custGeom>
            <a:solidFill>
              <a:srgbClr val="E1EFFC"/>
            </a:solidFill>
            <a:ln>
              <a:noFill/>
            </a:ln>
          </p:spPr>
          <p:txBody>
            <a:bodyPr vert="horz" wrap="square" lIns="68598" tIns="34299" rIns="68598" bIns="34299" numCol="1" anchor="t" anchorCtr="0" compatLnSpc="1">
              <a:prstTxWarp prst="textNoShape">
                <a:avLst/>
              </a:prstTxWarp>
            </a:bodyPr>
            <a:ls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pPr marL="0" marR="0" lvl="0" indent="0" algn="l" defTabSz="1218987" rtl="0" eaLnBrk="1" fontAlgn="base" latinLnBrk="0" hangingPunct="1">
                <a:lnSpc>
                  <a:spcPct val="100000"/>
                </a:lnSpc>
                <a:spcBef>
                  <a:spcPct val="0"/>
                </a:spcBef>
                <a:spcAft>
                  <a:spcPct val="0"/>
                </a:spcAft>
                <a:buClrTx/>
                <a:buSzTx/>
                <a:buFontTx/>
                <a:buNone/>
                <a:tabLst/>
                <a:defRPr/>
              </a:pPr>
              <a:endParaRPr kumimoji="0" lang="en-IN" sz="1800" b="0" i="0" u="none" strike="noStrike" kern="1200" cap="none" spc="0" normalizeH="0" baseline="0" noProof="0" dirty="0">
                <a:ln>
                  <a:noFill/>
                </a:ln>
                <a:solidFill>
                  <a:srgbClr val="002277"/>
                </a:solidFill>
                <a:effectLst/>
                <a:uLnTx/>
                <a:uFillTx/>
                <a:latin typeface="Calibri Light"/>
                <a:ea typeface="+mn-ea"/>
                <a:cs typeface="+mn-cs"/>
              </a:endParaRPr>
            </a:p>
          </p:txBody>
        </p:sp>
        <p:sp>
          <p:nvSpPr>
            <p:cNvPr id="35" name="Freeform 62">
              <a:extLst>
                <a:ext uri="{FF2B5EF4-FFF2-40B4-BE49-F238E27FC236}">
                  <a16:creationId xmlns:a16="http://schemas.microsoft.com/office/drawing/2014/main" id="{616BB119-E3CE-4249-83A2-F0C493B2E4ED}"/>
                </a:ext>
              </a:extLst>
            </p:cNvPr>
            <p:cNvSpPr>
              <a:spLocks/>
            </p:cNvSpPr>
            <p:nvPr/>
          </p:nvSpPr>
          <p:spPr bwMode="auto">
            <a:xfrm>
              <a:off x="7319961" y="1770984"/>
              <a:ext cx="473075" cy="468313"/>
            </a:xfrm>
            <a:custGeom>
              <a:avLst/>
              <a:gdLst>
                <a:gd name="T0" fmla="*/ 313 w 626"/>
                <a:gd name="T1" fmla="*/ 0 h 619"/>
                <a:gd name="T2" fmla="*/ 0 w 626"/>
                <a:gd name="T3" fmla="*/ 220 h 619"/>
                <a:gd name="T4" fmla="*/ 313 w 626"/>
                <a:gd name="T5" fmla="*/ 439 h 619"/>
                <a:gd name="T6" fmla="*/ 320 w 626"/>
                <a:gd name="T7" fmla="*/ 439 h 619"/>
                <a:gd name="T8" fmla="*/ 288 w 626"/>
                <a:gd name="T9" fmla="*/ 619 h 619"/>
                <a:gd name="T10" fmla="*/ 397 w 626"/>
                <a:gd name="T11" fmla="*/ 431 h 619"/>
                <a:gd name="T12" fmla="*/ 402 w 626"/>
                <a:gd name="T13" fmla="*/ 430 h 619"/>
                <a:gd name="T14" fmla="*/ 574 w 626"/>
                <a:gd name="T15" fmla="*/ 341 h 619"/>
                <a:gd name="T16" fmla="*/ 626 w 626"/>
                <a:gd name="T17" fmla="*/ 220 h 619"/>
                <a:gd name="T18" fmla="*/ 313 w 626"/>
                <a:gd name="T19" fmla="*/ 0 h 6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6" h="619">
                  <a:moveTo>
                    <a:pt x="313" y="0"/>
                  </a:moveTo>
                  <a:cubicBezTo>
                    <a:pt x="140" y="0"/>
                    <a:pt x="0" y="99"/>
                    <a:pt x="0" y="220"/>
                  </a:cubicBezTo>
                  <a:cubicBezTo>
                    <a:pt x="0" y="341"/>
                    <a:pt x="140" y="439"/>
                    <a:pt x="313" y="439"/>
                  </a:cubicBezTo>
                  <a:cubicBezTo>
                    <a:pt x="315" y="439"/>
                    <a:pt x="318" y="439"/>
                    <a:pt x="320" y="439"/>
                  </a:cubicBezTo>
                  <a:cubicBezTo>
                    <a:pt x="325" y="495"/>
                    <a:pt x="316" y="563"/>
                    <a:pt x="288" y="619"/>
                  </a:cubicBezTo>
                  <a:cubicBezTo>
                    <a:pt x="348" y="555"/>
                    <a:pt x="381" y="502"/>
                    <a:pt x="397" y="431"/>
                  </a:cubicBezTo>
                  <a:cubicBezTo>
                    <a:pt x="399" y="431"/>
                    <a:pt x="401" y="431"/>
                    <a:pt x="402" y="430"/>
                  </a:cubicBezTo>
                  <a:cubicBezTo>
                    <a:pt x="465" y="417"/>
                    <a:pt x="529" y="388"/>
                    <a:pt x="574" y="341"/>
                  </a:cubicBezTo>
                  <a:cubicBezTo>
                    <a:pt x="606" y="308"/>
                    <a:pt x="626" y="266"/>
                    <a:pt x="626" y="220"/>
                  </a:cubicBezTo>
                  <a:cubicBezTo>
                    <a:pt x="626" y="99"/>
                    <a:pt x="486" y="0"/>
                    <a:pt x="313" y="0"/>
                  </a:cubicBezTo>
                </a:path>
              </a:pathLst>
            </a:custGeom>
            <a:solidFill>
              <a:schemeClr val="accent1">
                <a:lumMod val="50000"/>
              </a:schemeClr>
            </a:solidFill>
            <a:ln>
              <a:noFill/>
            </a:ln>
          </p:spPr>
          <p:txBody>
            <a:bodyPr vert="horz" wrap="square" lIns="68598" tIns="34299" rIns="68598" bIns="34299" numCol="1" anchor="t" anchorCtr="0" compatLnSpc="1">
              <a:prstTxWarp prst="textNoShape">
                <a:avLst/>
              </a:prstTxWarp>
            </a:bodyPr>
            <a:ls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pPr marL="0" marR="0" lvl="0" indent="0" algn="l" defTabSz="1218987" rtl="0" eaLnBrk="1" fontAlgn="base" latinLnBrk="0" hangingPunct="1">
                <a:lnSpc>
                  <a:spcPct val="100000"/>
                </a:lnSpc>
                <a:spcBef>
                  <a:spcPct val="0"/>
                </a:spcBef>
                <a:spcAft>
                  <a:spcPct val="0"/>
                </a:spcAft>
                <a:buClrTx/>
                <a:buSzTx/>
                <a:buFontTx/>
                <a:buNone/>
                <a:tabLst/>
                <a:defRPr/>
              </a:pPr>
              <a:endParaRPr kumimoji="0" lang="en-IN" sz="1800" b="0" i="0" u="none" strike="noStrike" kern="1200" cap="none" spc="0" normalizeH="0" baseline="0" noProof="0" dirty="0">
                <a:ln>
                  <a:noFill/>
                </a:ln>
                <a:solidFill>
                  <a:srgbClr val="002277"/>
                </a:solidFill>
                <a:effectLst/>
                <a:uLnTx/>
                <a:uFillTx/>
                <a:latin typeface="Calibri Light"/>
                <a:ea typeface="+mn-ea"/>
                <a:cs typeface="+mn-cs"/>
              </a:endParaRPr>
            </a:p>
          </p:txBody>
        </p:sp>
        <p:sp>
          <p:nvSpPr>
            <p:cNvPr id="36" name="Freeform 64">
              <a:extLst>
                <a:ext uri="{FF2B5EF4-FFF2-40B4-BE49-F238E27FC236}">
                  <a16:creationId xmlns:a16="http://schemas.microsoft.com/office/drawing/2014/main" id="{32E43D83-2475-4CBE-9B69-A7CD1630EBBC}"/>
                </a:ext>
              </a:extLst>
            </p:cNvPr>
            <p:cNvSpPr>
              <a:spLocks/>
            </p:cNvSpPr>
            <p:nvPr/>
          </p:nvSpPr>
          <p:spPr bwMode="auto">
            <a:xfrm>
              <a:off x="7266780" y="4203700"/>
              <a:ext cx="571500" cy="565150"/>
            </a:xfrm>
            <a:custGeom>
              <a:avLst/>
              <a:gdLst>
                <a:gd name="T0" fmla="*/ 378 w 756"/>
                <a:gd name="T1" fmla="*/ 0 h 747"/>
                <a:gd name="T2" fmla="*/ 0 w 756"/>
                <a:gd name="T3" fmla="*/ 265 h 747"/>
                <a:gd name="T4" fmla="*/ 378 w 756"/>
                <a:gd name="T5" fmla="*/ 530 h 747"/>
                <a:gd name="T6" fmla="*/ 387 w 756"/>
                <a:gd name="T7" fmla="*/ 530 h 747"/>
                <a:gd name="T8" fmla="*/ 348 w 756"/>
                <a:gd name="T9" fmla="*/ 747 h 747"/>
                <a:gd name="T10" fmla="*/ 479 w 756"/>
                <a:gd name="T11" fmla="*/ 521 h 747"/>
                <a:gd name="T12" fmla="*/ 486 w 756"/>
                <a:gd name="T13" fmla="*/ 520 h 747"/>
                <a:gd name="T14" fmla="*/ 693 w 756"/>
                <a:gd name="T15" fmla="*/ 412 h 747"/>
                <a:gd name="T16" fmla="*/ 756 w 756"/>
                <a:gd name="T17" fmla="*/ 265 h 747"/>
                <a:gd name="T18" fmla="*/ 378 w 756"/>
                <a:gd name="T19" fmla="*/ 0 h 7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56" h="747">
                  <a:moveTo>
                    <a:pt x="378" y="0"/>
                  </a:moveTo>
                  <a:cubicBezTo>
                    <a:pt x="169" y="0"/>
                    <a:pt x="0" y="119"/>
                    <a:pt x="0" y="265"/>
                  </a:cubicBezTo>
                  <a:cubicBezTo>
                    <a:pt x="0" y="412"/>
                    <a:pt x="169" y="530"/>
                    <a:pt x="378" y="530"/>
                  </a:cubicBezTo>
                  <a:cubicBezTo>
                    <a:pt x="381" y="530"/>
                    <a:pt x="384" y="530"/>
                    <a:pt x="387" y="530"/>
                  </a:cubicBezTo>
                  <a:cubicBezTo>
                    <a:pt x="393" y="598"/>
                    <a:pt x="381" y="680"/>
                    <a:pt x="348" y="747"/>
                  </a:cubicBezTo>
                  <a:cubicBezTo>
                    <a:pt x="420" y="670"/>
                    <a:pt x="460" y="606"/>
                    <a:pt x="479" y="521"/>
                  </a:cubicBezTo>
                  <a:cubicBezTo>
                    <a:pt x="481" y="520"/>
                    <a:pt x="484" y="520"/>
                    <a:pt x="486" y="520"/>
                  </a:cubicBezTo>
                  <a:cubicBezTo>
                    <a:pt x="562" y="504"/>
                    <a:pt x="639" y="469"/>
                    <a:pt x="693" y="412"/>
                  </a:cubicBezTo>
                  <a:cubicBezTo>
                    <a:pt x="731" y="372"/>
                    <a:pt x="756" y="321"/>
                    <a:pt x="756" y="265"/>
                  </a:cubicBezTo>
                  <a:cubicBezTo>
                    <a:pt x="756" y="119"/>
                    <a:pt x="587" y="0"/>
                    <a:pt x="378" y="0"/>
                  </a:cubicBezTo>
                </a:path>
              </a:pathLst>
            </a:custGeom>
            <a:solidFill>
              <a:srgbClr val="E1EFFC"/>
            </a:solidFill>
            <a:ln>
              <a:noFill/>
            </a:ln>
          </p:spPr>
          <p:txBody>
            <a:bodyPr vert="horz" wrap="square" lIns="68598" tIns="34299" rIns="68598" bIns="34299" numCol="1" anchor="t" anchorCtr="0" compatLnSpc="1">
              <a:prstTxWarp prst="textNoShape">
                <a:avLst/>
              </a:prstTxWarp>
            </a:bodyPr>
            <a:ls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pPr marL="0" marR="0" lvl="0" indent="0" algn="l" defTabSz="1218987" rtl="0" eaLnBrk="1" fontAlgn="base" latinLnBrk="0" hangingPunct="1">
                <a:lnSpc>
                  <a:spcPct val="100000"/>
                </a:lnSpc>
                <a:spcBef>
                  <a:spcPct val="0"/>
                </a:spcBef>
                <a:spcAft>
                  <a:spcPct val="0"/>
                </a:spcAft>
                <a:buClrTx/>
                <a:buSzTx/>
                <a:buFontTx/>
                <a:buNone/>
                <a:tabLst/>
                <a:defRPr/>
              </a:pPr>
              <a:endParaRPr kumimoji="0" lang="en-IN" sz="1800" b="0" i="0" u="none" strike="noStrike" kern="1200" cap="none" spc="0" normalizeH="0" baseline="0" noProof="0" dirty="0">
                <a:ln>
                  <a:noFill/>
                </a:ln>
                <a:solidFill>
                  <a:srgbClr val="002277"/>
                </a:solidFill>
                <a:effectLst/>
                <a:uLnTx/>
                <a:uFillTx/>
                <a:latin typeface="Calibri Light"/>
                <a:ea typeface="+mn-ea"/>
                <a:cs typeface="+mn-cs"/>
              </a:endParaRPr>
            </a:p>
          </p:txBody>
        </p:sp>
        <p:sp>
          <p:nvSpPr>
            <p:cNvPr id="37" name="Freeform 65">
              <a:extLst>
                <a:ext uri="{FF2B5EF4-FFF2-40B4-BE49-F238E27FC236}">
                  <a16:creationId xmlns:a16="http://schemas.microsoft.com/office/drawing/2014/main" id="{3490D0E9-C2BB-4D03-ADB9-3D20683B08E6}"/>
                </a:ext>
              </a:extLst>
            </p:cNvPr>
            <p:cNvSpPr>
              <a:spLocks/>
            </p:cNvSpPr>
            <p:nvPr/>
          </p:nvSpPr>
          <p:spPr bwMode="auto">
            <a:xfrm>
              <a:off x="4677567" y="4059238"/>
              <a:ext cx="627063" cy="842963"/>
            </a:xfrm>
            <a:custGeom>
              <a:avLst/>
              <a:gdLst>
                <a:gd name="T0" fmla="*/ 125 w 830"/>
                <a:gd name="T1" fmla="*/ 0 h 1116"/>
                <a:gd name="T2" fmla="*/ 705 w 830"/>
                <a:gd name="T3" fmla="*/ 0 h 1116"/>
                <a:gd name="T4" fmla="*/ 830 w 830"/>
                <a:gd name="T5" fmla="*/ 124 h 1116"/>
                <a:gd name="T6" fmla="*/ 830 w 830"/>
                <a:gd name="T7" fmla="*/ 705 h 1116"/>
                <a:gd name="T8" fmla="*/ 705 w 830"/>
                <a:gd name="T9" fmla="*/ 829 h 1116"/>
                <a:gd name="T10" fmla="*/ 452 w 830"/>
                <a:gd name="T11" fmla="*/ 829 h 1116"/>
                <a:gd name="T12" fmla="*/ 512 w 830"/>
                <a:gd name="T13" fmla="*/ 1116 h 1116"/>
                <a:gd name="T14" fmla="*/ 329 w 830"/>
                <a:gd name="T15" fmla="*/ 829 h 1116"/>
                <a:gd name="T16" fmla="*/ 125 w 830"/>
                <a:gd name="T17" fmla="*/ 829 h 1116"/>
                <a:gd name="T18" fmla="*/ 0 w 830"/>
                <a:gd name="T19" fmla="*/ 705 h 1116"/>
                <a:gd name="T20" fmla="*/ 0 w 830"/>
                <a:gd name="T21" fmla="*/ 124 h 1116"/>
                <a:gd name="T22" fmla="*/ 125 w 830"/>
                <a:gd name="T23" fmla="*/ 0 h 1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30" h="1116">
                  <a:moveTo>
                    <a:pt x="125" y="0"/>
                  </a:moveTo>
                  <a:cubicBezTo>
                    <a:pt x="705" y="0"/>
                    <a:pt x="705" y="0"/>
                    <a:pt x="705" y="0"/>
                  </a:cubicBezTo>
                  <a:cubicBezTo>
                    <a:pt x="774" y="0"/>
                    <a:pt x="830" y="56"/>
                    <a:pt x="830" y="124"/>
                  </a:cubicBezTo>
                  <a:cubicBezTo>
                    <a:pt x="830" y="705"/>
                    <a:pt x="830" y="705"/>
                    <a:pt x="830" y="705"/>
                  </a:cubicBezTo>
                  <a:cubicBezTo>
                    <a:pt x="830" y="773"/>
                    <a:pt x="774" y="829"/>
                    <a:pt x="705" y="829"/>
                  </a:cubicBezTo>
                  <a:cubicBezTo>
                    <a:pt x="452" y="829"/>
                    <a:pt x="452" y="829"/>
                    <a:pt x="452" y="829"/>
                  </a:cubicBezTo>
                  <a:cubicBezTo>
                    <a:pt x="449" y="923"/>
                    <a:pt x="468" y="1028"/>
                    <a:pt x="512" y="1116"/>
                  </a:cubicBezTo>
                  <a:cubicBezTo>
                    <a:pt x="420" y="1017"/>
                    <a:pt x="362" y="932"/>
                    <a:pt x="329" y="829"/>
                  </a:cubicBezTo>
                  <a:cubicBezTo>
                    <a:pt x="125" y="829"/>
                    <a:pt x="125" y="829"/>
                    <a:pt x="125" y="829"/>
                  </a:cubicBezTo>
                  <a:cubicBezTo>
                    <a:pt x="56" y="829"/>
                    <a:pt x="0" y="773"/>
                    <a:pt x="0" y="705"/>
                  </a:cubicBezTo>
                  <a:cubicBezTo>
                    <a:pt x="0" y="124"/>
                    <a:pt x="0" y="124"/>
                    <a:pt x="0" y="124"/>
                  </a:cubicBezTo>
                  <a:cubicBezTo>
                    <a:pt x="0" y="56"/>
                    <a:pt x="56" y="0"/>
                    <a:pt x="125" y="0"/>
                  </a:cubicBezTo>
                </a:path>
              </a:pathLst>
            </a:custGeom>
            <a:solidFill>
              <a:schemeClr val="bg1">
                <a:lumMod val="85000"/>
                <a:lumOff val="15000"/>
              </a:schemeClr>
            </a:solidFill>
            <a:ln>
              <a:noFill/>
            </a:ln>
          </p:spPr>
          <p:txBody>
            <a:bodyPr vert="horz" wrap="square" lIns="68598" tIns="34299" rIns="68598" bIns="34299" numCol="1" anchor="t" anchorCtr="0" compatLnSpc="1">
              <a:prstTxWarp prst="textNoShape">
                <a:avLst/>
              </a:prstTxWarp>
            </a:bodyPr>
            <a:ls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pPr marL="0" marR="0" lvl="0" indent="0" algn="l" defTabSz="1218987" rtl="0" eaLnBrk="1" fontAlgn="base" latinLnBrk="0" hangingPunct="1">
                <a:lnSpc>
                  <a:spcPct val="100000"/>
                </a:lnSpc>
                <a:spcBef>
                  <a:spcPct val="0"/>
                </a:spcBef>
                <a:spcAft>
                  <a:spcPct val="0"/>
                </a:spcAft>
                <a:buClrTx/>
                <a:buSzTx/>
                <a:buFontTx/>
                <a:buNone/>
                <a:tabLst/>
                <a:defRPr/>
              </a:pPr>
              <a:endParaRPr kumimoji="0" lang="en-IN" sz="1800" b="0" i="0" u="none" strike="noStrike" kern="1200" cap="none" spc="0" normalizeH="0" baseline="0" noProof="0" dirty="0">
                <a:ln>
                  <a:noFill/>
                </a:ln>
                <a:solidFill>
                  <a:srgbClr val="002277"/>
                </a:solidFill>
                <a:effectLst/>
                <a:uLnTx/>
                <a:uFillTx/>
                <a:latin typeface="Calibri Light"/>
                <a:ea typeface="+mn-ea"/>
                <a:cs typeface="+mn-cs"/>
              </a:endParaRPr>
            </a:p>
          </p:txBody>
        </p:sp>
        <p:sp>
          <p:nvSpPr>
            <p:cNvPr id="38" name="Freeform 66">
              <a:extLst>
                <a:ext uri="{FF2B5EF4-FFF2-40B4-BE49-F238E27FC236}">
                  <a16:creationId xmlns:a16="http://schemas.microsoft.com/office/drawing/2014/main" id="{7AD46556-472B-4196-9B91-51B0AD69C95A}"/>
                </a:ext>
              </a:extLst>
            </p:cNvPr>
            <p:cNvSpPr>
              <a:spLocks/>
            </p:cNvSpPr>
            <p:nvPr/>
          </p:nvSpPr>
          <p:spPr bwMode="auto">
            <a:xfrm>
              <a:off x="4293392" y="4181475"/>
              <a:ext cx="550863" cy="544513"/>
            </a:xfrm>
            <a:custGeom>
              <a:avLst/>
              <a:gdLst>
                <a:gd name="T0" fmla="*/ 364 w 728"/>
                <a:gd name="T1" fmla="*/ 0 h 720"/>
                <a:gd name="T2" fmla="*/ 0 w 728"/>
                <a:gd name="T3" fmla="*/ 256 h 720"/>
                <a:gd name="T4" fmla="*/ 364 w 728"/>
                <a:gd name="T5" fmla="*/ 511 h 720"/>
                <a:gd name="T6" fmla="*/ 372 w 728"/>
                <a:gd name="T7" fmla="*/ 511 h 720"/>
                <a:gd name="T8" fmla="*/ 335 w 728"/>
                <a:gd name="T9" fmla="*/ 720 h 720"/>
                <a:gd name="T10" fmla="*/ 462 w 728"/>
                <a:gd name="T11" fmla="*/ 502 h 720"/>
                <a:gd name="T12" fmla="*/ 468 w 728"/>
                <a:gd name="T13" fmla="*/ 501 h 720"/>
                <a:gd name="T14" fmla="*/ 668 w 728"/>
                <a:gd name="T15" fmla="*/ 397 h 720"/>
                <a:gd name="T16" fmla="*/ 728 w 728"/>
                <a:gd name="T17" fmla="*/ 256 h 720"/>
                <a:gd name="T18" fmla="*/ 364 w 728"/>
                <a:gd name="T19" fmla="*/ 0 h 7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8" h="720">
                  <a:moveTo>
                    <a:pt x="364" y="0"/>
                  </a:moveTo>
                  <a:cubicBezTo>
                    <a:pt x="163" y="0"/>
                    <a:pt x="0" y="115"/>
                    <a:pt x="0" y="256"/>
                  </a:cubicBezTo>
                  <a:cubicBezTo>
                    <a:pt x="0" y="397"/>
                    <a:pt x="163" y="511"/>
                    <a:pt x="364" y="511"/>
                  </a:cubicBezTo>
                  <a:cubicBezTo>
                    <a:pt x="367" y="511"/>
                    <a:pt x="370" y="511"/>
                    <a:pt x="372" y="511"/>
                  </a:cubicBezTo>
                  <a:cubicBezTo>
                    <a:pt x="379" y="576"/>
                    <a:pt x="367" y="655"/>
                    <a:pt x="335" y="720"/>
                  </a:cubicBezTo>
                  <a:cubicBezTo>
                    <a:pt x="404" y="646"/>
                    <a:pt x="443" y="584"/>
                    <a:pt x="462" y="502"/>
                  </a:cubicBezTo>
                  <a:cubicBezTo>
                    <a:pt x="464" y="502"/>
                    <a:pt x="466" y="501"/>
                    <a:pt x="468" y="501"/>
                  </a:cubicBezTo>
                  <a:cubicBezTo>
                    <a:pt x="541" y="486"/>
                    <a:pt x="616" y="452"/>
                    <a:pt x="668" y="397"/>
                  </a:cubicBezTo>
                  <a:cubicBezTo>
                    <a:pt x="705" y="358"/>
                    <a:pt x="728" y="310"/>
                    <a:pt x="728" y="256"/>
                  </a:cubicBezTo>
                  <a:cubicBezTo>
                    <a:pt x="728" y="115"/>
                    <a:pt x="565" y="0"/>
                    <a:pt x="364" y="0"/>
                  </a:cubicBezTo>
                </a:path>
              </a:pathLst>
            </a:custGeom>
            <a:solidFill>
              <a:schemeClr val="accent1">
                <a:lumMod val="50000"/>
              </a:schemeClr>
            </a:solidFill>
            <a:ln>
              <a:noFill/>
            </a:ln>
          </p:spPr>
          <p:txBody>
            <a:bodyPr vert="horz" wrap="square" lIns="68598" tIns="34299" rIns="68598" bIns="34299" numCol="1" anchor="t" anchorCtr="0" compatLnSpc="1">
              <a:prstTxWarp prst="textNoShape">
                <a:avLst/>
              </a:prstTxWarp>
            </a:bodyPr>
            <a:ls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pPr marL="0" marR="0" lvl="0" indent="0" algn="l" defTabSz="1218987" rtl="0" eaLnBrk="1" fontAlgn="base" latinLnBrk="0" hangingPunct="1">
                <a:lnSpc>
                  <a:spcPct val="100000"/>
                </a:lnSpc>
                <a:spcBef>
                  <a:spcPct val="0"/>
                </a:spcBef>
                <a:spcAft>
                  <a:spcPct val="0"/>
                </a:spcAft>
                <a:buClrTx/>
                <a:buSzTx/>
                <a:buFontTx/>
                <a:buNone/>
                <a:tabLst/>
                <a:defRPr/>
              </a:pPr>
              <a:endParaRPr kumimoji="0" lang="en-IN" sz="1800" b="0" i="0" u="none" strike="noStrike" kern="1200" cap="none" spc="0" normalizeH="0" baseline="0" noProof="0" dirty="0">
                <a:ln>
                  <a:noFill/>
                </a:ln>
                <a:solidFill>
                  <a:srgbClr val="002277"/>
                </a:solidFill>
                <a:effectLst/>
                <a:uLnTx/>
                <a:uFillTx/>
                <a:latin typeface="Calibri Light"/>
                <a:ea typeface="+mn-ea"/>
                <a:cs typeface="+mn-cs"/>
              </a:endParaRPr>
            </a:p>
          </p:txBody>
        </p:sp>
        <p:sp>
          <p:nvSpPr>
            <p:cNvPr id="39" name="Freeform 67">
              <a:extLst>
                <a:ext uri="{FF2B5EF4-FFF2-40B4-BE49-F238E27FC236}">
                  <a16:creationId xmlns:a16="http://schemas.microsoft.com/office/drawing/2014/main" id="{8E7E6A0A-23A6-4B17-9533-465E7952127C}"/>
                </a:ext>
              </a:extLst>
            </p:cNvPr>
            <p:cNvSpPr>
              <a:spLocks/>
            </p:cNvSpPr>
            <p:nvPr/>
          </p:nvSpPr>
          <p:spPr bwMode="auto">
            <a:xfrm>
              <a:off x="5682455" y="4587875"/>
              <a:ext cx="655638" cy="647700"/>
            </a:xfrm>
            <a:custGeom>
              <a:avLst/>
              <a:gdLst>
                <a:gd name="T0" fmla="*/ 433 w 867"/>
                <a:gd name="T1" fmla="*/ 0 h 856"/>
                <a:gd name="T2" fmla="*/ 0 w 867"/>
                <a:gd name="T3" fmla="*/ 304 h 856"/>
                <a:gd name="T4" fmla="*/ 433 w 867"/>
                <a:gd name="T5" fmla="*/ 608 h 856"/>
                <a:gd name="T6" fmla="*/ 443 w 867"/>
                <a:gd name="T7" fmla="*/ 608 h 856"/>
                <a:gd name="T8" fmla="*/ 399 w 867"/>
                <a:gd name="T9" fmla="*/ 856 h 856"/>
                <a:gd name="T10" fmla="*/ 550 w 867"/>
                <a:gd name="T11" fmla="*/ 597 h 856"/>
                <a:gd name="T12" fmla="*/ 557 w 867"/>
                <a:gd name="T13" fmla="*/ 595 h 856"/>
                <a:gd name="T14" fmla="*/ 795 w 867"/>
                <a:gd name="T15" fmla="*/ 472 h 856"/>
                <a:gd name="T16" fmla="*/ 867 w 867"/>
                <a:gd name="T17" fmla="*/ 304 h 856"/>
                <a:gd name="T18" fmla="*/ 433 w 867"/>
                <a:gd name="T19" fmla="*/ 0 h 8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67" h="856">
                  <a:moveTo>
                    <a:pt x="433" y="0"/>
                  </a:moveTo>
                  <a:cubicBezTo>
                    <a:pt x="194" y="0"/>
                    <a:pt x="0" y="136"/>
                    <a:pt x="0" y="304"/>
                  </a:cubicBezTo>
                  <a:cubicBezTo>
                    <a:pt x="0" y="472"/>
                    <a:pt x="194" y="608"/>
                    <a:pt x="433" y="608"/>
                  </a:cubicBezTo>
                  <a:cubicBezTo>
                    <a:pt x="437" y="608"/>
                    <a:pt x="440" y="608"/>
                    <a:pt x="443" y="608"/>
                  </a:cubicBezTo>
                  <a:cubicBezTo>
                    <a:pt x="451" y="685"/>
                    <a:pt x="437" y="779"/>
                    <a:pt x="399" y="856"/>
                  </a:cubicBezTo>
                  <a:cubicBezTo>
                    <a:pt x="481" y="768"/>
                    <a:pt x="528" y="694"/>
                    <a:pt x="550" y="597"/>
                  </a:cubicBezTo>
                  <a:cubicBezTo>
                    <a:pt x="552" y="596"/>
                    <a:pt x="555" y="596"/>
                    <a:pt x="557" y="595"/>
                  </a:cubicBezTo>
                  <a:cubicBezTo>
                    <a:pt x="644" y="577"/>
                    <a:pt x="733" y="537"/>
                    <a:pt x="795" y="472"/>
                  </a:cubicBezTo>
                  <a:cubicBezTo>
                    <a:pt x="839" y="426"/>
                    <a:pt x="867" y="368"/>
                    <a:pt x="867" y="304"/>
                  </a:cubicBezTo>
                  <a:cubicBezTo>
                    <a:pt x="867" y="136"/>
                    <a:pt x="673" y="0"/>
                    <a:pt x="433" y="0"/>
                  </a:cubicBezTo>
                </a:path>
              </a:pathLst>
            </a:custGeom>
            <a:solidFill>
              <a:schemeClr val="accent1"/>
            </a:solidFill>
            <a:ln>
              <a:noFill/>
            </a:ln>
          </p:spPr>
          <p:txBody>
            <a:bodyPr vert="horz" wrap="square" lIns="68598" tIns="34299" rIns="68598" bIns="34299" numCol="1" anchor="t" anchorCtr="0" compatLnSpc="1">
              <a:prstTxWarp prst="textNoShape">
                <a:avLst/>
              </a:prstTxWarp>
            </a:bodyPr>
            <a:ls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pPr marL="0" marR="0" lvl="0" indent="0" algn="l" defTabSz="1218987" rtl="0" eaLnBrk="1" fontAlgn="base" latinLnBrk="0" hangingPunct="1">
                <a:lnSpc>
                  <a:spcPct val="100000"/>
                </a:lnSpc>
                <a:spcBef>
                  <a:spcPct val="0"/>
                </a:spcBef>
                <a:spcAft>
                  <a:spcPct val="0"/>
                </a:spcAft>
                <a:buClrTx/>
                <a:buSzTx/>
                <a:buFontTx/>
                <a:buNone/>
                <a:tabLst/>
                <a:defRPr/>
              </a:pPr>
              <a:endParaRPr kumimoji="0" lang="en-IN" sz="1800" b="0" i="0" u="none" strike="noStrike" kern="1200" cap="none" spc="0" normalizeH="0" baseline="0" noProof="0" dirty="0">
                <a:ln>
                  <a:noFill/>
                </a:ln>
                <a:solidFill>
                  <a:srgbClr val="002277"/>
                </a:solidFill>
                <a:effectLst/>
                <a:uLnTx/>
                <a:uFillTx/>
                <a:latin typeface="Calibri Light"/>
                <a:ea typeface="+mn-ea"/>
                <a:cs typeface="+mn-cs"/>
              </a:endParaRPr>
            </a:p>
          </p:txBody>
        </p:sp>
        <p:sp>
          <p:nvSpPr>
            <p:cNvPr id="40" name="Freeform 68">
              <a:extLst>
                <a:ext uri="{FF2B5EF4-FFF2-40B4-BE49-F238E27FC236}">
                  <a16:creationId xmlns:a16="http://schemas.microsoft.com/office/drawing/2014/main" id="{5D6270CD-08C2-4A71-B0D2-8E1A4CDFF423}"/>
                </a:ext>
              </a:extLst>
            </p:cNvPr>
            <p:cNvSpPr>
              <a:spLocks/>
            </p:cNvSpPr>
            <p:nvPr/>
          </p:nvSpPr>
          <p:spPr bwMode="auto">
            <a:xfrm>
              <a:off x="5663405" y="3914775"/>
              <a:ext cx="947738" cy="935038"/>
            </a:xfrm>
            <a:custGeom>
              <a:avLst/>
              <a:gdLst>
                <a:gd name="T0" fmla="*/ 627 w 1253"/>
                <a:gd name="T1" fmla="*/ 0 h 1237"/>
                <a:gd name="T2" fmla="*/ 1253 w 1253"/>
                <a:gd name="T3" fmla="*/ 439 h 1237"/>
                <a:gd name="T4" fmla="*/ 627 w 1253"/>
                <a:gd name="T5" fmla="*/ 878 h 1237"/>
                <a:gd name="T6" fmla="*/ 612 w 1253"/>
                <a:gd name="T7" fmla="*/ 878 h 1237"/>
                <a:gd name="T8" fmla="*/ 676 w 1253"/>
                <a:gd name="T9" fmla="*/ 1237 h 1237"/>
                <a:gd name="T10" fmla="*/ 459 w 1253"/>
                <a:gd name="T11" fmla="*/ 862 h 1237"/>
                <a:gd name="T12" fmla="*/ 448 w 1253"/>
                <a:gd name="T13" fmla="*/ 860 h 1237"/>
                <a:gd name="T14" fmla="*/ 104 w 1253"/>
                <a:gd name="T15" fmla="*/ 681 h 1237"/>
                <a:gd name="T16" fmla="*/ 0 w 1253"/>
                <a:gd name="T17" fmla="*/ 439 h 1237"/>
                <a:gd name="T18" fmla="*/ 627 w 1253"/>
                <a:gd name="T19" fmla="*/ 0 h 1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53" h="1237">
                  <a:moveTo>
                    <a:pt x="627" y="0"/>
                  </a:moveTo>
                  <a:cubicBezTo>
                    <a:pt x="972" y="0"/>
                    <a:pt x="1253" y="196"/>
                    <a:pt x="1253" y="439"/>
                  </a:cubicBezTo>
                  <a:cubicBezTo>
                    <a:pt x="1253" y="681"/>
                    <a:pt x="972" y="878"/>
                    <a:pt x="627" y="878"/>
                  </a:cubicBezTo>
                  <a:cubicBezTo>
                    <a:pt x="622" y="878"/>
                    <a:pt x="617" y="878"/>
                    <a:pt x="612" y="878"/>
                  </a:cubicBezTo>
                  <a:cubicBezTo>
                    <a:pt x="602" y="990"/>
                    <a:pt x="621" y="1126"/>
                    <a:pt x="676" y="1237"/>
                  </a:cubicBezTo>
                  <a:cubicBezTo>
                    <a:pt x="558" y="1109"/>
                    <a:pt x="490" y="1002"/>
                    <a:pt x="459" y="862"/>
                  </a:cubicBezTo>
                  <a:cubicBezTo>
                    <a:pt x="455" y="861"/>
                    <a:pt x="451" y="861"/>
                    <a:pt x="448" y="860"/>
                  </a:cubicBezTo>
                  <a:cubicBezTo>
                    <a:pt x="322" y="834"/>
                    <a:pt x="194" y="776"/>
                    <a:pt x="104" y="681"/>
                  </a:cubicBezTo>
                  <a:cubicBezTo>
                    <a:pt x="42" y="615"/>
                    <a:pt x="0" y="532"/>
                    <a:pt x="0" y="439"/>
                  </a:cubicBezTo>
                  <a:cubicBezTo>
                    <a:pt x="0" y="196"/>
                    <a:pt x="281" y="0"/>
                    <a:pt x="627" y="0"/>
                  </a:cubicBezTo>
                </a:path>
              </a:pathLst>
            </a:custGeom>
            <a:solidFill>
              <a:srgbClr val="E1EFFC"/>
            </a:solidFill>
            <a:ln>
              <a:noFill/>
            </a:ln>
          </p:spPr>
          <p:txBody>
            <a:bodyPr vert="horz" wrap="square" lIns="68598" tIns="34299" rIns="68598" bIns="34299" numCol="1" anchor="t" anchorCtr="0" compatLnSpc="1">
              <a:prstTxWarp prst="textNoShape">
                <a:avLst/>
              </a:prstTxWarp>
            </a:bodyPr>
            <a:ls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pPr marL="0" marR="0" lvl="0" indent="0" algn="l" defTabSz="1218987" rtl="0" eaLnBrk="1" fontAlgn="base" latinLnBrk="0" hangingPunct="1">
                <a:lnSpc>
                  <a:spcPct val="100000"/>
                </a:lnSpc>
                <a:spcBef>
                  <a:spcPct val="0"/>
                </a:spcBef>
                <a:spcAft>
                  <a:spcPct val="0"/>
                </a:spcAft>
                <a:buClrTx/>
                <a:buSzTx/>
                <a:buFontTx/>
                <a:buNone/>
                <a:tabLst/>
                <a:defRPr/>
              </a:pPr>
              <a:endParaRPr kumimoji="0" lang="en-IN" sz="1800" b="0" i="0" u="none" strike="noStrike" kern="1200" cap="none" spc="0" normalizeH="0" baseline="0" noProof="0" dirty="0">
                <a:ln>
                  <a:noFill/>
                </a:ln>
                <a:solidFill>
                  <a:srgbClr val="002277"/>
                </a:solidFill>
                <a:effectLst/>
                <a:uLnTx/>
                <a:uFillTx/>
                <a:latin typeface="Calibri Light"/>
                <a:ea typeface="+mn-ea"/>
                <a:cs typeface="+mn-cs"/>
              </a:endParaRPr>
            </a:p>
          </p:txBody>
        </p:sp>
        <p:sp>
          <p:nvSpPr>
            <p:cNvPr id="41" name="Freeform 69">
              <a:extLst>
                <a:ext uri="{FF2B5EF4-FFF2-40B4-BE49-F238E27FC236}">
                  <a16:creationId xmlns:a16="http://schemas.microsoft.com/office/drawing/2014/main" id="{8B9B4415-9C85-45BD-B82E-979FC0B6B5C1}"/>
                </a:ext>
              </a:extLst>
            </p:cNvPr>
            <p:cNvSpPr>
              <a:spLocks/>
            </p:cNvSpPr>
            <p:nvPr/>
          </p:nvSpPr>
          <p:spPr bwMode="auto">
            <a:xfrm>
              <a:off x="6487317" y="3009900"/>
              <a:ext cx="790575" cy="1017588"/>
            </a:xfrm>
            <a:custGeom>
              <a:avLst/>
              <a:gdLst>
                <a:gd name="T0" fmla="*/ 523 w 1045"/>
                <a:gd name="T1" fmla="*/ 0 h 1345"/>
                <a:gd name="T2" fmla="*/ 0 w 1045"/>
                <a:gd name="T3" fmla="*/ 522 h 1345"/>
                <a:gd name="T4" fmla="*/ 430 w 1045"/>
                <a:gd name="T5" fmla="*/ 1036 h 1345"/>
                <a:gd name="T6" fmla="*/ 357 w 1045"/>
                <a:gd name="T7" fmla="*/ 1345 h 1345"/>
                <a:gd name="T8" fmla="*/ 562 w 1045"/>
                <a:gd name="T9" fmla="*/ 1043 h 1345"/>
                <a:gd name="T10" fmla="*/ 1045 w 1045"/>
                <a:gd name="T11" fmla="*/ 522 h 1345"/>
                <a:gd name="T12" fmla="*/ 523 w 1045"/>
                <a:gd name="T13" fmla="*/ 0 h 1345"/>
              </a:gdLst>
              <a:ahLst/>
              <a:cxnLst>
                <a:cxn ang="0">
                  <a:pos x="T0" y="T1"/>
                </a:cxn>
                <a:cxn ang="0">
                  <a:pos x="T2" y="T3"/>
                </a:cxn>
                <a:cxn ang="0">
                  <a:pos x="T4" y="T5"/>
                </a:cxn>
                <a:cxn ang="0">
                  <a:pos x="T6" y="T7"/>
                </a:cxn>
                <a:cxn ang="0">
                  <a:pos x="T8" y="T9"/>
                </a:cxn>
                <a:cxn ang="0">
                  <a:pos x="T10" y="T11"/>
                </a:cxn>
                <a:cxn ang="0">
                  <a:pos x="T12" y="T13"/>
                </a:cxn>
              </a:cxnLst>
              <a:rect l="0" t="0" r="r" b="b"/>
              <a:pathLst>
                <a:path w="1045" h="1345">
                  <a:moveTo>
                    <a:pt x="523" y="0"/>
                  </a:moveTo>
                  <a:cubicBezTo>
                    <a:pt x="234" y="0"/>
                    <a:pt x="0" y="234"/>
                    <a:pt x="0" y="522"/>
                  </a:cubicBezTo>
                  <a:cubicBezTo>
                    <a:pt x="0" y="779"/>
                    <a:pt x="186" y="993"/>
                    <a:pt x="430" y="1036"/>
                  </a:cubicBezTo>
                  <a:cubicBezTo>
                    <a:pt x="427" y="1139"/>
                    <a:pt x="404" y="1250"/>
                    <a:pt x="357" y="1345"/>
                  </a:cubicBezTo>
                  <a:cubicBezTo>
                    <a:pt x="455" y="1240"/>
                    <a:pt x="521" y="1148"/>
                    <a:pt x="562" y="1043"/>
                  </a:cubicBezTo>
                  <a:cubicBezTo>
                    <a:pt x="832" y="1023"/>
                    <a:pt x="1045" y="798"/>
                    <a:pt x="1045" y="522"/>
                  </a:cubicBezTo>
                  <a:cubicBezTo>
                    <a:pt x="1045" y="234"/>
                    <a:pt x="811" y="0"/>
                    <a:pt x="523" y="0"/>
                  </a:cubicBezTo>
                </a:path>
              </a:pathLst>
            </a:custGeom>
            <a:solidFill>
              <a:schemeClr val="accent1">
                <a:lumMod val="50000"/>
              </a:schemeClr>
            </a:solidFill>
            <a:ln>
              <a:noFill/>
            </a:ln>
          </p:spPr>
          <p:txBody>
            <a:bodyPr vert="horz" wrap="square" lIns="68598" tIns="34299" rIns="68598" bIns="34299" numCol="1" anchor="t" anchorCtr="0" compatLnSpc="1">
              <a:prstTxWarp prst="textNoShape">
                <a:avLst/>
              </a:prstTxWarp>
            </a:bodyPr>
            <a:ls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pPr marL="0" marR="0" lvl="0" indent="0" algn="l" defTabSz="1218987" rtl="0" eaLnBrk="1" fontAlgn="base" latinLnBrk="0" hangingPunct="1">
                <a:lnSpc>
                  <a:spcPct val="100000"/>
                </a:lnSpc>
                <a:spcBef>
                  <a:spcPct val="0"/>
                </a:spcBef>
                <a:spcAft>
                  <a:spcPct val="0"/>
                </a:spcAft>
                <a:buClrTx/>
                <a:buSzTx/>
                <a:buFontTx/>
                <a:buNone/>
                <a:tabLst/>
                <a:defRPr/>
              </a:pPr>
              <a:endParaRPr kumimoji="0" lang="en-IN" sz="1800" b="0" i="0" u="none" strike="noStrike" kern="1200" cap="none" spc="0" normalizeH="0" baseline="0" noProof="0" dirty="0">
                <a:ln>
                  <a:noFill/>
                </a:ln>
                <a:solidFill>
                  <a:srgbClr val="002277"/>
                </a:solidFill>
                <a:effectLst/>
                <a:uLnTx/>
                <a:uFillTx/>
                <a:latin typeface="Calibri Light"/>
                <a:ea typeface="+mn-ea"/>
                <a:cs typeface="+mn-cs"/>
              </a:endParaRPr>
            </a:p>
          </p:txBody>
        </p:sp>
        <p:sp>
          <p:nvSpPr>
            <p:cNvPr id="42" name="Freeform 70">
              <a:extLst>
                <a:ext uri="{FF2B5EF4-FFF2-40B4-BE49-F238E27FC236}">
                  <a16:creationId xmlns:a16="http://schemas.microsoft.com/office/drawing/2014/main" id="{3C18BB12-B074-4A31-AC8E-49E8E08A820C}"/>
                </a:ext>
              </a:extLst>
            </p:cNvPr>
            <p:cNvSpPr>
              <a:spLocks/>
            </p:cNvSpPr>
            <p:nvPr/>
          </p:nvSpPr>
          <p:spPr bwMode="auto">
            <a:xfrm>
              <a:off x="4878386" y="3191763"/>
              <a:ext cx="1703388" cy="857250"/>
            </a:xfrm>
            <a:custGeom>
              <a:avLst/>
              <a:gdLst>
                <a:gd name="T0" fmla="*/ 2124 w 2252"/>
                <a:gd name="T1" fmla="*/ 0 h 1134"/>
                <a:gd name="T2" fmla="*/ 128 w 2252"/>
                <a:gd name="T3" fmla="*/ 0 h 1134"/>
                <a:gd name="T4" fmla="*/ 0 w 2252"/>
                <a:gd name="T5" fmla="*/ 127 h 1134"/>
                <a:gd name="T6" fmla="*/ 0 w 2252"/>
                <a:gd name="T7" fmla="*/ 724 h 1134"/>
                <a:gd name="T8" fmla="*/ 128 w 2252"/>
                <a:gd name="T9" fmla="*/ 852 h 1134"/>
                <a:gd name="T10" fmla="*/ 1736 w 2252"/>
                <a:gd name="T11" fmla="*/ 852 h 1134"/>
                <a:gd name="T12" fmla="*/ 1673 w 2252"/>
                <a:gd name="T13" fmla="*/ 1134 h 1134"/>
                <a:gd name="T14" fmla="*/ 1857 w 2252"/>
                <a:gd name="T15" fmla="*/ 852 h 1134"/>
                <a:gd name="T16" fmla="*/ 2124 w 2252"/>
                <a:gd name="T17" fmla="*/ 852 h 1134"/>
                <a:gd name="T18" fmla="*/ 2252 w 2252"/>
                <a:gd name="T19" fmla="*/ 724 h 1134"/>
                <a:gd name="T20" fmla="*/ 2252 w 2252"/>
                <a:gd name="T21" fmla="*/ 127 h 1134"/>
                <a:gd name="T22" fmla="*/ 2124 w 2252"/>
                <a:gd name="T23" fmla="*/ 0 h 1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52" h="1134">
                  <a:moveTo>
                    <a:pt x="2124" y="0"/>
                  </a:moveTo>
                  <a:cubicBezTo>
                    <a:pt x="128" y="0"/>
                    <a:pt x="128" y="0"/>
                    <a:pt x="128" y="0"/>
                  </a:cubicBezTo>
                  <a:cubicBezTo>
                    <a:pt x="57" y="0"/>
                    <a:pt x="0" y="57"/>
                    <a:pt x="0" y="127"/>
                  </a:cubicBezTo>
                  <a:cubicBezTo>
                    <a:pt x="0" y="724"/>
                    <a:pt x="0" y="724"/>
                    <a:pt x="0" y="724"/>
                  </a:cubicBezTo>
                  <a:cubicBezTo>
                    <a:pt x="0" y="795"/>
                    <a:pt x="57" y="852"/>
                    <a:pt x="128" y="852"/>
                  </a:cubicBezTo>
                  <a:cubicBezTo>
                    <a:pt x="1736" y="852"/>
                    <a:pt x="1736" y="852"/>
                    <a:pt x="1736" y="852"/>
                  </a:cubicBezTo>
                  <a:cubicBezTo>
                    <a:pt x="1736" y="945"/>
                    <a:pt x="1716" y="1047"/>
                    <a:pt x="1673" y="1134"/>
                  </a:cubicBezTo>
                  <a:cubicBezTo>
                    <a:pt x="1764" y="1036"/>
                    <a:pt x="1823" y="952"/>
                    <a:pt x="1857" y="852"/>
                  </a:cubicBezTo>
                  <a:cubicBezTo>
                    <a:pt x="2124" y="852"/>
                    <a:pt x="2124" y="852"/>
                    <a:pt x="2124" y="852"/>
                  </a:cubicBezTo>
                  <a:cubicBezTo>
                    <a:pt x="2194" y="852"/>
                    <a:pt x="2252" y="795"/>
                    <a:pt x="2252" y="724"/>
                  </a:cubicBezTo>
                  <a:cubicBezTo>
                    <a:pt x="2252" y="127"/>
                    <a:pt x="2252" y="127"/>
                    <a:pt x="2252" y="127"/>
                  </a:cubicBezTo>
                  <a:cubicBezTo>
                    <a:pt x="2252" y="57"/>
                    <a:pt x="2194" y="0"/>
                    <a:pt x="2124" y="0"/>
                  </a:cubicBezTo>
                </a:path>
              </a:pathLst>
            </a:custGeom>
            <a:solidFill>
              <a:schemeClr val="accent1"/>
            </a:solidFill>
            <a:ln>
              <a:noFill/>
            </a:ln>
          </p:spPr>
          <p:txBody>
            <a:bodyPr vert="horz" wrap="square" lIns="68598" tIns="34299" rIns="68598" bIns="34299" numCol="1" anchor="t" anchorCtr="0" compatLnSpc="1">
              <a:prstTxWarp prst="textNoShape">
                <a:avLst/>
              </a:prstTxWarp>
            </a:bodyPr>
            <a:ls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pPr marL="0" marR="0" lvl="0" indent="0" algn="l" defTabSz="1218987" rtl="0" eaLnBrk="1" fontAlgn="base" latinLnBrk="0" hangingPunct="1">
                <a:lnSpc>
                  <a:spcPct val="100000"/>
                </a:lnSpc>
                <a:spcBef>
                  <a:spcPct val="0"/>
                </a:spcBef>
                <a:spcAft>
                  <a:spcPct val="0"/>
                </a:spcAft>
                <a:buClrTx/>
                <a:buSzTx/>
                <a:buFontTx/>
                <a:buNone/>
                <a:tabLst/>
                <a:defRPr/>
              </a:pPr>
              <a:endParaRPr kumimoji="0" lang="en-IN" sz="1800" b="0" i="0" u="none" strike="noStrike" kern="1200" cap="none" spc="0" normalizeH="0" baseline="0" noProof="0" dirty="0">
                <a:ln>
                  <a:noFill/>
                </a:ln>
                <a:solidFill>
                  <a:srgbClr val="002277"/>
                </a:solidFill>
                <a:effectLst/>
                <a:uLnTx/>
                <a:uFillTx/>
                <a:latin typeface="Calibri Light"/>
                <a:ea typeface="+mn-ea"/>
                <a:cs typeface="+mn-cs"/>
              </a:endParaRPr>
            </a:p>
          </p:txBody>
        </p:sp>
        <p:sp>
          <p:nvSpPr>
            <p:cNvPr id="43" name="Freeform 53">
              <a:extLst>
                <a:ext uri="{FF2B5EF4-FFF2-40B4-BE49-F238E27FC236}">
                  <a16:creationId xmlns:a16="http://schemas.microsoft.com/office/drawing/2014/main" id="{4B00B5E1-4BB0-4985-96F1-D870631A3F28}"/>
                </a:ext>
              </a:extLst>
            </p:cNvPr>
            <p:cNvSpPr>
              <a:spLocks/>
            </p:cNvSpPr>
            <p:nvPr/>
          </p:nvSpPr>
          <p:spPr bwMode="auto">
            <a:xfrm>
              <a:off x="3491705" y="3235325"/>
              <a:ext cx="555625" cy="749300"/>
            </a:xfrm>
            <a:custGeom>
              <a:avLst/>
              <a:gdLst>
                <a:gd name="T0" fmla="*/ 626 w 736"/>
                <a:gd name="T1" fmla="*/ 0 h 990"/>
                <a:gd name="T2" fmla="*/ 111 w 736"/>
                <a:gd name="T3" fmla="*/ 0 h 990"/>
                <a:gd name="T4" fmla="*/ 0 w 736"/>
                <a:gd name="T5" fmla="*/ 110 h 990"/>
                <a:gd name="T6" fmla="*/ 0 w 736"/>
                <a:gd name="T7" fmla="*/ 625 h 990"/>
                <a:gd name="T8" fmla="*/ 111 w 736"/>
                <a:gd name="T9" fmla="*/ 736 h 990"/>
                <a:gd name="T10" fmla="*/ 336 w 736"/>
                <a:gd name="T11" fmla="*/ 736 h 990"/>
                <a:gd name="T12" fmla="*/ 282 w 736"/>
                <a:gd name="T13" fmla="*/ 990 h 990"/>
                <a:gd name="T14" fmla="*/ 445 w 736"/>
                <a:gd name="T15" fmla="*/ 736 h 990"/>
                <a:gd name="T16" fmla="*/ 626 w 736"/>
                <a:gd name="T17" fmla="*/ 736 h 990"/>
                <a:gd name="T18" fmla="*/ 736 w 736"/>
                <a:gd name="T19" fmla="*/ 625 h 990"/>
                <a:gd name="T20" fmla="*/ 736 w 736"/>
                <a:gd name="T21" fmla="*/ 110 h 990"/>
                <a:gd name="T22" fmla="*/ 626 w 736"/>
                <a:gd name="T23" fmla="*/ 0 h 9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36" h="990">
                  <a:moveTo>
                    <a:pt x="626" y="0"/>
                  </a:moveTo>
                  <a:cubicBezTo>
                    <a:pt x="111" y="0"/>
                    <a:pt x="111" y="0"/>
                    <a:pt x="111" y="0"/>
                  </a:cubicBezTo>
                  <a:cubicBezTo>
                    <a:pt x="50" y="0"/>
                    <a:pt x="0" y="49"/>
                    <a:pt x="0" y="110"/>
                  </a:cubicBezTo>
                  <a:cubicBezTo>
                    <a:pt x="0" y="625"/>
                    <a:pt x="0" y="625"/>
                    <a:pt x="0" y="625"/>
                  </a:cubicBezTo>
                  <a:cubicBezTo>
                    <a:pt x="0" y="686"/>
                    <a:pt x="50" y="736"/>
                    <a:pt x="111" y="736"/>
                  </a:cubicBezTo>
                  <a:cubicBezTo>
                    <a:pt x="336" y="736"/>
                    <a:pt x="336" y="736"/>
                    <a:pt x="336" y="736"/>
                  </a:cubicBezTo>
                  <a:cubicBezTo>
                    <a:pt x="338" y="818"/>
                    <a:pt x="321" y="912"/>
                    <a:pt x="282" y="990"/>
                  </a:cubicBezTo>
                  <a:cubicBezTo>
                    <a:pt x="364" y="902"/>
                    <a:pt x="416" y="826"/>
                    <a:pt x="445" y="736"/>
                  </a:cubicBezTo>
                  <a:cubicBezTo>
                    <a:pt x="626" y="736"/>
                    <a:pt x="626" y="736"/>
                    <a:pt x="626" y="736"/>
                  </a:cubicBezTo>
                  <a:cubicBezTo>
                    <a:pt x="687" y="736"/>
                    <a:pt x="736" y="686"/>
                    <a:pt x="736" y="625"/>
                  </a:cubicBezTo>
                  <a:cubicBezTo>
                    <a:pt x="736" y="110"/>
                    <a:pt x="736" y="110"/>
                    <a:pt x="736" y="110"/>
                  </a:cubicBezTo>
                  <a:cubicBezTo>
                    <a:pt x="736" y="49"/>
                    <a:pt x="687" y="0"/>
                    <a:pt x="626" y="0"/>
                  </a:cubicBezTo>
                </a:path>
              </a:pathLst>
            </a:custGeom>
            <a:solidFill>
              <a:schemeClr val="accent1"/>
            </a:solidFill>
            <a:ln>
              <a:noFill/>
            </a:ln>
          </p:spPr>
          <p:txBody>
            <a:bodyPr vert="horz" wrap="square" lIns="68598" tIns="34299" rIns="68598" bIns="34299" numCol="1" anchor="t" anchorCtr="0" compatLnSpc="1">
              <a:prstTxWarp prst="textNoShape">
                <a:avLst/>
              </a:prstTxWarp>
            </a:bodyPr>
            <a:ls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pPr marL="0" marR="0" lvl="0" indent="0" algn="l" defTabSz="1218987" rtl="0" eaLnBrk="1" fontAlgn="base" latinLnBrk="0" hangingPunct="1">
                <a:lnSpc>
                  <a:spcPct val="100000"/>
                </a:lnSpc>
                <a:spcBef>
                  <a:spcPct val="0"/>
                </a:spcBef>
                <a:spcAft>
                  <a:spcPct val="0"/>
                </a:spcAft>
                <a:buClrTx/>
                <a:buSzTx/>
                <a:buFontTx/>
                <a:buNone/>
                <a:tabLst/>
                <a:defRPr/>
              </a:pPr>
              <a:endParaRPr kumimoji="0" lang="en-IN" sz="1800" b="0" i="0" u="none" strike="noStrike" kern="1200" cap="none" spc="0" normalizeH="0" baseline="0" noProof="0" dirty="0">
                <a:ln>
                  <a:noFill/>
                </a:ln>
                <a:solidFill>
                  <a:srgbClr val="002277"/>
                </a:solidFill>
                <a:effectLst/>
                <a:uLnTx/>
                <a:uFillTx/>
                <a:latin typeface="Calibri Light"/>
                <a:ea typeface="+mn-ea"/>
                <a:cs typeface="+mn-cs"/>
              </a:endParaRPr>
            </a:p>
          </p:txBody>
        </p:sp>
        <p:sp>
          <p:nvSpPr>
            <p:cNvPr id="44" name="Freeform 42">
              <a:extLst>
                <a:ext uri="{FF2B5EF4-FFF2-40B4-BE49-F238E27FC236}">
                  <a16:creationId xmlns:a16="http://schemas.microsoft.com/office/drawing/2014/main" id="{273D98A9-F6DF-4747-8228-C98130E1F85D}"/>
                </a:ext>
              </a:extLst>
            </p:cNvPr>
            <p:cNvSpPr>
              <a:spLocks/>
            </p:cNvSpPr>
            <p:nvPr/>
          </p:nvSpPr>
          <p:spPr bwMode="auto">
            <a:xfrm>
              <a:off x="3573460" y="2702718"/>
              <a:ext cx="608014" cy="785813"/>
            </a:xfrm>
            <a:custGeom>
              <a:avLst/>
              <a:gdLst>
                <a:gd name="T0" fmla="*/ 403 w 806"/>
                <a:gd name="T1" fmla="*/ 0 h 1038"/>
                <a:gd name="T2" fmla="*/ 806 w 806"/>
                <a:gd name="T3" fmla="*/ 403 h 1038"/>
                <a:gd name="T4" fmla="*/ 475 w 806"/>
                <a:gd name="T5" fmla="*/ 800 h 1038"/>
                <a:gd name="T6" fmla="*/ 531 w 806"/>
                <a:gd name="T7" fmla="*/ 1038 h 1038"/>
                <a:gd name="T8" fmla="*/ 373 w 806"/>
                <a:gd name="T9" fmla="*/ 805 h 1038"/>
                <a:gd name="T10" fmla="*/ 0 w 806"/>
                <a:gd name="T11" fmla="*/ 403 h 1038"/>
                <a:gd name="T12" fmla="*/ 403 w 806"/>
                <a:gd name="T13" fmla="*/ 0 h 1038"/>
              </a:gdLst>
              <a:ahLst/>
              <a:cxnLst>
                <a:cxn ang="0">
                  <a:pos x="T0" y="T1"/>
                </a:cxn>
                <a:cxn ang="0">
                  <a:pos x="T2" y="T3"/>
                </a:cxn>
                <a:cxn ang="0">
                  <a:pos x="T4" y="T5"/>
                </a:cxn>
                <a:cxn ang="0">
                  <a:pos x="T6" y="T7"/>
                </a:cxn>
                <a:cxn ang="0">
                  <a:pos x="T8" y="T9"/>
                </a:cxn>
                <a:cxn ang="0">
                  <a:pos x="T10" y="T11"/>
                </a:cxn>
                <a:cxn ang="0">
                  <a:pos x="T12" y="T13"/>
                </a:cxn>
              </a:cxnLst>
              <a:rect l="0" t="0" r="r" b="b"/>
              <a:pathLst>
                <a:path w="806" h="1038">
                  <a:moveTo>
                    <a:pt x="403" y="0"/>
                  </a:moveTo>
                  <a:cubicBezTo>
                    <a:pt x="626" y="0"/>
                    <a:pt x="806" y="180"/>
                    <a:pt x="806" y="403"/>
                  </a:cubicBezTo>
                  <a:cubicBezTo>
                    <a:pt x="806" y="601"/>
                    <a:pt x="663" y="766"/>
                    <a:pt x="475" y="800"/>
                  </a:cubicBezTo>
                  <a:cubicBezTo>
                    <a:pt x="477" y="879"/>
                    <a:pt x="495" y="965"/>
                    <a:pt x="531" y="1038"/>
                  </a:cubicBezTo>
                  <a:cubicBezTo>
                    <a:pt x="456" y="957"/>
                    <a:pt x="405" y="886"/>
                    <a:pt x="373" y="805"/>
                  </a:cubicBezTo>
                  <a:cubicBezTo>
                    <a:pt x="164" y="790"/>
                    <a:pt x="0" y="615"/>
                    <a:pt x="0" y="403"/>
                  </a:cubicBezTo>
                  <a:cubicBezTo>
                    <a:pt x="0" y="180"/>
                    <a:pt x="180" y="0"/>
                    <a:pt x="403" y="0"/>
                  </a:cubicBezTo>
                </a:path>
              </a:pathLst>
            </a:custGeom>
            <a:solidFill>
              <a:srgbClr val="E1EFFC"/>
            </a:solidFill>
            <a:ln>
              <a:noFill/>
            </a:ln>
          </p:spPr>
          <p:txBody>
            <a:bodyPr vert="horz" wrap="square" lIns="68598" tIns="34299" rIns="68598" bIns="34299" numCol="1" anchor="t" anchorCtr="0" compatLnSpc="1">
              <a:prstTxWarp prst="textNoShape">
                <a:avLst/>
              </a:prstTxWarp>
            </a:bodyPr>
            <a:ls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pPr marL="0" marR="0" lvl="0" indent="0" algn="l" defTabSz="1218987" rtl="0" eaLnBrk="1" fontAlgn="base" latinLnBrk="0" hangingPunct="1">
                <a:lnSpc>
                  <a:spcPct val="100000"/>
                </a:lnSpc>
                <a:spcBef>
                  <a:spcPct val="0"/>
                </a:spcBef>
                <a:spcAft>
                  <a:spcPct val="0"/>
                </a:spcAft>
                <a:buClrTx/>
                <a:buSzTx/>
                <a:buFontTx/>
                <a:buNone/>
                <a:tabLst/>
                <a:defRPr/>
              </a:pPr>
              <a:endParaRPr kumimoji="0" lang="en-IN" sz="1800" b="0" i="0" u="none" strike="noStrike" kern="1200" cap="none" spc="0" normalizeH="0" baseline="0" noProof="0" dirty="0">
                <a:ln>
                  <a:noFill/>
                </a:ln>
                <a:solidFill>
                  <a:srgbClr val="002277"/>
                </a:solidFill>
                <a:effectLst/>
                <a:uLnTx/>
                <a:uFillTx/>
                <a:latin typeface="Calibri Light"/>
                <a:ea typeface="+mn-ea"/>
                <a:cs typeface="+mn-cs"/>
              </a:endParaRPr>
            </a:p>
          </p:txBody>
        </p:sp>
        <p:sp>
          <p:nvSpPr>
            <p:cNvPr id="45" name="Freeform 63">
              <a:extLst>
                <a:ext uri="{FF2B5EF4-FFF2-40B4-BE49-F238E27FC236}">
                  <a16:creationId xmlns:a16="http://schemas.microsoft.com/office/drawing/2014/main" id="{48198FEF-AF10-4B79-B6B5-6B06467C6098}"/>
                </a:ext>
              </a:extLst>
            </p:cNvPr>
            <p:cNvSpPr>
              <a:spLocks/>
            </p:cNvSpPr>
            <p:nvPr/>
          </p:nvSpPr>
          <p:spPr bwMode="auto">
            <a:xfrm>
              <a:off x="3521867" y="2447925"/>
              <a:ext cx="473075" cy="468313"/>
            </a:xfrm>
            <a:custGeom>
              <a:avLst/>
              <a:gdLst>
                <a:gd name="T0" fmla="*/ 313 w 626"/>
                <a:gd name="T1" fmla="*/ 0 h 618"/>
                <a:gd name="T2" fmla="*/ 626 w 626"/>
                <a:gd name="T3" fmla="*/ 219 h 618"/>
                <a:gd name="T4" fmla="*/ 313 w 626"/>
                <a:gd name="T5" fmla="*/ 439 h 618"/>
                <a:gd name="T6" fmla="*/ 306 w 626"/>
                <a:gd name="T7" fmla="*/ 439 h 618"/>
                <a:gd name="T8" fmla="*/ 338 w 626"/>
                <a:gd name="T9" fmla="*/ 618 h 618"/>
                <a:gd name="T10" fmla="*/ 229 w 626"/>
                <a:gd name="T11" fmla="*/ 431 h 618"/>
                <a:gd name="T12" fmla="*/ 224 w 626"/>
                <a:gd name="T13" fmla="*/ 430 h 618"/>
                <a:gd name="T14" fmla="*/ 52 w 626"/>
                <a:gd name="T15" fmla="*/ 340 h 618"/>
                <a:gd name="T16" fmla="*/ 0 w 626"/>
                <a:gd name="T17" fmla="*/ 219 h 618"/>
                <a:gd name="T18" fmla="*/ 313 w 626"/>
                <a:gd name="T19" fmla="*/ 0 h 6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6" h="618">
                  <a:moveTo>
                    <a:pt x="313" y="0"/>
                  </a:moveTo>
                  <a:cubicBezTo>
                    <a:pt x="486" y="0"/>
                    <a:pt x="626" y="98"/>
                    <a:pt x="626" y="219"/>
                  </a:cubicBezTo>
                  <a:cubicBezTo>
                    <a:pt x="626" y="340"/>
                    <a:pt x="486" y="439"/>
                    <a:pt x="313" y="439"/>
                  </a:cubicBezTo>
                  <a:cubicBezTo>
                    <a:pt x="311" y="439"/>
                    <a:pt x="308" y="439"/>
                    <a:pt x="306" y="439"/>
                  </a:cubicBezTo>
                  <a:cubicBezTo>
                    <a:pt x="301" y="495"/>
                    <a:pt x="310" y="563"/>
                    <a:pt x="338" y="618"/>
                  </a:cubicBezTo>
                  <a:cubicBezTo>
                    <a:pt x="278" y="554"/>
                    <a:pt x="245" y="501"/>
                    <a:pt x="229" y="431"/>
                  </a:cubicBezTo>
                  <a:cubicBezTo>
                    <a:pt x="227" y="430"/>
                    <a:pt x="225" y="430"/>
                    <a:pt x="224" y="430"/>
                  </a:cubicBezTo>
                  <a:cubicBezTo>
                    <a:pt x="161" y="417"/>
                    <a:pt x="97" y="388"/>
                    <a:pt x="52" y="340"/>
                  </a:cubicBezTo>
                  <a:cubicBezTo>
                    <a:pt x="20" y="307"/>
                    <a:pt x="0" y="266"/>
                    <a:pt x="0" y="219"/>
                  </a:cubicBezTo>
                  <a:cubicBezTo>
                    <a:pt x="0" y="98"/>
                    <a:pt x="140" y="0"/>
                    <a:pt x="313" y="0"/>
                  </a:cubicBezTo>
                </a:path>
              </a:pathLst>
            </a:custGeom>
            <a:solidFill>
              <a:schemeClr val="accent1">
                <a:lumMod val="50000"/>
              </a:schemeClr>
            </a:solidFill>
            <a:ln>
              <a:noFill/>
            </a:ln>
          </p:spPr>
          <p:txBody>
            <a:bodyPr vert="horz" wrap="square" lIns="68598" tIns="34299" rIns="68598" bIns="34299" numCol="1" anchor="t" anchorCtr="0" compatLnSpc="1">
              <a:prstTxWarp prst="textNoShape">
                <a:avLst/>
              </a:prstTxWarp>
            </a:bodyPr>
            <a:ls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pPr marL="0" marR="0" lvl="0" indent="0" algn="l" defTabSz="1218987" rtl="0" eaLnBrk="1" fontAlgn="base" latinLnBrk="0" hangingPunct="1">
                <a:lnSpc>
                  <a:spcPct val="100000"/>
                </a:lnSpc>
                <a:spcBef>
                  <a:spcPct val="0"/>
                </a:spcBef>
                <a:spcAft>
                  <a:spcPct val="0"/>
                </a:spcAft>
                <a:buClrTx/>
                <a:buSzTx/>
                <a:buFontTx/>
                <a:buNone/>
                <a:tabLst/>
                <a:defRPr/>
              </a:pPr>
              <a:endParaRPr kumimoji="0" lang="en-IN" sz="1800" b="0" i="0" u="none" strike="noStrike" kern="1200" cap="none" spc="0" normalizeH="0" baseline="0" noProof="0" dirty="0">
                <a:ln>
                  <a:noFill/>
                </a:ln>
                <a:solidFill>
                  <a:srgbClr val="002277"/>
                </a:solidFill>
                <a:effectLst/>
                <a:uLnTx/>
                <a:uFillTx/>
                <a:latin typeface="Calibri Light"/>
                <a:ea typeface="+mn-ea"/>
                <a:cs typeface="+mn-cs"/>
              </a:endParaRPr>
            </a:p>
          </p:txBody>
        </p:sp>
      </p:grpSp>
      <p:sp>
        <p:nvSpPr>
          <p:cNvPr id="2" name="TextBox 1">
            <a:extLst>
              <a:ext uri="{FF2B5EF4-FFF2-40B4-BE49-F238E27FC236}">
                <a16:creationId xmlns:a16="http://schemas.microsoft.com/office/drawing/2014/main" id="{92F21AF8-D754-42CE-814E-DEE2E8A10459}"/>
              </a:ext>
            </a:extLst>
          </p:cNvPr>
          <p:cNvSpPr txBox="1"/>
          <p:nvPr/>
        </p:nvSpPr>
        <p:spPr>
          <a:xfrm>
            <a:off x="10491537" y="6458552"/>
            <a:ext cx="1617044" cy="338554"/>
          </a:xfrm>
          <a:prstGeom prst="rect">
            <a:avLst/>
          </a:prstGeom>
          <a:noFill/>
        </p:spPr>
        <p:txBody>
          <a:bodyPr wrap="square" rtlCol="0">
            <a:spAutoFit/>
          </a:bodyPr>
          <a:lstStyle/>
          <a:p>
            <a:pPr algn="ctr"/>
            <a:r>
              <a:rPr lang="en-US" sz="1600" b="1" dirty="0">
                <a:effectLst>
                  <a:glow rad="101600">
                    <a:schemeClr val="accent1">
                      <a:satMod val="175000"/>
                      <a:alpha val="40000"/>
                    </a:schemeClr>
                  </a:glow>
                </a:effectLst>
                <a:latin typeface="Meiryo UI" panose="020B0604030504040204" pitchFamily="34" charset="-128"/>
                <a:ea typeface="Meiryo UI" panose="020B0604030504040204" pitchFamily="34" charset="-128"/>
              </a:rPr>
              <a:t>Thank you</a:t>
            </a:r>
          </a:p>
        </p:txBody>
      </p:sp>
    </p:spTree>
    <p:extLst>
      <p:ext uri="{BB962C8B-B14F-4D97-AF65-F5344CB8AC3E}">
        <p14:creationId xmlns:p14="http://schemas.microsoft.com/office/powerpoint/2010/main" val="6210218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250"/>
                                        <p:tgtEl>
                                          <p:spTgt spid="5"/>
                                        </p:tgtEl>
                                      </p:cBhvr>
                                    </p:animEffect>
                                  </p:childTnLst>
                                </p:cTn>
                              </p:par>
                            </p:childTnLst>
                          </p:cTn>
                        </p:par>
                        <p:par>
                          <p:cTn id="8" fill="hold">
                            <p:stCondLst>
                              <p:cond delay="1250"/>
                            </p:stCondLst>
                            <p:childTnLst>
                              <p:par>
                                <p:cTn id="9" presetID="10" presetClass="entr" presetSubtype="0"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3462</TotalTime>
  <Words>1580</Words>
  <Application>Microsoft Office PowerPoint</Application>
  <PresentationFormat>Widescreen</PresentationFormat>
  <Paragraphs>203</Paragraphs>
  <Slides>15</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15</vt:i4>
      </vt:variant>
    </vt:vector>
  </HeadingPairs>
  <TitlesOfParts>
    <vt:vector size="25" baseType="lpstr">
      <vt:lpstr>맑은 고딕</vt:lpstr>
      <vt:lpstr>Arial</vt:lpstr>
      <vt:lpstr>Arial Rounded MT Bold</vt:lpstr>
      <vt:lpstr>Calibri</vt:lpstr>
      <vt:lpstr>Calibri Light</vt:lpstr>
      <vt:lpstr>Helvetica Neue</vt:lpstr>
      <vt:lpstr>Meiryo UI</vt:lpstr>
      <vt:lpstr>Montserrat</vt:lpstr>
      <vt:lpstr>Wingdings</vt:lpstr>
      <vt:lpstr>Office Theme</vt:lpstr>
      <vt:lpstr>STROKE PREDICTION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STROKE PREDICTION</dc:title>
  <dc:creator>Owen Ozzy</dc:creator>
  <cp:lastModifiedBy>USER</cp:lastModifiedBy>
  <cp:revision>32</cp:revision>
  <dcterms:created xsi:type="dcterms:W3CDTF">2021-05-15T09:32:02Z</dcterms:created>
  <dcterms:modified xsi:type="dcterms:W3CDTF">2024-09-06T10:13:08Z</dcterms:modified>
</cp:coreProperties>
</file>